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7" r:id="rId1"/>
  </p:sldMasterIdLst>
  <p:notesMasterIdLst>
    <p:notesMasterId r:id="rId30"/>
  </p:notesMasterIdLst>
  <p:handoutMasterIdLst>
    <p:handoutMasterId r:id="rId31"/>
  </p:handoutMasterIdLst>
  <p:sldIdLst>
    <p:sldId id="256" r:id="rId2"/>
    <p:sldId id="257" r:id="rId3"/>
    <p:sldId id="258" r:id="rId4"/>
    <p:sldId id="259" r:id="rId5"/>
    <p:sldId id="260" r:id="rId6"/>
    <p:sldId id="270" r:id="rId7"/>
    <p:sldId id="261" r:id="rId8"/>
    <p:sldId id="271" r:id="rId9"/>
    <p:sldId id="262" r:id="rId10"/>
    <p:sldId id="272" r:id="rId11"/>
    <p:sldId id="263" r:id="rId12"/>
    <p:sldId id="264" r:id="rId13"/>
    <p:sldId id="274" r:id="rId14"/>
    <p:sldId id="281" r:id="rId15"/>
    <p:sldId id="283" r:id="rId16"/>
    <p:sldId id="282" r:id="rId17"/>
    <p:sldId id="284" r:id="rId18"/>
    <p:sldId id="280" r:id="rId19"/>
    <p:sldId id="275" r:id="rId20"/>
    <p:sldId id="276" r:id="rId21"/>
    <p:sldId id="265" r:id="rId22"/>
    <p:sldId id="277" r:id="rId23"/>
    <p:sldId id="278" r:id="rId24"/>
    <p:sldId id="279" r:id="rId25"/>
    <p:sldId id="266" r:id="rId26"/>
    <p:sldId id="267" r:id="rId27"/>
    <p:sldId id="268" r:id="rId28"/>
    <p:sldId id="269" r:id="rId29"/>
  </p:sldIdLst>
  <p:sldSz cx="9145588" cy="5145088"/>
  <p:notesSz cx="6858000" cy="9144000"/>
  <p:custDataLst>
    <p:tags r:id="rId32"/>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4999" indent="-129839"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2256" indent="-26193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69514" indent="-394032"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6771" indent="-526128"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1625803"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1950964"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2276124"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2601285"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28" userDrawn="1">
          <p15:clr>
            <a:srgbClr val="A4A3A4"/>
          </p15:clr>
        </p15:guide>
        <p15:guide id="2" pos="4050" userDrawn="1">
          <p15:clr>
            <a:srgbClr val="A4A3A4"/>
          </p15:clr>
        </p15:guide>
        <p15:guide id="3" pos="557" userDrawn="1">
          <p15:clr>
            <a:srgbClr val="A4A3A4"/>
          </p15:clr>
        </p15:guide>
        <p15:guide id="5" orient="horz" pos="4183" userDrawn="1">
          <p15:clr>
            <a:srgbClr val="A4A3A4"/>
          </p15:clr>
        </p15:guide>
        <p15:guide id="6" pos="7497" userDrawn="1">
          <p15:clr>
            <a:srgbClr val="A4A3A4"/>
          </p15:clr>
        </p15:guide>
        <p15:guide id="7" pos="6908" userDrawn="1">
          <p15:clr>
            <a:srgbClr val="A4A3A4"/>
          </p15:clr>
        </p15:guide>
        <p15:guide id="8" orient="horz" pos="233">
          <p15:clr>
            <a:srgbClr val="A4A3A4"/>
          </p15:clr>
        </p15:guide>
        <p15:guide id="9" orient="horz" pos="2976">
          <p15:clr>
            <a:srgbClr val="A4A3A4"/>
          </p15:clr>
        </p15:guide>
        <p15:guide id="10" pos="2881">
          <p15:clr>
            <a:srgbClr val="A4A3A4"/>
          </p15:clr>
        </p15:guide>
        <p15:guide id="11" pos="396">
          <p15:clr>
            <a:srgbClr val="A4A3A4"/>
          </p15:clr>
        </p15:guide>
        <p15:guide id="12" pos="5332">
          <p15:clr>
            <a:srgbClr val="A4A3A4"/>
          </p15:clr>
        </p15:guide>
        <p15:guide id="13" pos="4913">
          <p15:clr>
            <a:srgbClr val="A4A3A4"/>
          </p15:clr>
        </p15:guide>
        <p15:guide id="14" orient="horz" pos="2981">
          <p15:clr>
            <a:srgbClr val="A4A3A4"/>
          </p15:clr>
        </p15:guide>
        <p15:guide id="15" pos="567">
          <p15:clr>
            <a:srgbClr val="A4A3A4"/>
          </p15:clr>
        </p15:guide>
        <p15:guide id="16" pos="2880">
          <p15:clr>
            <a:srgbClr val="A4A3A4"/>
          </p15:clr>
        </p15:guide>
        <p15:guide id="17" pos="385">
          <p15:clr>
            <a:srgbClr val="A4A3A4"/>
          </p15:clr>
        </p15:guide>
        <p15:guide id="18" pos="492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376D"/>
    <a:srgbClr val="27B6B9"/>
    <a:srgbClr val="FFFFFF"/>
    <a:srgbClr val="29ABE2"/>
    <a:srgbClr val="262626"/>
    <a:srgbClr val="F66E4F"/>
    <a:srgbClr val="73DB29"/>
    <a:srgbClr val="FED40D"/>
    <a:srgbClr val="3AD1B5"/>
    <a:srgbClr val="3F3F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48" autoAdjust="0"/>
    <p:restoredTop sz="95274" autoAdjust="0"/>
  </p:normalViewPr>
  <p:slideViewPr>
    <p:cSldViewPr>
      <p:cViewPr>
        <p:scale>
          <a:sx n="100" d="100"/>
          <a:sy n="100" d="100"/>
        </p:scale>
        <p:origin x="76" y="-112"/>
      </p:cViewPr>
      <p:guideLst>
        <p:guide orient="horz" pos="328"/>
        <p:guide pos="4050"/>
        <p:guide pos="557"/>
        <p:guide orient="horz" pos="4183"/>
        <p:guide pos="7497"/>
        <p:guide pos="6908"/>
        <p:guide orient="horz" pos="233"/>
        <p:guide orient="horz" pos="2976"/>
        <p:guide pos="2881"/>
        <p:guide pos="396"/>
        <p:guide pos="5332"/>
        <p:guide pos="4913"/>
        <p:guide orient="horz" pos="2981"/>
        <p:guide pos="567"/>
        <p:guide pos="2880"/>
        <p:guide pos="385"/>
        <p:guide pos="4921"/>
      </p:guideLst>
    </p:cSldViewPr>
  </p:slideViewPr>
  <p:outlineViewPr>
    <p:cViewPr>
      <p:scale>
        <a:sx n="100" d="100"/>
        <a:sy n="100" d="100"/>
      </p:scale>
      <p:origin x="0" y="-10374"/>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69" d="100"/>
          <a:sy n="69" d="100"/>
        </p:scale>
        <p:origin x="1016"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pPr/>
              <a:t>2026/4/9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pPr/>
              <a:t>‹#›</a:t>
            </a:fld>
            <a:endParaRPr lang="zh-CN" altLang="en-US"/>
          </a:p>
        </p:txBody>
      </p:sp>
    </p:spTree>
    <p:extLst>
      <p:ext uri="{BB962C8B-B14F-4D97-AF65-F5344CB8AC3E}">
        <p14:creationId xmlns:p14="http://schemas.microsoft.com/office/powerpoint/2010/main" val="1986660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pPr>
                <a:defRPr/>
              </a:pPr>
              <a:t>2026/4/9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18F03C3-53C1-4F10-8DAF-D1F318E96C6E}" type="slidenum">
              <a:rPr lang="zh-CN" altLang="en-US"/>
              <a:pPr/>
              <a:t>‹#›</a:t>
            </a:fld>
            <a:endParaRPr lang="zh-CN" altLang="en-US"/>
          </a:p>
        </p:txBody>
      </p:sp>
    </p:spTree>
    <p:extLst>
      <p:ext uri="{BB962C8B-B14F-4D97-AF65-F5344CB8AC3E}">
        <p14:creationId xmlns:p14="http://schemas.microsoft.com/office/powerpoint/2010/main" val="20605404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mn-lt"/>
        <a:ea typeface="+mn-ea"/>
        <a:cs typeface="+mn-cs"/>
      </a:defRPr>
    </a:lvl1pPr>
    <a:lvl2pPr marL="324032" algn="l" rtl="0" eaLnBrk="0" fontAlgn="base" hangingPunct="0">
      <a:spcBef>
        <a:spcPct val="30000"/>
      </a:spcBef>
      <a:spcAft>
        <a:spcPct val="0"/>
      </a:spcAft>
      <a:defRPr sz="900" kern="1200">
        <a:solidFill>
          <a:schemeClr val="tx1"/>
        </a:solidFill>
        <a:latin typeface="+mn-lt"/>
        <a:ea typeface="+mn-ea"/>
        <a:cs typeface="+mn-cs"/>
      </a:defRPr>
    </a:lvl2pPr>
    <a:lvl3pPr marL="649193" algn="l" rtl="0" eaLnBrk="0" fontAlgn="base" hangingPunct="0">
      <a:spcBef>
        <a:spcPct val="30000"/>
      </a:spcBef>
      <a:spcAft>
        <a:spcPct val="0"/>
      </a:spcAft>
      <a:defRPr sz="900" kern="1200">
        <a:solidFill>
          <a:schemeClr val="tx1"/>
        </a:solidFill>
        <a:latin typeface="+mn-lt"/>
        <a:ea typeface="+mn-ea"/>
        <a:cs typeface="+mn-cs"/>
      </a:defRPr>
    </a:lvl3pPr>
    <a:lvl4pPr marL="974353" algn="l" rtl="0" eaLnBrk="0" fontAlgn="base" hangingPunct="0">
      <a:spcBef>
        <a:spcPct val="30000"/>
      </a:spcBef>
      <a:spcAft>
        <a:spcPct val="0"/>
      </a:spcAft>
      <a:defRPr sz="900" kern="1200">
        <a:solidFill>
          <a:schemeClr val="tx1"/>
        </a:solidFill>
        <a:latin typeface="+mn-lt"/>
        <a:ea typeface="+mn-ea"/>
        <a:cs typeface="+mn-cs"/>
      </a:defRPr>
    </a:lvl4pPr>
    <a:lvl5pPr marL="1299514" algn="l" rtl="0" eaLnBrk="0" fontAlgn="base" hangingPunct="0">
      <a:spcBef>
        <a:spcPct val="30000"/>
      </a:spcBef>
      <a:spcAft>
        <a:spcPct val="0"/>
      </a:spcAft>
      <a:defRPr sz="900" kern="1200">
        <a:solidFill>
          <a:schemeClr val="tx1"/>
        </a:solidFill>
        <a:latin typeface="+mn-lt"/>
        <a:ea typeface="+mn-ea"/>
        <a:cs typeface="+mn-cs"/>
      </a:defRPr>
    </a:lvl5pPr>
    <a:lvl6pPr marL="1625443" algn="l" defTabSz="650177" rtl="0" eaLnBrk="1" latinLnBrk="0" hangingPunct="1">
      <a:defRPr sz="900" kern="1200">
        <a:solidFill>
          <a:schemeClr val="tx1"/>
        </a:solidFill>
        <a:latin typeface="+mn-lt"/>
        <a:ea typeface="+mn-ea"/>
        <a:cs typeface="+mn-cs"/>
      </a:defRPr>
    </a:lvl6pPr>
    <a:lvl7pPr marL="1950531" algn="l" defTabSz="650177" rtl="0" eaLnBrk="1" latinLnBrk="0" hangingPunct="1">
      <a:defRPr sz="900" kern="1200">
        <a:solidFill>
          <a:schemeClr val="tx1"/>
        </a:solidFill>
        <a:latin typeface="+mn-lt"/>
        <a:ea typeface="+mn-ea"/>
        <a:cs typeface="+mn-cs"/>
      </a:defRPr>
    </a:lvl7pPr>
    <a:lvl8pPr marL="2275621" algn="l" defTabSz="650177" rtl="0" eaLnBrk="1" latinLnBrk="0" hangingPunct="1">
      <a:defRPr sz="900" kern="1200">
        <a:solidFill>
          <a:schemeClr val="tx1"/>
        </a:solidFill>
        <a:latin typeface="+mn-lt"/>
        <a:ea typeface="+mn-ea"/>
        <a:cs typeface="+mn-cs"/>
      </a:defRPr>
    </a:lvl8pPr>
    <a:lvl9pPr marL="2600708" algn="l" defTabSz="650177"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各位老师好，我是张琪。我的毕业设计题目是“基于语义描述桥接的多模态RAG系统设计与实现”。这一版中期汇报我严格以中期报告文档中的内容为依据，主要从前期工作、系统展示、实验评估、模型微调、存在问题和下一阶段计划几个方面进行汇报。</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是本次汇报的整体结构。前半部分我先汇报前一阶段已经完成的文献调研和系统开发工作，然后展示系统当前界面和核心功能。后半部分重点汇报实验评估和模型微调的阶段性结果，最后说明目前存在的问题以及下一阶段准备继续推进的工作。</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前一阶段我首先围绕课题进行了文献阅读和资料学习。主要关注的方向包括多模态检索、RAG、多模态大模型、向量数据库和评测方法等内容。通过对 CLIP、BLIP-2、LLaVA、Qwen-VL、MuRAG 以及相关综述和基准研究的学习，我对多模态检索和问答系统的关键问题形成了初步认识，也为后续系统设计和实验评估奠定了理论基础。</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在系统设计与开发方面，前一阶段我已经完成了整体设计和原型开发工作。具体包括业务模型、功能模型和数据模型的建立，以及功能设计、数据库设计和模块设计。技术上，后端采用 FastAPI，前端采用 Vue3 加 TypeScript 和 Vite，目前已经完成图片知识库、文档知识库、图文检索服务、RAG 问答服务以及基础管理功能，系统已经具备较完整的运行框架。</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展示两类知识库界面。左侧是图片知识库界面，主要用于图片数据上传、管理和查看；右侧是文档知识库界面，主要用于文档上传、解析和知识管理。这两部分对应的是系统的数据接入和知识组织能力，也是后续图文检索和 RAG 问答功能的基础。</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9D515-57C2-CF13-60ED-54DDA9A20B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9E356-FA14-635E-DDA8-5F72E7789DC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03FA217-21F8-C7F7-E244-3AC73E65D896}"/>
              </a:ext>
            </a:extLst>
          </p:cNvPr>
          <p:cNvSpPr>
            <a:spLocks noGrp="1"/>
          </p:cNvSpPr>
          <p:nvPr>
            <p:ph type="body" sz="quarter" idx="3"/>
          </p:nvPr>
        </p:nvSpPr>
        <p:spPr/>
        <p:txBody>
          <a:bodyPr/>
          <a:lstStyle/>
          <a:p>
            <a:r>
              <a:t>这一页展示两类知识库界面。左侧是图片知识库界面，主要用于图片数据上传、管理和查看；右侧是文档知识库界面，主要用于文档上传、解析和知识管理。这两部分对应的是系统的数据接入和知识组织能力，也是后续图文检索和 RAG 问答功能的基础。</a:t>
            </a:r>
          </a:p>
        </p:txBody>
      </p:sp>
      <p:sp>
        <p:nvSpPr>
          <p:cNvPr id="4" name="Slide Number Placeholder 3">
            <a:extLst>
              <a:ext uri="{FF2B5EF4-FFF2-40B4-BE49-F238E27FC236}">
                <a16:creationId xmlns:a16="http://schemas.microsoft.com/office/drawing/2014/main" id="{139E40F1-6998-F02C-8641-8086ACAB5104}"/>
              </a:ext>
            </a:extLst>
          </p:cNvPr>
          <p:cNvSpPr>
            <a:spLocks noGrp="1"/>
          </p:cNvSpPr>
          <p:nvPr>
            <p:ph type="sldNum" sz="quarter" idx="5"/>
          </p:nvPr>
        </p:nvSpPr>
        <p:spPr/>
      </p:sp>
    </p:spTree>
    <p:extLst>
      <p:ext uri="{BB962C8B-B14F-4D97-AF65-F5344CB8AC3E}">
        <p14:creationId xmlns:p14="http://schemas.microsoft.com/office/powerpoint/2010/main" val="747712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这一页展示的是系统的两个核心应用场景。左侧是图文检索服务界面，用于支持文本检索图片和以图搜图；右侧是 RAG 问答服务界面，用于根据检索结果进行多模态问答。这两部分展示了系统从知识管理进一步走向实际应用的核心能力。</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AFA44-9F10-E12A-C04E-F27EB52F7B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3BB65-3FB4-DCF0-A6B5-2ED12CE156A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D0A8014-67DE-98DE-6C7A-E0B88752FEDB}"/>
              </a:ext>
            </a:extLst>
          </p:cNvPr>
          <p:cNvSpPr>
            <a:spLocks noGrp="1"/>
          </p:cNvSpPr>
          <p:nvPr>
            <p:ph type="body" sz="quarter" idx="3"/>
          </p:nvPr>
        </p:nvSpPr>
        <p:spPr/>
        <p:txBody>
          <a:bodyPr/>
          <a:lstStyle/>
          <a:p>
            <a:r>
              <a:t>这一页展示的是系统的两个核心应用场景。左侧是图文检索服务界面，用于支持文本检索图片和以图搜图；右侧是 RAG 问答服务界面，用于根据检索结果进行多模态问答。这两部分展示了系统从知识管理进一步走向实际应用的核心能力。</a:t>
            </a:r>
          </a:p>
        </p:txBody>
      </p:sp>
      <p:sp>
        <p:nvSpPr>
          <p:cNvPr id="4" name="Slide Number Placeholder 3">
            <a:extLst>
              <a:ext uri="{FF2B5EF4-FFF2-40B4-BE49-F238E27FC236}">
                <a16:creationId xmlns:a16="http://schemas.microsoft.com/office/drawing/2014/main" id="{65A215FE-858E-4E72-6808-8B1A0754BB6F}"/>
              </a:ext>
            </a:extLst>
          </p:cNvPr>
          <p:cNvSpPr>
            <a:spLocks noGrp="1"/>
          </p:cNvSpPr>
          <p:nvPr>
            <p:ph type="sldNum" sz="quarter" idx="5"/>
          </p:nvPr>
        </p:nvSpPr>
        <p:spPr/>
      </p:sp>
    </p:spTree>
    <p:extLst>
      <p:ext uri="{BB962C8B-B14F-4D97-AF65-F5344CB8AC3E}">
        <p14:creationId xmlns:p14="http://schemas.microsoft.com/office/powerpoint/2010/main" val="3375826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在核心功能实现方面，目前已经基本完成开题阶段设定的主要功能目标。系统实现了图像描述生成、结构化入库和向量化存储，也实现了文本检索图片和以图搜图的双路检索机制。同时，系统能够基于 RAG 返回回答内容、引用来源和检索过程信息。在此基础上，我还集成了查询改写、多查询扩展、混合检索、重排序、上下文压缩和轻量化路由机制，形成了比较完整的检索增强链路。</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8F00E-F2A7-C993-70A0-621C41914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08FFA-20BA-7CD9-9C12-1B2E2CBF1A7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FC4473E-E80F-0331-9657-E10E42647FDF}"/>
              </a:ext>
            </a:extLst>
          </p:cNvPr>
          <p:cNvSpPr>
            <a:spLocks noGrp="1"/>
          </p:cNvSpPr>
          <p:nvPr>
            <p:ph type="body" sz="quarter" idx="3"/>
          </p:nvPr>
        </p:nvSpPr>
        <p:spPr/>
        <p:txBody>
          <a:bodyPr/>
          <a:lstStyle/>
          <a:p>
            <a:r>
              <a:t>在核心功能实现方面，目前已经基本完成开题阶段设定的主要功能目标。系统实现了图像描述生成、结构化入库和向量化存储，也实现了文本检索图片和以图搜图的双路检索机制。同时，系统能够基于 RAG 返回回答内容、引用来源和检索过程信息。在此基础上，我还集成了查询改写、多查询扩展、混合检索、重排序、上下文压缩和轻量化路由机制，形成了比较完整的检索增强链路。</a:t>
            </a:r>
          </a:p>
        </p:txBody>
      </p:sp>
      <p:sp>
        <p:nvSpPr>
          <p:cNvPr id="4" name="Slide Number Placeholder 3">
            <a:extLst>
              <a:ext uri="{FF2B5EF4-FFF2-40B4-BE49-F238E27FC236}">
                <a16:creationId xmlns:a16="http://schemas.microsoft.com/office/drawing/2014/main" id="{E58FA412-56B0-5ADF-0017-331DF5A2C19F}"/>
              </a:ext>
            </a:extLst>
          </p:cNvPr>
          <p:cNvSpPr>
            <a:spLocks noGrp="1"/>
          </p:cNvSpPr>
          <p:nvPr>
            <p:ph type="sldNum" sz="quarter" idx="5"/>
          </p:nvPr>
        </p:nvSpPr>
        <p:spPr/>
      </p:sp>
    </p:spTree>
    <p:extLst>
      <p:ext uri="{BB962C8B-B14F-4D97-AF65-F5344CB8AC3E}">
        <p14:creationId xmlns:p14="http://schemas.microsoft.com/office/powerpoint/2010/main" val="40631965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这一页是实验评估的总体说明。前一阶段我已经分别完成了检索器评估和生成器评估两类实验。从中期报告中的阶段性结果来看，所提 proposed 方法在多个场景中已经表现出一定竞争力，尤其是在部分领域已经接近甚至超过 baseline_clip，但在更复杂的场景下仍有进一步优化空间。</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这一页汇报检索实验结果。根据中期报告中的结论，proposed 方法在多个领域接近甚至超过 baseline_clip，其中在 CRM 和 energy 领域表现较好；但在 finance 和 cross-domain 场景下仍然弱于 baseline_clip。这说明当前方法在复杂表格页和跨领域混合检索场景中还有继续优化的空间。图中展示了 CRM、Energy、延迟和分领域热力图四组结果。</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2DC78-A364-559F-B5A5-2E442EF735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D166CF-3CBB-DAE6-E0E6-5850E3AFE64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1A8518-24E2-1773-162F-11DF0E68B07E}"/>
              </a:ext>
            </a:extLst>
          </p:cNvPr>
          <p:cNvSpPr>
            <a:spLocks noGrp="1"/>
          </p:cNvSpPr>
          <p:nvPr>
            <p:ph type="body" sz="quarter" idx="3"/>
          </p:nvPr>
        </p:nvSpPr>
        <p:spPr/>
        <p:txBody>
          <a:bodyPr/>
          <a:lstStyle/>
          <a:p>
            <a:r>
              <a:t>这一页汇报检索实验结果。根据中期报告中的结论，proposed 方法在多个领域接近甚至超过 baseline_clip，其中在 CRM 和 energy 领域表现较好；但在 finance 和 cross-domain 场景下仍然弱于 baseline_clip。这说明当前方法在复杂表格页和跨领域混合检索场景中还有继续优化的空间。图中展示了 CRM、Energy、延迟和分领域热力图四组结果。</a:t>
            </a:r>
          </a:p>
        </p:txBody>
      </p:sp>
      <p:sp>
        <p:nvSpPr>
          <p:cNvPr id="4" name="Slide Number Placeholder 3">
            <a:extLst>
              <a:ext uri="{FF2B5EF4-FFF2-40B4-BE49-F238E27FC236}">
                <a16:creationId xmlns:a16="http://schemas.microsoft.com/office/drawing/2014/main" id="{BA5ED46A-E549-B19F-9AF9-7FE9D14FE38A}"/>
              </a:ext>
            </a:extLst>
          </p:cNvPr>
          <p:cNvSpPr>
            <a:spLocks noGrp="1"/>
          </p:cNvSpPr>
          <p:nvPr>
            <p:ph type="sldNum" sz="quarter" idx="5"/>
          </p:nvPr>
        </p:nvSpPr>
        <p:spPr/>
      </p:sp>
    </p:spTree>
    <p:extLst>
      <p:ext uri="{BB962C8B-B14F-4D97-AF65-F5344CB8AC3E}">
        <p14:creationId xmlns:p14="http://schemas.microsoft.com/office/powerpoint/2010/main" val="29196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24A09-E747-0B9A-1ACE-6E7580DE6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678A6-16F8-4732-93EB-92E39D57AC2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1CD5507-1D4D-C7DE-8D4D-64B7E6C509A3}"/>
              </a:ext>
            </a:extLst>
          </p:cNvPr>
          <p:cNvSpPr>
            <a:spLocks noGrp="1"/>
          </p:cNvSpPr>
          <p:nvPr>
            <p:ph type="body" sz="quarter" idx="3"/>
          </p:nvPr>
        </p:nvSpPr>
        <p:spPr/>
        <p:txBody>
          <a:bodyPr/>
          <a:lstStyle/>
          <a:p>
            <a:r>
              <a:t>这一页汇报检索实验结果。根据中期报告中的结论，proposed 方法在多个领域接近甚至超过 baseline_clip，其中在 CRM 和 energy 领域表现较好；但在 finance 和 cross-domain 场景下仍然弱于 baseline_clip。这说明当前方法在复杂表格页和跨领域混合检索场景中还有继续优化的空间。图中展示了 CRM、Energy、延迟和分领域热力图四组结果。</a:t>
            </a:r>
          </a:p>
        </p:txBody>
      </p:sp>
      <p:sp>
        <p:nvSpPr>
          <p:cNvPr id="4" name="Slide Number Placeholder 3">
            <a:extLst>
              <a:ext uri="{FF2B5EF4-FFF2-40B4-BE49-F238E27FC236}">
                <a16:creationId xmlns:a16="http://schemas.microsoft.com/office/drawing/2014/main" id="{BEB1F708-B90B-7E21-81AC-4CC9E6936121}"/>
              </a:ext>
            </a:extLst>
          </p:cNvPr>
          <p:cNvSpPr>
            <a:spLocks noGrp="1"/>
          </p:cNvSpPr>
          <p:nvPr>
            <p:ph type="sldNum" sz="quarter" idx="5"/>
          </p:nvPr>
        </p:nvSpPr>
        <p:spPr/>
      </p:sp>
    </p:spTree>
    <p:extLst>
      <p:ext uri="{BB962C8B-B14F-4D97-AF65-F5344CB8AC3E}">
        <p14:creationId xmlns:p14="http://schemas.microsoft.com/office/powerpoint/2010/main" val="34016618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5305A-47F0-3B8D-F79E-2457959AA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6FDE6-6B43-F6B0-715E-049306C2557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C159A12-9262-205C-7B30-A7C3BD162D22}"/>
              </a:ext>
            </a:extLst>
          </p:cNvPr>
          <p:cNvSpPr>
            <a:spLocks noGrp="1"/>
          </p:cNvSpPr>
          <p:nvPr>
            <p:ph type="body" sz="quarter" idx="3"/>
          </p:nvPr>
        </p:nvSpPr>
        <p:spPr/>
        <p:txBody>
          <a:bodyPr/>
          <a:lstStyle/>
          <a:p>
            <a:r>
              <a:t>这一页汇报检索实验结果。根据中期报告中的结论，proposed 方法在多个领域接近甚至超过 baseline_clip，其中在 CRM 和 energy 领域表现较好；但在 finance 和 cross-domain 场景下仍然弱于 baseline_clip。这说明当前方法在复杂表格页和跨领域混合检索场景中还有继续优化的空间。图中展示了 CRM、Energy、延迟和分领域热力图四组结果。</a:t>
            </a:r>
          </a:p>
        </p:txBody>
      </p:sp>
      <p:sp>
        <p:nvSpPr>
          <p:cNvPr id="4" name="Slide Number Placeholder 3">
            <a:extLst>
              <a:ext uri="{FF2B5EF4-FFF2-40B4-BE49-F238E27FC236}">
                <a16:creationId xmlns:a16="http://schemas.microsoft.com/office/drawing/2014/main" id="{E90D7AD7-D850-CD04-DA2A-6E327267A929}"/>
              </a:ext>
            </a:extLst>
          </p:cNvPr>
          <p:cNvSpPr>
            <a:spLocks noGrp="1"/>
          </p:cNvSpPr>
          <p:nvPr>
            <p:ph type="sldNum" sz="quarter" idx="5"/>
          </p:nvPr>
        </p:nvSpPr>
        <p:spPr/>
      </p:sp>
    </p:spTree>
    <p:extLst>
      <p:ext uri="{BB962C8B-B14F-4D97-AF65-F5344CB8AC3E}">
        <p14:creationId xmlns:p14="http://schemas.microsoft.com/office/powerpoint/2010/main" val="2230803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B4D46-D2C8-CB67-52C2-0E351369D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956778-A50D-6AE1-1FEA-05E0A0D2D53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FAFBF85-F3E0-E769-3F72-FF557C13A24D}"/>
              </a:ext>
            </a:extLst>
          </p:cNvPr>
          <p:cNvSpPr>
            <a:spLocks noGrp="1"/>
          </p:cNvSpPr>
          <p:nvPr>
            <p:ph type="body" sz="quarter" idx="3"/>
          </p:nvPr>
        </p:nvSpPr>
        <p:spPr/>
        <p:txBody>
          <a:bodyPr/>
          <a:lstStyle/>
          <a:p>
            <a:r>
              <a:t>这一页汇报检索实验结果。根据中期报告中的结论，proposed 方法在多个领域接近甚至超过 baseline_clip，其中在 CRM 和 energy 领域表现较好；但在 finance 和 cross-domain 场景下仍然弱于 baseline_clip。这说明当前方法在复杂表格页和跨领域混合检索场景中还有继续优化的空间。图中展示了 CRM、Energy、延迟和分领域热力图四组结果。</a:t>
            </a:r>
          </a:p>
        </p:txBody>
      </p:sp>
      <p:sp>
        <p:nvSpPr>
          <p:cNvPr id="4" name="Slide Number Placeholder 3">
            <a:extLst>
              <a:ext uri="{FF2B5EF4-FFF2-40B4-BE49-F238E27FC236}">
                <a16:creationId xmlns:a16="http://schemas.microsoft.com/office/drawing/2014/main" id="{E1113A2B-E2C3-1AE8-D1BB-06065105DF97}"/>
              </a:ext>
            </a:extLst>
          </p:cNvPr>
          <p:cNvSpPr>
            <a:spLocks noGrp="1"/>
          </p:cNvSpPr>
          <p:nvPr>
            <p:ph type="sldNum" sz="quarter" idx="5"/>
          </p:nvPr>
        </p:nvSpPr>
        <p:spPr/>
      </p:sp>
    </p:spTree>
    <p:extLst>
      <p:ext uri="{BB962C8B-B14F-4D97-AF65-F5344CB8AC3E}">
        <p14:creationId xmlns:p14="http://schemas.microsoft.com/office/powerpoint/2010/main" val="1523556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6DA0B-1D1F-FBCC-27DC-AC4E8D3605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ABE39-E1B1-92A9-5766-C30A84FCDA4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D1D4DB5-F410-0952-2399-8868C84F8903}"/>
              </a:ext>
            </a:extLst>
          </p:cNvPr>
          <p:cNvSpPr>
            <a:spLocks noGrp="1"/>
          </p:cNvSpPr>
          <p:nvPr>
            <p:ph type="body" sz="quarter" idx="3"/>
          </p:nvPr>
        </p:nvSpPr>
        <p:spPr/>
        <p:txBody>
          <a:bodyPr/>
          <a:lstStyle/>
          <a:p>
            <a:r>
              <a:t>这一页汇报检索实验结果。根据中期报告中的结论，proposed 方法在多个领域接近甚至超过 baseline_clip，其中在 CRM 和 energy 领域表现较好；但在 finance 和 cross-domain 场景下仍然弱于 baseline_clip。这说明当前方法在复杂表格页和跨领域混合检索场景中还有继续优化的空间。图中展示了 CRM、Energy、延迟和分领域热力图四组结果。</a:t>
            </a:r>
          </a:p>
        </p:txBody>
      </p:sp>
      <p:sp>
        <p:nvSpPr>
          <p:cNvPr id="4" name="Slide Number Placeholder 3">
            <a:extLst>
              <a:ext uri="{FF2B5EF4-FFF2-40B4-BE49-F238E27FC236}">
                <a16:creationId xmlns:a16="http://schemas.microsoft.com/office/drawing/2014/main" id="{C058CF1E-58DA-3F17-8492-8693360FE089}"/>
              </a:ext>
            </a:extLst>
          </p:cNvPr>
          <p:cNvSpPr>
            <a:spLocks noGrp="1"/>
          </p:cNvSpPr>
          <p:nvPr>
            <p:ph type="sldNum" sz="quarter" idx="5"/>
          </p:nvPr>
        </p:nvSpPr>
        <p:spPr/>
      </p:sp>
    </p:spTree>
    <p:extLst>
      <p:ext uri="{BB962C8B-B14F-4D97-AF65-F5344CB8AC3E}">
        <p14:creationId xmlns:p14="http://schemas.microsoft.com/office/powerpoint/2010/main" val="15792186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F59A7-AD36-7364-4A66-84F5E15D4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4608E-5CFD-5845-8064-C7D1B38FDB5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05ECFC8-64BC-837B-CB7D-722EE4880113}"/>
              </a:ext>
            </a:extLst>
          </p:cNvPr>
          <p:cNvSpPr>
            <a:spLocks noGrp="1"/>
          </p:cNvSpPr>
          <p:nvPr>
            <p:ph type="body" sz="quarter" idx="3"/>
          </p:nvPr>
        </p:nvSpPr>
        <p:spPr/>
        <p:txBody>
          <a:bodyPr/>
          <a:lstStyle/>
          <a:p>
            <a:r>
              <a:t>这一页汇报检索实验结果。根据中期报告中的结论，proposed 方法在多个领域接近甚至超过 baseline_clip，其中在 CRM 和 energy 领域表现较好；但在 finance 和 cross-domain 场景下仍然弱于 baseline_clip。这说明当前方法在复杂表格页和跨领域混合检索场景中还有继续优化的空间。图中展示了 CRM、Energy、延迟和分领域热力图四组结果。</a:t>
            </a:r>
          </a:p>
        </p:txBody>
      </p:sp>
      <p:sp>
        <p:nvSpPr>
          <p:cNvPr id="4" name="Slide Number Placeholder 3">
            <a:extLst>
              <a:ext uri="{FF2B5EF4-FFF2-40B4-BE49-F238E27FC236}">
                <a16:creationId xmlns:a16="http://schemas.microsoft.com/office/drawing/2014/main" id="{2C735CFD-AAB9-E143-882F-89F517AEB705}"/>
              </a:ext>
            </a:extLst>
          </p:cNvPr>
          <p:cNvSpPr>
            <a:spLocks noGrp="1"/>
          </p:cNvSpPr>
          <p:nvPr>
            <p:ph type="sldNum" sz="quarter" idx="5"/>
          </p:nvPr>
        </p:nvSpPr>
        <p:spPr/>
      </p:sp>
    </p:spTree>
    <p:extLst>
      <p:ext uri="{BB962C8B-B14F-4D97-AF65-F5344CB8AC3E}">
        <p14:creationId xmlns:p14="http://schemas.microsoft.com/office/powerpoint/2010/main" val="4509089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92CA5-D2C0-B4BB-17DD-FF249399C9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89CE0-1486-2FC0-E124-FCBD06BADD1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B02CCCC-2B88-781D-6EC9-802E3A7C1705}"/>
              </a:ext>
            </a:extLst>
          </p:cNvPr>
          <p:cNvSpPr>
            <a:spLocks noGrp="1"/>
          </p:cNvSpPr>
          <p:nvPr>
            <p:ph type="body" sz="quarter" idx="3"/>
          </p:nvPr>
        </p:nvSpPr>
        <p:spPr/>
        <p:txBody>
          <a:bodyPr/>
          <a:lstStyle/>
          <a:p>
            <a:r>
              <a:t>这一页汇报检索实验结果。根据中期报告中的结论，proposed 方法在多个领域接近甚至超过 baseline_clip，其中在 CRM 和 energy 领域表现较好；但在 finance 和 cross-domain 场景下仍然弱于 baseline_clip。这说明当前方法在复杂表格页和跨领域混合检索场景中还有继续优化的空间。图中展示了 CRM、Energy、延迟和分领域热力图四组结果。</a:t>
            </a:r>
          </a:p>
        </p:txBody>
      </p:sp>
      <p:sp>
        <p:nvSpPr>
          <p:cNvPr id="4" name="Slide Number Placeholder 3">
            <a:extLst>
              <a:ext uri="{FF2B5EF4-FFF2-40B4-BE49-F238E27FC236}">
                <a16:creationId xmlns:a16="http://schemas.microsoft.com/office/drawing/2014/main" id="{E8E47EEB-2C5B-DDE1-D8C2-FE2A0413C829}"/>
              </a:ext>
            </a:extLst>
          </p:cNvPr>
          <p:cNvSpPr>
            <a:spLocks noGrp="1"/>
          </p:cNvSpPr>
          <p:nvPr>
            <p:ph type="sldNum" sz="quarter" idx="5"/>
          </p:nvPr>
        </p:nvSpPr>
        <p:spPr/>
      </p:sp>
    </p:spTree>
    <p:extLst>
      <p:ext uri="{BB962C8B-B14F-4D97-AF65-F5344CB8AC3E}">
        <p14:creationId xmlns:p14="http://schemas.microsoft.com/office/powerpoint/2010/main" val="37308561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EE31F-E0E9-19C2-C865-2A579C0EDB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8A5371-F505-69FE-3C2B-46F6EDC6138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0716425-F563-06B7-4DCC-A603F3750CD4}"/>
              </a:ext>
            </a:extLst>
          </p:cNvPr>
          <p:cNvSpPr>
            <a:spLocks noGrp="1"/>
          </p:cNvSpPr>
          <p:nvPr>
            <p:ph type="body" sz="quarter" idx="3"/>
          </p:nvPr>
        </p:nvSpPr>
        <p:spPr/>
        <p:txBody>
          <a:bodyPr/>
          <a:lstStyle/>
          <a:p>
            <a:r>
              <a:t>这一页汇报生成实验结果。中期报告中给出的结果显示，proposed 的回答正确性达到 0.86，与表现最好的 baseline_clip 的 0.87 基本接近；同时在图像上下文相关性指标上达到 0.9286，为所有方法中最高。相比之下，no_rag 的回答正确性只有 0.24。整体来看，这些结果已经初步验证了所提方法在生成质量和视觉证据利用方面的有效性。</a:t>
            </a:r>
          </a:p>
        </p:txBody>
      </p:sp>
      <p:sp>
        <p:nvSpPr>
          <p:cNvPr id="4" name="Slide Number Placeholder 3">
            <a:extLst>
              <a:ext uri="{FF2B5EF4-FFF2-40B4-BE49-F238E27FC236}">
                <a16:creationId xmlns:a16="http://schemas.microsoft.com/office/drawing/2014/main" id="{C913030B-4EA8-356F-FF71-A10FA4BC1F1E}"/>
              </a:ext>
            </a:extLst>
          </p:cNvPr>
          <p:cNvSpPr>
            <a:spLocks noGrp="1"/>
          </p:cNvSpPr>
          <p:nvPr>
            <p:ph type="sldNum" sz="quarter" idx="5"/>
          </p:nvPr>
        </p:nvSpPr>
        <p:spPr/>
      </p:sp>
    </p:spTree>
    <p:extLst>
      <p:ext uri="{BB962C8B-B14F-4D97-AF65-F5344CB8AC3E}">
        <p14:creationId xmlns:p14="http://schemas.microsoft.com/office/powerpoint/2010/main" val="31156155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这一页汇报生成实验结果。中期报告中给出的结果显示，proposed 的回答正确性达到 0.86，与表现最好的 baseline_clip 的 0.87 基本接近；同时在图像上下文相关性指标上达到 0.9286，为所有方法中最高。相比之下，no_rag 的回答正确性只有 0.24。整体来看，这些结果已经初步验证了所提方法在生成质量和视觉证据利用方面的有效性。</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0F5EA-641F-1EE3-DA7E-CC06534DA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66609-F0CD-8474-86FB-CAA757FABEC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B9E2E5B-4BB7-1E17-B5D3-A7C9B81A1D85}"/>
              </a:ext>
            </a:extLst>
          </p:cNvPr>
          <p:cNvSpPr>
            <a:spLocks noGrp="1"/>
          </p:cNvSpPr>
          <p:nvPr>
            <p:ph type="body" sz="quarter" idx="3"/>
          </p:nvPr>
        </p:nvSpPr>
        <p:spPr/>
        <p:txBody>
          <a:bodyPr/>
          <a:lstStyle/>
          <a:p>
            <a:r>
              <a:t>这一页汇报生成实验结果。中期报告中给出的结果显示，proposed 的回答正确性达到 0.86，与表现最好的 baseline_clip 的 0.87 基本接近；同时在图像上下文相关性指标上达到 0.9286，为所有方法中最高。相比之下，no_rag 的回答正确性只有 0.24。整体来看，这些结果已经初步验证了所提方法在生成质量和视觉证据利用方面的有效性。</a:t>
            </a:r>
          </a:p>
        </p:txBody>
      </p:sp>
      <p:sp>
        <p:nvSpPr>
          <p:cNvPr id="4" name="Slide Number Placeholder 3">
            <a:extLst>
              <a:ext uri="{FF2B5EF4-FFF2-40B4-BE49-F238E27FC236}">
                <a16:creationId xmlns:a16="http://schemas.microsoft.com/office/drawing/2014/main" id="{46458ADE-F7C3-C4C8-4653-9233285549A7}"/>
              </a:ext>
            </a:extLst>
          </p:cNvPr>
          <p:cNvSpPr>
            <a:spLocks noGrp="1"/>
          </p:cNvSpPr>
          <p:nvPr>
            <p:ph type="sldNum" sz="quarter" idx="5"/>
          </p:nvPr>
        </p:nvSpPr>
        <p:spPr/>
      </p:sp>
    </p:spTree>
    <p:extLst>
      <p:ext uri="{BB962C8B-B14F-4D97-AF65-F5344CB8AC3E}">
        <p14:creationId xmlns:p14="http://schemas.microsoft.com/office/powerpoint/2010/main" val="2733594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C2358-2309-90C0-147F-187FAE9FC8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5A0C7B-5B25-DCD1-D5F3-9EC538D27F6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A3716F5-69C0-7A4A-9522-D047878D8C03}"/>
              </a:ext>
            </a:extLst>
          </p:cNvPr>
          <p:cNvSpPr>
            <a:spLocks noGrp="1"/>
          </p:cNvSpPr>
          <p:nvPr>
            <p:ph type="body" sz="quarter" idx="3"/>
          </p:nvPr>
        </p:nvSpPr>
        <p:spPr/>
        <p:txBody>
          <a:bodyPr/>
          <a:lstStyle/>
          <a:p>
            <a:r>
              <a:t>这一页汇报生成实验结果。中期报告中给出的结果显示，proposed 的回答正确性达到 0.86，与表现最好的 baseline_clip 的 0.87 基本接近；同时在图像上下文相关性指标上达到 0.9286，为所有方法中最高。相比之下，no_rag 的回答正确性只有 0.24。整体来看，这些结果已经初步验证了所提方法在生成质量和视觉证据利用方面的有效性。</a:t>
            </a:r>
          </a:p>
        </p:txBody>
      </p:sp>
      <p:sp>
        <p:nvSpPr>
          <p:cNvPr id="4" name="Slide Number Placeholder 3">
            <a:extLst>
              <a:ext uri="{FF2B5EF4-FFF2-40B4-BE49-F238E27FC236}">
                <a16:creationId xmlns:a16="http://schemas.microsoft.com/office/drawing/2014/main" id="{6F91DCBB-FF3B-7E99-776C-E5C4ECEA3B3D}"/>
              </a:ext>
            </a:extLst>
          </p:cNvPr>
          <p:cNvSpPr>
            <a:spLocks noGrp="1"/>
          </p:cNvSpPr>
          <p:nvPr>
            <p:ph type="sldNum" sz="quarter" idx="5"/>
          </p:nvPr>
        </p:nvSpPr>
        <p:spPr/>
      </p:sp>
    </p:spTree>
    <p:extLst>
      <p:ext uri="{BB962C8B-B14F-4D97-AF65-F5344CB8AC3E}">
        <p14:creationId xmlns:p14="http://schemas.microsoft.com/office/powerpoint/2010/main" val="2426981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1D470-8B9F-2295-F502-0C236AE5BE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6267FE-77C8-53B8-00BC-8671F39B122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AADFCB2-7929-EF4A-26A3-2872F915B51A}"/>
              </a:ext>
            </a:extLst>
          </p:cNvPr>
          <p:cNvSpPr>
            <a:spLocks noGrp="1"/>
          </p:cNvSpPr>
          <p:nvPr>
            <p:ph type="body" sz="quarter" idx="3"/>
          </p:nvPr>
        </p:nvSpPr>
        <p:spPr/>
        <p:txBody>
          <a:bodyPr/>
          <a:lstStyle/>
          <a:p>
            <a:r>
              <a:t>这一页汇报生成实验结果。中期报告中给出的结果显示，proposed 的回答正确性达到 0.86，与表现最好的 baseline_clip 的 0.87 基本接近；同时在图像上下文相关性指标上达到 0.9286，为所有方法中最高。相比之下，no_rag 的回答正确性只有 0.24。整体来看，这些结果已经初步验证了所提方法在生成质量和视觉证据利用方面的有效性。</a:t>
            </a:r>
          </a:p>
        </p:txBody>
      </p:sp>
      <p:sp>
        <p:nvSpPr>
          <p:cNvPr id="4" name="Slide Number Placeholder 3">
            <a:extLst>
              <a:ext uri="{FF2B5EF4-FFF2-40B4-BE49-F238E27FC236}">
                <a16:creationId xmlns:a16="http://schemas.microsoft.com/office/drawing/2014/main" id="{DB7E0EE0-0B43-D07A-BFFA-CEB06F7177C6}"/>
              </a:ext>
            </a:extLst>
          </p:cNvPr>
          <p:cNvSpPr>
            <a:spLocks noGrp="1"/>
          </p:cNvSpPr>
          <p:nvPr>
            <p:ph type="sldNum" sz="quarter" idx="5"/>
          </p:nvPr>
        </p:nvSpPr>
        <p:spPr/>
      </p:sp>
    </p:spTree>
    <p:extLst>
      <p:ext uri="{BB962C8B-B14F-4D97-AF65-F5344CB8AC3E}">
        <p14:creationId xmlns:p14="http://schemas.microsoft.com/office/powerpoint/2010/main" val="25612918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这一页是模型微调部分。前一阶段我已经完成基于 UniDoc-Bench 图像及描述文本的监督微调数据构建、训练执行和阶段性评估。当前共有训练样本 888 条、验证样本 47 条，并完成了基于 Qwen3.5-4B 的 LoRA 微调训练。结合学习曲线和阶段性验证结果来看，微调在部分复杂页面上确实带来了一定提升，但仍存在输出冗长和重复等问题，因此后续还需要继续优化。</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虽然系统已经具备了比较完整的原型，但目前仍然存在几个比较明确的问题。第一是 OCR 基线索引构建不完整，导致相关指标失真。第二是模型微调效果还不够稳定，与预期还有差距。第三是系统在响应速度方面仍有待提升。第四是异常处理、恢复机制和工程化规范等方面还需要继续完善。这些问题也是下一阶段工作的重点方向。</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下一阶段的工作主要围绕五个方面展开。首先是修复 OCR 基线问题并重跑实验。其次是继续优化模型微调和图像描述能力。第三是继续完善多模态 RAG 链路并提升系统性能。第四是加强测试、异常处理和功能体验优化。最后是同步推进论文初稿撰写和相关材料整理，为后续论文定稿和答辩做好准备。</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我的汇报到这里结束。总体来说，前一阶段我已经完成了文献调研、系统原型开发、实验评估和微调探索等工作，系统已经具备了较完整的运行框架。接下来我会继续围绕实验完善、性能优化和论文写作三个方向推进。请各位老师批评指正。</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901" y="4769032"/>
            <a:ext cx="2057193" cy="273290"/>
          </a:xfrm>
          <a:prstGeom prst="rect">
            <a:avLst/>
          </a:prstGeom>
        </p:spPr>
        <p:txBody>
          <a:bodyPr/>
          <a:lstStyle/>
          <a:p>
            <a:fld id="{32BF82D2-7A68-459D-A996-9BDDA2518FA4}" type="datetimeFigureOut">
              <a:rPr lang="zh-CN" altLang="en-US" smtClean="0"/>
              <a:pPr/>
              <a:t>2026/4/9</a:t>
            </a:fld>
            <a:endParaRPr lang="zh-CN" altLang="en-US"/>
          </a:p>
        </p:txBody>
      </p:sp>
      <p:sp>
        <p:nvSpPr>
          <p:cNvPr id="3" name="页脚占位符 2"/>
          <p:cNvSpPr>
            <a:spLocks noGrp="1"/>
          </p:cNvSpPr>
          <p:nvPr>
            <p:ph type="ftr" sz="quarter" idx="11"/>
          </p:nvPr>
        </p:nvSpPr>
        <p:spPr>
          <a:xfrm>
            <a:off x="3029336" y="4769032"/>
            <a:ext cx="3086918" cy="273290"/>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459496" y="4769032"/>
            <a:ext cx="2057193" cy="273290"/>
          </a:xfrm>
          <a:prstGeom prst="rect">
            <a:avLst/>
          </a:prstGeom>
        </p:spPr>
        <p:txBody>
          <a:bodyPr/>
          <a:lstStyle/>
          <a:p>
            <a:fld id="{3E01EE5D-26FB-46D5-A381-ECFB35BF1D34}" type="slidenum">
              <a:rPr lang="zh-CN" altLang="en-US" smtClean="0"/>
              <a:pPr/>
              <a:t>‹#›</a:t>
            </a:fld>
            <a:endParaRPr lang="zh-CN" altLang="en-US"/>
          </a:p>
        </p:txBody>
      </p:sp>
      <p:sp>
        <p:nvSpPr>
          <p:cNvPr id="5" name="文本框 32"/>
          <p:cNvSpPr txBox="1"/>
          <p:nvPr userDrawn="1"/>
        </p:nvSpPr>
        <p:spPr>
          <a:xfrm>
            <a:off x="265271" y="257676"/>
            <a:ext cx="2292943" cy="284697"/>
          </a:xfrm>
          <a:prstGeom prst="rect">
            <a:avLst/>
          </a:prstGeom>
          <a:noFill/>
        </p:spPr>
        <p:txBody>
          <a:bodyPr wrap="none" lIns="68584" tIns="34292" rIns="68584" bIns="34292" rtlCol="0">
            <a:spAutoFit/>
          </a:bodyPr>
          <a:lstStyle/>
          <a:p>
            <a:pPr defTabSz="685795"/>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东北大学毕业设计（论文）</a:t>
            </a:r>
          </a:p>
        </p:txBody>
      </p:sp>
    </p:spTree>
    <p:extLst>
      <p:ext uri="{BB962C8B-B14F-4D97-AF65-F5344CB8AC3E}">
        <p14:creationId xmlns:p14="http://schemas.microsoft.com/office/powerpoint/2010/main" val="1933288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901" y="4769032"/>
            <a:ext cx="2057193" cy="273290"/>
          </a:xfrm>
          <a:prstGeom prst="rect">
            <a:avLst/>
          </a:prstGeom>
        </p:spPr>
        <p:txBody>
          <a:bodyPr/>
          <a:lstStyle/>
          <a:p>
            <a:fld id="{32BF82D2-7A68-459D-A996-9BDDA2518FA4}" type="datetimeFigureOut">
              <a:rPr lang="zh-CN" altLang="en-US" smtClean="0"/>
              <a:pPr/>
              <a:t>2026/4/9</a:t>
            </a:fld>
            <a:endParaRPr lang="zh-CN" altLang="en-US"/>
          </a:p>
        </p:txBody>
      </p:sp>
      <p:sp>
        <p:nvSpPr>
          <p:cNvPr id="3" name="页脚占位符 2"/>
          <p:cNvSpPr>
            <a:spLocks noGrp="1"/>
          </p:cNvSpPr>
          <p:nvPr>
            <p:ph type="ftr" sz="quarter" idx="11"/>
          </p:nvPr>
        </p:nvSpPr>
        <p:spPr>
          <a:xfrm>
            <a:off x="3029336" y="4769032"/>
            <a:ext cx="3086918" cy="273290"/>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459496" y="4769032"/>
            <a:ext cx="2057193" cy="273290"/>
          </a:xfrm>
          <a:prstGeom prst="rect">
            <a:avLst/>
          </a:prstGeom>
        </p:spPr>
        <p:txBody>
          <a:bodyPr/>
          <a:lstStyle/>
          <a:p>
            <a:fld id="{3E01EE5D-26FB-46D5-A381-ECFB35BF1D34}" type="slidenum">
              <a:rPr lang="zh-CN" altLang="en-US" smtClean="0"/>
              <a:pPr/>
              <a:t>‹#›</a:t>
            </a:fld>
            <a:endParaRPr lang="zh-CN" altLang="en-US"/>
          </a:p>
        </p:txBody>
      </p:sp>
    </p:spTree>
    <p:extLst>
      <p:ext uri="{BB962C8B-B14F-4D97-AF65-F5344CB8AC3E}">
        <p14:creationId xmlns:p14="http://schemas.microsoft.com/office/powerpoint/2010/main" val="1933288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1">
          <a:blip r:embed="rId2">
            <a:alphaModFix amt="40000"/>
            <a:duotone>
              <a:schemeClr val="accent1">
                <a:shade val="45000"/>
                <a:satMod val="135000"/>
              </a:schemeClr>
              <a:prstClr val="white"/>
            </a:duotone>
            <a:lum/>
          </a:blip>
          <a:srcRect/>
          <a:stretch>
            <a:fillRect t="-39000" b="-3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633576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6624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末尾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129752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alphaModFix amt="50000"/>
            <a:duotone>
              <a:schemeClr val="accent1">
                <a:shade val="45000"/>
                <a:satMod val="135000"/>
              </a:schemeClr>
              <a:prstClr val="white"/>
            </a:duotone>
            <a:lum/>
          </a:blip>
          <a:srcRect/>
          <a:stretch>
            <a:fillRect t="-39000" b="-3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505689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Lst>
  <p:txStyles>
    <p:titleStyle>
      <a:lvl1pPr algn="l" defTabSz="650321" rtl="0" eaLnBrk="1" latinLnBrk="0" hangingPunct="1">
        <a:lnSpc>
          <a:spcPct val="90000"/>
        </a:lnSpc>
        <a:spcBef>
          <a:spcPct val="0"/>
        </a:spcBef>
        <a:buNone/>
        <a:defRPr sz="3100" kern="1200">
          <a:solidFill>
            <a:schemeClr val="tx1"/>
          </a:solidFill>
          <a:latin typeface="+mj-lt"/>
          <a:ea typeface="+mj-ea"/>
          <a:cs typeface="+mj-cs"/>
        </a:defRPr>
      </a:lvl1pPr>
    </p:titleStyle>
    <p:bodyStyle>
      <a:lvl1pPr marL="162580" indent="-162580" algn="l" defTabSz="650321" rtl="0" eaLnBrk="1" latinLnBrk="0" hangingPunct="1">
        <a:lnSpc>
          <a:spcPct val="90000"/>
        </a:lnSpc>
        <a:spcBef>
          <a:spcPts val="711"/>
        </a:spcBef>
        <a:buFont typeface="Arial" panose="020B0604020202020204" pitchFamily="34" charset="0"/>
        <a:buChar char="•"/>
        <a:defRPr sz="2000" kern="1200">
          <a:solidFill>
            <a:schemeClr val="tx1"/>
          </a:solidFill>
          <a:latin typeface="+mn-lt"/>
          <a:ea typeface="+mn-ea"/>
          <a:cs typeface="+mn-cs"/>
        </a:defRPr>
      </a:lvl1pPr>
      <a:lvl2pPr marL="487741" indent="-162580" algn="l" defTabSz="650321" rtl="0" eaLnBrk="1" latinLnBrk="0" hangingPunct="1">
        <a:lnSpc>
          <a:spcPct val="90000"/>
        </a:lnSpc>
        <a:spcBef>
          <a:spcPts val="356"/>
        </a:spcBef>
        <a:buFont typeface="Arial" panose="020B0604020202020204" pitchFamily="34" charset="0"/>
        <a:buChar char="•"/>
        <a:defRPr sz="1700" kern="1200">
          <a:solidFill>
            <a:schemeClr val="tx1"/>
          </a:solidFill>
          <a:latin typeface="+mn-lt"/>
          <a:ea typeface="+mn-ea"/>
          <a:cs typeface="+mn-cs"/>
        </a:defRPr>
      </a:lvl2pPr>
      <a:lvl3pPr marL="812902" indent="-162580" algn="l" defTabSz="650321" rtl="0" eaLnBrk="1" latinLnBrk="0" hangingPunct="1">
        <a:lnSpc>
          <a:spcPct val="90000"/>
        </a:lnSpc>
        <a:spcBef>
          <a:spcPts val="356"/>
        </a:spcBef>
        <a:buFont typeface="Arial" panose="020B0604020202020204" pitchFamily="34" charset="0"/>
        <a:buChar char="•"/>
        <a:defRPr sz="1400" kern="1200">
          <a:solidFill>
            <a:schemeClr val="tx1"/>
          </a:solidFill>
          <a:latin typeface="+mn-lt"/>
          <a:ea typeface="+mn-ea"/>
          <a:cs typeface="+mn-cs"/>
        </a:defRPr>
      </a:lvl3pPr>
      <a:lvl4pPr marL="1138062"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4pPr>
      <a:lvl5pPr marL="1463223"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5pPr>
      <a:lvl6pPr marL="178838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6pPr>
      <a:lvl7pPr marL="211354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7pPr>
      <a:lvl8pPr marL="243870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8pPr>
      <a:lvl9pPr marL="276386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9pPr>
    </p:bodyStyle>
    <p:otherStyle>
      <a:defPPr>
        <a:defRPr lang="zh-CN"/>
      </a:defPPr>
      <a:lvl1pPr marL="0" algn="l" defTabSz="650321" rtl="0" eaLnBrk="1" latinLnBrk="0" hangingPunct="1">
        <a:defRPr sz="1300" kern="1200">
          <a:solidFill>
            <a:schemeClr val="tx1"/>
          </a:solidFill>
          <a:latin typeface="+mn-lt"/>
          <a:ea typeface="+mn-ea"/>
          <a:cs typeface="+mn-cs"/>
        </a:defRPr>
      </a:lvl1pPr>
      <a:lvl2pPr marL="325161" algn="l" defTabSz="650321" rtl="0" eaLnBrk="1" latinLnBrk="0" hangingPunct="1">
        <a:defRPr sz="1300" kern="1200">
          <a:solidFill>
            <a:schemeClr val="tx1"/>
          </a:solidFill>
          <a:latin typeface="+mn-lt"/>
          <a:ea typeface="+mn-ea"/>
          <a:cs typeface="+mn-cs"/>
        </a:defRPr>
      </a:lvl2pPr>
      <a:lvl3pPr marL="650321" algn="l" defTabSz="650321" rtl="0" eaLnBrk="1" latinLnBrk="0" hangingPunct="1">
        <a:defRPr sz="1300" kern="1200">
          <a:solidFill>
            <a:schemeClr val="tx1"/>
          </a:solidFill>
          <a:latin typeface="+mn-lt"/>
          <a:ea typeface="+mn-ea"/>
          <a:cs typeface="+mn-cs"/>
        </a:defRPr>
      </a:lvl3pPr>
      <a:lvl4pPr marL="975482" algn="l" defTabSz="650321" rtl="0" eaLnBrk="1" latinLnBrk="0" hangingPunct="1">
        <a:defRPr sz="1300" kern="1200">
          <a:solidFill>
            <a:schemeClr val="tx1"/>
          </a:solidFill>
          <a:latin typeface="+mn-lt"/>
          <a:ea typeface="+mn-ea"/>
          <a:cs typeface="+mn-cs"/>
        </a:defRPr>
      </a:lvl4pPr>
      <a:lvl5pPr marL="1300643" algn="l" defTabSz="650321" rtl="0" eaLnBrk="1" latinLnBrk="0" hangingPunct="1">
        <a:defRPr sz="1300" kern="1200">
          <a:solidFill>
            <a:schemeClr val="tx1"/>
          </a:solidFill>
          <a:latin typeface="+mn-lt"/>
          <a:ea typeface="+mn-ea"/>
          <a:cs typeface="+mn-cs"/>
        </a:defRPr>
      </a:lvl5pPr>
      <a:lvl6pPr marL="1625803" algn="l" defTabSz="650321" rtl="0" eaLnBrk="1" latinLnBrk="0" hangingPunct="1">
        <a:defRPr sz="1300" kern="1200">
          <a:solidFill>
            <a:schemeClr val="tx1"/>
          </a:solidFill>
          <a:latin typeface="+mn-lt"/>
          <a:ea typeface="+mn-ea"/>
          <a:cs typeface="+mn-cs"/>
        </a:defRPr>
      </a:lvl6pPr>
      <a:lvl7pPr marL="1950964" algn="l" defTabSz="650321" rtl="0" eaLnBrk="1" latinLnBrk="0" hangingPunct="1">
        <a:defRPr sz="1300" kern="1200">
          <a:solidFill>
            <a:schemeClr val="tx1"/>
          </a:solidFill>
          <a:latin typeface="+mn-lt"/>
          <a:ea typeface="+mn-ea"/>
          <a:cs typeface="+mn-cs"/>
        </a:defRPr>
      </a:lvl7pPr>
      <a:lvl8pPr marL="2276124" algn="l" defTabSz="650321" rtl="0" eaLnBrk="1" latinLnBrk="0" hangingPunct="1">
        <a:defRPr sz="1300" kern="1200">
          <a:solidFill>
            <a:schemeClr val="tx1"/>
          </a:solidFill>
          <a:latin typeface="+mn-lt"/>
          <a:ea typeface="+mn-ea"/>
          <a:cs typeface="+mn-cs"/>
        </a:defRPr>
      </a:lvl8pPr>
      <a:lvl9pPr marL="2601285" algn="l" defTabSz="650321"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960120"/>
            <a:ext cx="7132320" cy="411480"/>
          </a:xfrm>
          <a:prstGeom prst="rect">
            <a:avLst/>
          </a:prstGeom>
          <a:noFill/>
        </p:spPr>
        <p:txBody>
          <a:bodyPr wrap="square" anchor="t">
            <a:spAutoFit/>
          </a:bodyPr>
          <a:lstStyle/>
          <a:p>
            <a:pPr algn="l"/>
            <a:r>
              <a:rPr sz="2000" b="1">
                <a:solidFill>
                  <a:srgbClr val="B72F2F"/>
                </a:solidFill>
                <a:latin typeface="Microsoft YaHei"/>
              </a:rPr>
              <a:t>中期汇报</a:t>
            </a:r>
          </a:p>
        </p:txBody>
      </p:sp>
      <p:sp>
        <p:nvSpPr>
          <p:cNvPr id="3" name="TextBox 2"/>
          <p:cNvSpPr txBox="1"/>
          <p:nvPr/>
        </p:nvSpPr>
        <p:spPr>
          <a:xfrm>
            <a:off x="685800" y="1508760"/>
            <a:ext cx="7847434" cy="523220"/>
          </a:xfrm>
          <a:prstGeom prst="rect">
            <a:avLst/>
          </a:prstGeom>
          <a:noFill/>
        </p:spPr>
        <p:txBody>
          <a:bodyPr wrap="square" anchor="t">
            <a:spAutoFit/>
          </a:bodyPr>
          <a:lstStyle/>
          <a:p>
            <a:pPr algn="l"/>
            <a:r>
              <a:rPr sz="2800" b="1" dirty="0" err="1">
                <a:solidFill>
                  <a:srgbClr val="12376D"/>
                </a:solidFill>
                <a:latin typeface="Microsoft YaHei"/>
              </a:rPr>
              <a:t>基于语义描述桥接的多模态RAG系统设计与实现</a:t>
            </a:r>
            <a:endParaRPr sz="2800" b="1" dirty="0">
              <a:solidFill>
                <a:srgbClr val="12376D"/>
              </a:solidFill>
              <a:latin typeface="Microsoft YaHei"/>
            </a:endParaRPr>
          </a:p>
        </p:txBody>
      </p:sp>
      <p:sp>
        <p:nvSpPr>
          <p:cNvPr id="4" name="TextBox 3"/>
          <p:cNvSpPr txBox="1"/>
          <p:nvPr/>
        </p:nvSpPr>
        <p:spPr>
          <a:xfrm>
            <a:off x="777240" y="2210101"/>
            <a:ext cx="8495506" cy="276999"/>
          </a:xfrm>
          <a:prstGeom prst="rect">
            <a:avLst/>
          </a:prstGeom>
          <a:noFill/>
        </p:spPr>
        <p:txBody>
          <a:bodyPr wrap="square" anchor="t">
            <a:spAutoFit/>
          </a:bodyPr>
          <a:lstStyle/>
          <a:p>
            <a:pPr algn="l"/>
            <a:r>
              <a:rPr lang="en-US" sz="1200" b="0" dirty="0">
                <a:solidFill>
                  <a:srgbClr val="646464"/>
                </a:solidFill>
                <a:latin typeface="Microsoft YaHei"/>
              </a:rPr>
              <a:t>Design and Implementation of a Multimodal RAG System Based on Semantic Description Bridging</a:t>
            </a:r>
          </a:p>
        </p:txBody>
      </p:sp>
      <p:sp>
        <p:nvSpPr>
          <p:cNvPr id="5" name="TextBox 4"/>
          <p:cNvSpPr txBox="1"/>
          <p:nvPr/>
        </p:nvSpPr>
        <p:spPr>
          <a:xfrm>
            <a:off x="805510" y="3738027"/>
            <a:ext cx="4114800" cy="1138773"/>
          </a:xfrm>
          <a:prstGeom prst="rect">
            <a:avLst/>
          </a:prstGeom>
          <a:noFill/>
        </p:spPr>
        <p:txBody>
          <a:bodyPr wrap="square"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700" b="1" i="0" u="none" strike="noStrike" kern="1200" cap="none" spc="0" normalizeH="0" baseline="0" noProof="0" dirty="0">
                <a:ln>
                  <a:noFill/>
                </a:ln>
                <a:solidFill>
                  <a:srgbClr val="262626"/>
                </a:solidFill>
                <a:effectLst/>
                <a:uLnTx/>
                <a:uFillTx/>
                <a:latin typeface="Microsoft YaHei"/>
                <a:ea typeface="宋体" panose="02010600030101010101" pitchFamily="2" charset="-122"/>
                <a:cs typeface="+mn-cs"/>
              </a:rPr>
              <a:t>汇  报  人：张琪
学       号：</a:t>
            </a:r>
            <a:r>
              <a:rPr kumimoji="0" lang="en-US" altLang="zh-CN" sz="1700" b="1" i="0" u="none" strike="noStrike" kern="1200" cap="none" spc="0" normalizeH="0" baseline="0" noProof="0" dirty="0">
                <a:ln>
                  <a:noFill/>
                </a:ln>
                <a:solidFill>
                  <a:srgbClr val="262626"/>
                </a:solidFill>
                <a:effectLst/>
                <a:uLnTx/>
                <a:uFillTx/>
                <a:latin typeface="Microsoft YaHei"/>
                <a:ea typeface="宋体" panose="02010600030101010101" pitchFamily="2" charset="-122"/>
                <a:cs typeface="+mn-cs"/>
              </a:rPr>
              <a:t>20225928
</a:t>
            </a:r>
            <a:r>
              <a:rPr kumimoji="0" lang="zh-CN" altLang="en-US" sz="1700" b="1" i="0" u="none" strike="noStrike" kern="1200" cap="none" spc="0" normalizeH="0" baseline="0" noProof="0" dirty="0">
                <a:ln>
                  <a:noFill/>
                </a:ln>
                <a:solidFill>
                  <a:srgbClr val="262626"/>
                </a:solidFill>
                <a:effectLst/>
                <a:uLnTx/>
                <a:uFillTx/>
                <a:latin typeface="Microsoft YaHei"/>
                <a:ea typeface="宋体" panose="02010600030101010101" pitchFamily="2" charset="-122"/>
                <a:cs typeface="+mn-cs"/>
              </a:rPr>
              <a:t>班       级：计算机</a:t>
            </a:r>
            <a:r>
              <a:rPr kumimoji="0" lang="en-US" altLang="zh-CN" sz="1700" b="1" i="0" u="none" strike="noStrike" kern="1200" cap="none" spc="0" normalizeH="0" baseline="0" noProof="0" dirty="0">
                <a:ln>
                  <a:noFill/>
                </a:ln>
                <a:solidFill>
                  <a:srgbClr val="262626"/>
                </a:solidFill>
                <a:effectLst/>
                <a:uLnTx/>
                <a:uFillTx/>
                <a:latin typeface="Microsoft YaHei"/>
                <a:ea typeface="宋体" panose="02010600030101010101" pitchFamily="2" charset="-122"/>
                <a:cs typeface="+mn-cs"/>
              </a:rPr>
              <a:t>2202</a:t>
            </a:r>
            <a:endParaRPr kumimoji="0" lang="zh-CN" altLang="en-US" sz="1700" b="1" i="0" u="none" strike="noStrike" kern="1200" cap="none" spc="0" normalizeH="0" baseline="0" noProof="0" dirty="0">
              <a:ln>
                <a:noFill/>
              </a:ln>
              <a:solidFill>
                <a:srgbClr val="262626"/>
              </a:solidFill>
              <a:effectLst/>
              <a:uLnTx/>
              <a:uFillTx/>
              <a:latin typeface="Microsoft YaHei"/>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700" b="1" i="0" u="none" strike="noStrike" kern="1200" cap="none" spc="0" normalizeH="0" baseline="0" noProof="0" dirty="0">
                <a:ln>
                  <a:noFill/>
                </a:ln>
                <a:solidFill>
                  <a:srgbClr val="262626"/>
                </a:solidFill>
                <a:effectLst/>
                <a:uLnTx/>
                <a:uFillTx/>
                <a:latin typeface="Microsoft YaHei"/>
                <a:ea typeface="宋体" panose="02010600030101010101" pitchFamily="2" charset="-122"/>
                <a:cs typeface="+mn-cs"/>
              </a:rPr>
              <a:t>指导教师：吴刚 教授</a:t>
            </a:r>
          </a:p>
        </p:txBody>
      </p:sp>
      <p:sp>
        <p:nvSpPr>
          <p:cNvPr id="6" name="TextBox 5"/>
          <p:cNvSpPr txBox="1"/>
          <p:nvPr/>
        </p:nvSpPr>
        <p:spPr>
          <a:xfrm>
            <a:off x="5943600" y="4617720"/>
            <a:ext cx="2103120" cy="548640"/>
          </a:xfrm>
          <a:prstGeom prst="rect">
            <a:avLst/>
          </a:prstGeom>
          <a:noFill/>
        </p:spPr>
        <p:txBody>
          <a:bodyPr wrap="square" anchor="t">
            <a:spAutoFit/>
          </a:bodyPr>
          <a:lstStyle/>
          <a:p>
            <a:pPr algn="r"/>
            <a:r>
              <a:rPr sz="1800" b="1">
                <a:solidFill>
                  <a:srgbClr val="12376D"/>
                </a:solidFill>
                <a:latin typeface="Microsoft YaHei"/>
              </a:rPr>
              <a:t>2026年4月</a:t>
            </a:r>
          </a:p>
        </p:txBody>
      </p:sp>
      <p:sp>
        <p:nvSpPr>
          <p:cNvPr id="7" name="Rectangle 6"/>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东北大学毕业设计（论文）中期汇报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汇报内容</a:t>
            </a:r>
          </a:p>
        </p:txBody>
      </p:sp>
      <p:sp>
        <p:nvSpPr>
          <p:cNvPr id="5" name="Rounded Rectangle 4"/>
          <p:cNvSpPr/>
          <p:nvPr/>
        </p:nvSpPr>
        <p:spPr>
          <a:xfrm>
            <a:off x="640080" y="1143000"/>
            <a:ext cx="2194560" cy="121352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252728"/>
            <a:ext cx="1920240" cy="256032"/>
          </a:xfrm>
          <a:prstGeom prst="rect">
            <a:avLst/>
          </a:prstGeom>
          <a:noFill/>
        </p:spPr>
        <p:txBody>
          <a:bodyPr wrap="square" anchor="t">
            <a:spAutoFit/>
          </a:bodyPr>
          <a:lstStyle/>
          <a:p>
            <a:pPr algn="l"/>
            <a:r>
              <a:rPr sz="1600" b="1">
                <a:solidFill>
                  <a:srgbClr val="12376D"/>
                </a:solidFill>
                <a:latin typeface="Microsoft YaHei"/>
              </a:rPr>
              <a:t>01 前期工作</a:t>
            </a:r>
          </a:p>
        </p:txBody>
      </p:sp>
      <p:sp>
        <p:nvSpPr>
          <p:cNvPr id="7" name="TextBox 6"/>
          <p:cNvSpPr txBox="1"/>
          <p:nvPr/>
        </p:nvSpPr>
        <p:spPr>
          <a:xfrm>
            <a:off x="749808" y="1527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文献阅读与资料学习</a:t>
            </a:r>
          </a:p>
          <a:p>
            <a:pPr>
              <a:spcAft>
                <a:spcPts val="400"/>
              </a:spcAft>
              <a:defRPr sz="1300">
                <a:solidFill>
                  <a:srgbClr val="282828"/>
                </a:solidFill>
                <a:latin typeface="Microsoft YaHei"/>
              </a:defRPr>
            </a:pPr>
            <a:r>
              <a:t>系统设计与开发</a:t>
            </a:r>
          </a:p>
        </p:txBody>
      </p:sp>
      <p:sp>
        <p:nvSpPr>
          <p:cNvPr id="8" name="Rounded Rectangle 7"/>
          <p:cNvSpPr/>
          <p:nvPr/>
        </p:nvSpPr>
        <p:spPr>
          <a:xfrm>
            <a:off x="3246120" y="1143000"/>
            <a:ext cx="2194560" cy="121352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83279" y="1252728"/>
            <a:ext cx="1920240" cy="256032"/>
          </a:xfrm>
          <a:prstGeom prst="rect">
            <a:avLst/>
          </a:prstGeom>
          <a:noFill/>
        </p:spPr>
        <p:txBody>
          <a:bodyPr wrap="square" anchor="t">
            <a:spAutoFit/>
          </a:bodyPr>
          <a:lstStyle/>
          <a:p>
            <a:pPr algn="l"/>
            <a:r>
              <a:rPr sz="1600" b="1">
                <a:solidFill>
                  <a:srgbClr val="12376D"/>
                </a:solidFill>
                <a:latin typeface="Microsoft YaHei"/>
              </a:rPr>
              <a:t>02 系统展示</a:t>
            </a:r>
          </a:p>
        </p:txBody>
      </p:sp>
      <p:sp>
        <p:nvSpPr>
          <p:cNvPr id="10" name="TextBox 9"/>
          <p:cNvSpPr txBox="1"/>
          <p:nvPr/>
        </p:nvSpPr>
        <p:spPr>
          <a:xfrm>
            <a:off x="3355848" y="1527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核心界面</a:t>
            </a:r>
          </a:p>
          <a:p>
            <a:pPr>
              <a:spcAft>
                <a:spcPts val="400"/>
              </a:spcAft>
              <a:defRPr sz="1300">
                <a:solidFill>
                  <a:srgbClr val="282828"/>
                </a:solidFill>
                <a:latin typeface="Microsoft YaHei"/>
              </a:defRPr>
            </a:pPr>
            <a:r>
              <a:t>功能与优化点</a:t>
            </a:r>
          </a:p>
        </p:txBody>
      </p:sp>
      <p:sp>
        <p:nvSpPr>
          <p:cNvPr id="11" name="Rounded Rectangle 10"/>
          <p:cNvSpPr/>
          <p:nvPr/>
        </p:nvSpPr>
        <p:spPr>
          <a:xfrm>
            <a:off x="5852160" y="1143000"/>
            <a:ext cx="2194560" cy="121352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89320" y="1252728"/>
            <a:ext cx="1920240" cy="256032"/>
          </a:xfrm>
          <a:prstGeom prst="rect">
            <a:avLst/>
          </a:prstGeom>
          <a:noFill/>
        </p:spPr>
        <p:txBody>
          <a:bodyPr wrap="square" anchor="t">
            <a:spAutoFit/>
          </a:bodyPr>
          <a:lstStyle/>
          <a:p>
            <a:pPr algn="l"/>
            <a:r>
              <a:rPr sz="1600" b="1">
                <a:solidFill>
                  <a:srgbClr val="12376D"/>
                </a:solidFill>
                <a:latin typeface="Microsoft YaHei"/>
              </a:rPr>
              <a:t>03 实验评估</a:t>
            </a:r>
          </a:p>
        </p:txBody>
      </p:sp>
      <p:sp>
        <p:nvSpPr>
          <p:cNvPr id="13" name="TextBox 12"/>
          <p:cNvSpPr txBox="1"/>
          <p:nvPr/>
        </p:nvSpPr>
        <p:spPr>
          <a:xfrm>
            <a:off x="5961888" y="1527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检索实验</a:t>
            </a:r>
          </a:p>
          <a:p>
            <a:pPr>
              <a:spcAft>
                <a:spcPts val="400"/>
              </a:spcAft>
              <a:defRPr sz="1300">
                <a:solidFill>
                  <a:srgbClr val="282828"/>
                </a:solidFill>
                <a:latin typeface="Microsoft YaHei"/>
              </a:defRPr>
            </a:pPr>
            <a:r>
              <a:t>生成实验</a:t>
            </a:r>
          </a:p>
        </p:txBody>
      </p:sp>
      <p:sp>
        <p:nvSpPr>
          <p:cNvPr id="14" name="Rounded Rectangle 13"/>
          <p:cNvSpPr/>
          <p:nvPr/>
        </p:nvSpPr>
        <p:spPr>
          <a:xfrm>
            <a:off x="640080" y="3429000"/>
            <a:ext cx="2194560" cy="1176944"/>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538728"/>
            <a:ext cx="1920240" cy="256032"/>
          </a:xfrm>
          <a:prstGeom prst="rect">
            <a:avLst/>
          </a:prstGeom>
          <a:noFill/>
        </p:spPr>
        <p:txBody>
          <a:bodyPr wrap="square" anchor="t">
            <a:spAutoFit/>
          </a:bodyPr>
          <a:lstStyle/>
          <a:p>
            <a:pPr algn="l"/>
            <a:r>
              <a:rPr sz="1600" b="1">
                <a:solidFill>
                  <a:srgbClr val="12376D"/>
                </a:solidFill>
                <a:latin typeface="Microsoft YaHei"/>
              </a:rPr>
              <a:t>04 微调工作</a:t>
            </a:r>
          </a:p>
        </p:txBody>
      </p:sp>
      <p:sp>
        <p:nvSpPr>
          <p:cNvPr id="16" name="TextBox 15"/>
          <p:cNvSpPr txBox="1"/>
          <p:nvPr/>
        </p:nvSpPr>
        <p:spPr>
          <a:xfrm>
            <a:off x="749808" y="3813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训练配置</a:t>
            </a:r>
          </a:p>
          <a:p>
            <a:pPr>
              <a:spcAft>
                <a:spcPts val="400"/>
              </a:spcAft>
              <a:defRPr sz="1300">
                <a:solidFill>
                  <a:srgbClr val="282828"/>
                </a:solidFill>
                <a:latin typeface="Microsoft YaHei"/>
              </a:defRPr>
            </a:pPr>
            <a:r>
              <a:t>阶段性结果</a:t>
            </a:r>
          </a:p>
        </p:txBody>
      </p:sp>
      <p:sp>
        <p:nvSpPr>
          <p:cNvPr id="17" name="Rounded Rectangle 16"/>
          <p:cNvSpPr/>
          <p:nvPr/>
        </p:nvSpPr>
        <p:spPr>
          <a:xfrm>
            <a:off x="3246120" y="3429000"/>
            <a:ext cx="2194560" cy="1176944"/>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83279" y="3538728"/>
            <a:ext cx="1920240" cy="256032"/>
          </a:xfrm>
          <a:prstGeom prst="rect">
            <a:avLst/>
          </a:prstGeom>
          <a:noFill/>
        </p:spPr>
        <p:txBody>
          <a:bodyPr wrap="square" anchor="t">
            <a:spAutoFit/>
          </a:bodyPr>
          <a:lstStyle/>
          <a:p>
            <a:pPr algn="l"/>
            <a:r>
              <a:rPr sz="1600" b="1">
                <a:solidFill>
                  <a:srgbClr val="12376D"/>
                </a:solidFill>
                <a:latin typeface="Microsoft YaHei"/>
              </a:rPr>
              <a:t>05 问题分析</a:t>
            </a:r>
          </a:p>
        </p:txBody>
      </p:sp>
      <p:sp>
        <p:nvSpPr>
          <p:cNvPr id="19" name="TextBox 18"/>
          <p:cNvSpPr txBox="1"/>
          <p:nvPr/>
        </p:nvSpPr>
        <p:spPr>
          <a:xfrm>
            <a:off x="3355848" y="3813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当前不足</a:t>
            </a:r>
          </a:p>
          <a:p>
            <a:pPr>
              <a:spcAft>
                <a:spcPts val="400"/>
              </a:spcAft>
              <a:defRPr sz="1300">
                <a:solidFill>
                  <a:srgbClr val="282828"/>
                </a:solidFill>
                <a:latin typeface="Microsoft YaHei"/>
              </a:defRPr>
            </a:pPr>
            <a:r>
              <a:t>原因定位</a:t>
            </a:r>
          </a:p>
        </p:txBody>
      </p:sp>
      <p:sp>
        <p:nvSpPr>
          <p:cNvPr id="20" name="Rounded Rectangle 19"/>
          <p:cNvSpPr/>
          <p:nvPr/>
        </p:nvSpPr>
        <p:spPr>
          <a:xfrm>
            <a:off x="5852160" y="3429000"/>
            <a:ext cx="2194560" cy="1173064"/>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89320" y="3538728"/>
            <a:ext cx="1920240" cy="256032"/>
          </a:xfrm>
          <a:prstGeom prst="rect">
            <a:avLst/>
          </a:prstGeom>
          <a:noFill/>
        </p:spPr>
        <p:txBody>
          <a:bodyPr wrap="square" anchor="t">
            <a:spAutoFit/>
          </a:bodyPr>
          <a:lstStyle/>
          <a:p>
            <a:pPr algn="l"/>
            <a:r>
              <a:rPr sz="1600" b="1">
                <a:solidFill>
                  <a:srgbClr val="12376D"/>
                </a:solidFill>
                <a:latin typeface="Microsoft YaHei"/>
              </a:rPr>
              <a:t>06 后续计划</a:t>
            </a:r>
          </a:p>
        </p:txBody>
      </p:sp>
      <p:sp>
        <p:nvSpPr>
          <p:cNvPr id="22" name="TextBox 21"/>
          <p:cNvSpPr txBox="1"/>
          <p:nvPr/>
        </p:nvSpPr>
        <p:spPr>
          <a:xfrm>
            <a:off x="5961888" y="3813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下一阶段安排</a:t>
            </a:r>
          </a:p>
          <a:p>
            <a:pPr>
              <a:spcAft>
                <a:spcPts val="400"/>
              </a:spcAft>
              <a:defRPr sz="1300">
                <a:solidFill>
                  <a:srgbClr val="282828"/>
                </a:solidFill>
                <a:latin typeface="Microsoft YaHei"/>
              </a:defRPr>
            </a:pPr>
            <a:r>
              <a:t>论文材料准备</a:t>
            </a:r>
          </a:p>
        </p:txBody>
      </p:sp>
      <p:sp>
        <p:nvSpPr>
          <p:cNvPr id="23" name="Rectangle 22"/>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本版PPT按中期报告原文顺序重新组织，不引入外部实验图表</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前期文献阅读与资料学习</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Literature Review</a:t>
            </a:r>
          </a:p>
        </p:txBody>
      </p:sp>
      <p:sp>
        <p:nvSpPr>
          <p:cNvPr id="5" name="TextBox 4"/>
          <p:cNvSpPr txBox="1"/>
          <p:nvPr/>
        </p:nvSpPr>
        <p:spPr>
          <a:xfrm>
            <a:off x="685800" y="1051560"/>
            <a:ext cx="7726679" cy="2959785"/>
          </a:xfrm>
          <a:prstGeom prst="rect">
            <a:avLst/>
          </a:prstGeom>
          <a:noFill/>
        </p:spPr>
        <p:txBody>
          <a:bodyPr wrap="square">
            <a:spAutoFit/>
          </a:bodyPr>
          <a:lstStyle/>
          <a:p>
            <a:pPr marL="285750" indent="-285750">
              <a:spcAft>
                <a:spcPts val="1000"/>
              </a:spcAft>
              <a:buFont typeface="Arial" panose="020B0604020202020204" pitchFamily="34" charset="0"/>
              <a:buChar char="•"/>
              <a:defRPr sz="1700">
                <a:solidFill>
                  <a:srgbClr val="282828"/>
                </a:solidFill>
                <a:latin typeface="Microsoft YaHei"/>
              </a:defRPr>
            </a:pPr>
            <a:r>
              <a:rPr dirty="0" err="1"/>
              <a:t>围绕多模态检索、检索增强生成、多模态大模型、向量数据库和</a:t>
            </a:r>
            <a:r>
              <a:rPr dirty="0"/>
              <a:t> RAG </a:t>
            </a:r>
            <a:r>
              <a:rPr dirty="0" err="1"/>
              <a:t>评测等方向进行了系统调研</a:t>
            </a:r>
            <a:r>
              <a:rPr dirty="0"/>
              <a:t>。</a:t>
            </a:r>
          </a:p>
          <a:p>
            <a:pPr marL="285750" indent="-285750">
              <a:spcAft>
                <a:spcPts val="1000"/>
              </a:spcAft>
              <a:buFont typeface="Arial" panose="020B0604020202020204" pitchFamily="34" charset="0"/>
              <a:buChar char="•"/>
              <a:defRPr sz="1700">
                <a:solidFill>
                  <a:srgbClr val="282828"/>
                </a:solidFill>
                <a:latin typeface="Microsoft YaHei"/>
              </a:defRPr>
            </a:pPr>
            <a:r>
              <a:rPr dirty="0" err="1"/>
              <a:t>重点学习了</a:t>
            </a:r>
            <a:r>
              <a:rPr dirty="0"/>
              <a:t> CLIP、BLIP-2、LLaVA、Qwen-VL、MuRAG </a:t>
            </a:r>
            <a:r>
              <a:rPr dirty="0" err="1"/>
              <a:t>以及多模态</a:t>
            </a:r>
            <a:r>
              <a:rPr dirty="0"/>
              <a:t> RAG </a:t>
            </a:r>
            <a:r>
              <a:rPr dirty="0" err="1"/>
              <a:t>综述与基准研究等代表性工作</a:t>
            </a:r>
            <a:r>
              <a:rPr dirty="0"/>
              <a:t>。</a:t>
            </a:r>
          </a:p>
          <a:p>
            <a:pPr marL="285750" indent="-285750">
              <a:spcAft>
                <a:spcPts val="1000"/>
              </a:spcAft>
              <a:buFont typeface="Arial" panose="020B0604020202020204" pitchFamily="34" charset="0"/>
              <a:buChar char="•"/>
              <a:defRPr sz="1700">
                <a:solidFill>
                  <a:srgbClr val="282828"/>
                </a:solidFill>
                <a:latin typeface="Microsoft YaHei"/>
              </a:defRPr>
            </a:pPr>
            <a:r>
              <a:rPr dirty="0" err="1"/>
              <a:t>同步查阅了</a:t>
            </a:r>
            <a:r>
              <a:rPr dirty="0"/>
              <a:t> RAGAs </a:t>
            </a:r>
            <a:r>
              <a:rPr dirty="0" err="1"/>
              <a:t>等自动评测方法，以及向量数据库、文本嵌入模型和检索系统实现相关资料</a:t>
            </a:r>
            <a:r>
              <a:rPr dirty="0"/>
              <a:t>。</a:t>
            </a:r>
          </a:p>
          <a:p>
            <a:pPr marL="285750" indent="-285750">
              <a:spcAft>
                <a:spcPts val="1000"/>
              </a:spcAft>
              <a:buFont typeface="Arial" panose="020B0604020202020204" pitchFamily="34" charset="0"/>
              <a:buChar char="•"/>
              <a:defRPr sz="1700">
                <a:solidFill>
                  <a:srgbClr val="282828"/>
                </a:solidFill>
                <a:latin typeface="Microsoft YaHei"/>
              </a:defRPr>
            </a:pPr>
            <a:r>
              <a:rPr dirty="0" err="1"/>
              <a:t>通过文献和技术资料学习，对检索相关性、答案忠实性、上下文利用和向量召回机制形成了初步认识</a:t>
            </a:r>
            <a:r>
              <a:rPr dirty="0"/>
              <a:t>。</a:t>
            </a:r>
          </a:p>
          <a:p>
            <a:pPr>
              <a:spcAft>
                <a:spcPts val="1000"/>
              </a:spcAft>
              <a:defRPr sz="1700">
                <a:solidFill>
                  <a:srgbClr val="282828"/>
                </a:solidFill>
                <a:latin typeface="Microsoft YaHei"/>
              </a:defRPr>
            </a:pPr>
            <a:r>
              <a:rPr dirty="0" err="1"/>
              <a:t>这些工作为后续系统设计、原型开发和实验评估提供了理论基础</a:t>
            </a:r>
            <a:r>
              <a:rPr dirty="0"/>
              <a:t>。</a:t>
            </a:r>
          </a:p>
        </p:txBody>
      </p:sp>
      <p:sp>
        <p:nvSpPr>
          <p:cNvPr id="6" name="Rectangle 5"/>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内容依据：中期报告“1.前期文献阅读与资料学习”</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系统设计与开发</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Design &amp; Development</a:t>
            </a:r>
          </a:p>
        </p:txBody>
      </p:sp>
      <p:sp>
        <p:nvSpPr>
          <p:cNvPr id="5" name="Rounded Rectangle 4"/>
          <p:cNvSpPr/>
          <p:nvPr/>
        </p:nvSpPr>
        <p:spPr>
          <a:xfrm>
            <a:off x="640080" y="1097280"/>
            <a:ext cx="2468880" cy="173736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207007"/>
            <a:ext cx="2194560" cy="256032"/>
          </a:xfrm>
          <a:prstGeom prst="rect">
            <a:avLst/>
          </a:prstGeom>
          <a:noFill/>
        </p:spPr>
        <p:txBody>
          <a:bodyPr wrap="square" anchor="t">
            <a:spAutoFit/>
          </a:bodyPr>
          <a:lstStyle/>
          <a:p>
            <a:pPr algn="l"/>
            <a:r>
              <a:rPr sz="1600" b="1">
                <a:solidFill>
                  <a:srgbClr val="12376D"/>
                </a:solidFill>
                <a:latin typeface="Microsoft YaHei"/>
              </a:rPr>
              <a:t>总体设计</a:t>
            </a:r>
          </a:p>
        </p:txBody>
      </p:sp>
      <p:sp>
        <p:nvSpPr>
          <p:cNvPr id="7" name="TextBox 6"/>
          <p:cNvSpPr txBox="1"/>
          <p:nvPr/>
        </p:nvSpPr>
        <p:spPr>
          <a:xfrm>
            <a:off x="749808" y="1481328"/>
            <a:ext cx="2249424" cy="1280160"/>
          </a:xfrm>
          <a:prstGeom prst="rect">
            <a:avLst/>
          </a:prstGeom>
          <a:noFill/>
        </p:spPr>
        <p:txBody>
          <a:bodyPr wrap="square">
            <a:spAutoFit/>
          </a:bodyPr>
          <a:lstStyle/>
          <a:p>
            <a:pPr>
              <a:spcAft>
                <a:spcPts val="400"/>
              </a:spcAft>
              <a:defRPr sz="1300">
                <a:solidFill>
                  <a:srgbClr val="282828"/>
                </a:solidFill>
                <a:latin typeface="Microsoft YaHei"/>
              </a:defRPr>
            </a:pPr>
            <a:r>
              <a:t>建立了业务模型、功能模型和数据模型。</a:t>
            </a:r>
          </a:p>
          <a:p>
            <a:pPr>
              <a:spcAft>
                <a:spcPts val="400"/>
              </a:spcAft>
              <a:defRPr sz="1300">
                <a:solidFill>
                  <a:srgbClr val="282828"/>
                </a:solidFill>
                <a:latin typeface="Microsoft YaHei"/>
              </a:defRPr>
            </a:pPr>
            <a:r>
              <a:t>完成了功能设计、数据库设计和模块设计。</a:t>
            </a:r>
          </a:p>
        </p:txBody>
      </p:sp>
      <p:sp>
        <p:nvSpPr>
          <p:cNvPr id="8" name="Rounded Rectangle 7"/>
          <p:cNvSpPr/>
          <p:nvPr/>
        </p:nvSpPr>
        <p:spPr>
          <a:xfrm>
            <a:off x="3337560" y="1097280"/>
            <a:ext cx="2468880" cy="173736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0" y="1207007"/>
            <a:ext cx="2194560" cy="256032"/>
          </a:xfrm>
          <a:prstGeom prst="rect">
            <a:avLst/>
          </a:prstGeom>
          <a:noFill/>
        </p:spPr>
        <p:txBody>
          <a:bodyPr wrap="square" anchor="t">
            <a:spAutoFit/>
          </a:bodyPr>
          <a:lstStyle/>
          <a:p>
            <a:pPr algn="l"/>
            <a:r>
              <a:rPr sz="1600" b="1">
                <a:solidFill>
                  <a:srgbClr val="12376D"/>
                </a:solidFill>
                <a:latin typeface="Microsoft YaHei"/>
              </a:rPr>
              <a:t>后端技术栈</a:t>
            </a:r>
          </a:p>
        </p:txBody>
      </p:sp>
      <p:sp>
        <p:nvSpPr>
          <p:cNvPr id="10" name="TextBox 9"/>
          <p:cNvSpPr txBox="1"/>
          <p:nvPr/>
        </p:nvSpPr>
        <p:spPr>
          <a:xfrm>
            <a:off x="3447288" y="1481328"/>
            <a:ext cx="2249424" cy="1280160"/>
          </a:xfrm>
          <a:prstGeom prst="rect">
            <a:avLst/>
          </a:prstGeom>
          <a:noFill/>
        </p:spPr>
        <p:txBody>
          <a:bodyPr wrap="square">
            <a:spAutoFit/>
          </a:bodyPr>
          <a:lstStyle/>
          <a:p>
            <a:pPr>
              <a:spcAft>
                <a:spcPts val="400"/>
              </a:spcAft>
              <a:defRPr sz="1300">
                <a:solidFill>
                  <a:srgbClr val="282828"/>
                </a:solidFill>
                <a:latin typeface="Microsoft YaHei"/>
              </a:defRPr>
            </a:pPr>
            <a:r>
              <a:t>后端采用 FastAPI。</a:t>
            </a:r>
          </a:p>
          <a:p>
            <a:pPr>
              <a:spcAft>
                <a:spcPts val="400"/>
              </a:spcAft>
              <a:defRPr sz="1300">
                <a:solidFill>
                  <a:srgbClr val="282828"/>
                </a:solidFill>
                <a:latin typeface="Microsoft YaHei"/>
              </a:defRPr>
            </a:pPr>
            <a:r>
              <a:t>围绕多模态 RAG 业务流程组织系统能力。</a:t>
            </a:r>
          </a:p>
        </p:txBody>
      </p:sp>
      <p:sp>
        <p:nvSpPr>
          <p:cNvPr id="11" name="Rounded Rectangle 10"/>
          <p:cNvSpPr/>
          <p:nvPr/>
        </p:nvSpPr>
        <p:spPr>
          <a:xfrm>
            <a:off x="6035040" y="1097280"/>
            <a:ext cx="2468880" cy="173736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1207007"/>
            <a:ext cx="2194560" cy="256032"/>
          </a:xfrm>
          <a:prstGeom prst="rect">
            <a:avLst/>
          </a:prstGeom>
          <a:noFill/>
        </p:spPr>
        <p:txBody>
          <a:bodyPr wrap="square" anchor="t">
            <a:spAutoFit/>
          </a:bodyPr>
          <a:lstStyle/>
          <a:p>
            <a:pPr algn="l"/>
            <a:r>
              <a:rPr sz="1600" b="1">
                <a:solidFill>
                  <a:srgbClr val="12376D"/>
                </a:solidFill>
                <a:latin typeface="Microsoft YaHei"/>
              </a:rPr>
              <a:t>前端技术栈</a:t>
            </a:r>
          </a:p>
        </p:txBody>
      </p:sp>
      <p:sp>
        <p:nvSpPr>
          <p:cNvPr id="13" name="TextBox 12"/>
          <p:cNvSpPr txBox="1"/>
          <p:nvPr/>
        </p:nvSpPr>
        <p:spPr>
          <a:xfrm>
            <a:off x="6144768" y="1481328"/>
            <a:ext cx="2249424" cy="1280160"/>
          </a:xfrm>
          <a:prstGeom prst="rect">
            <a:avLst/>
          </a:prstGeom>
          <a:noFill/>
        </p:spPr>
        <p:txBody>
          <a:bodyPr wrap="square">
            <a:spAutoFit/>
          </a:bodyPr>
          <a:lstStyle/>
          <a:p>
            <a:pPr>
              <a:spcAft>
                <a:spcPts val="400"/>
              </a:spcAft>
              <a:defRPr sz="1300">
                <a:solidFill>
                  <a:srgbClr val="282828"/>
                </a:solidFill>
                <a:latin typeface="Microsoft YaHei"/>
              </a:defRPr>
            </a:pPr>
            <a:r>
              <a:t>前端采用 Vue3 + TypeScript + Vite。</a:t>
            </a:r>
          </a:p>
          <a:p>
            <a:pPr>
              <a:spcAft>
                <a:spcPts val="400"/>
              </a:spcAft>
              <a:defRPr sz="1300">
                <a:solidFill>
                  <a:srgbClr val="282828"/>
                </a:solidFill>
                <a:latin typeface="Microsoft YaHei"/>
              </a:defRPr>
            </a:pPr>
            <a:r>
              <a:t>形成可交互的演示型系统页面。</a:t>
            </a:r>
          </a:p>
        </p:txBody>
      </p:sp>
      <p:sp>
        <p:nvSpPr>
          <p:cNvPr id="14" name="TextBox 13"/>
          <p:cNvSpPr txBox="1"/>
          <p:nvPr/>
        </p:nvSpPr>
        <p:spPr>
          <a:xfrm>
            <a:off x="731520" y="3337560"/>
            <a:ext cx="7589520" cy="1267014"/>
          </a:xfrm>
          <a:prstGeom prst="rect">
            <a:avLst/>
          </a:prstGeom>
          <a:noFill/>
        </p:spPr>
        <p:txBody>
          <a:bodyPr wrap="square">
            <a:spAutoFit/>
          </a:bodyPr>
          <a:lstStyle/>
          <a:p>
            <a:pPr>
              <a:spcAft>
                <a:spcPts val="1000"/>
              </a:spcAft>
              <a:defRPr sz="1700">
                <a:solidFill>
                  <a:srgbClr val="282828"/>
                </a:solidFill>
                <a:latin typeface="Microsoft YaHei"/>
              </a:defRPr>
            </a:pPr>
            <a:r>
              <a:rPr dirty="0" err="1"/>
              <a:t>已完成</a:t>
            </a:r>
            <a:r>
              <a:rPr b="1" dirty="0" err="1"/>
              <a:t>图片知识库</a:t>
            </a:r>
            <a:r>
              <a:rPr dirty="0" err="1"/>
              <a:t>、</a:t>
            </a:r>
            <a:r>
              <a:rPr b="1" dirty="0" err="1"/>
              <a:t>文档知识库</a:t>
            </a:r>
            <a:r>
              <a:rPr dirty="0" err="1"/>
              <a:t>、</a:t>
            </a:r>
            <a:r>
              <a:rPr b="1" dirty="0" err="1"/>
              <a:t>图文检索服务</a:t>
            </a:r>
            <a:r>
              <a:rPr dirty="0" err="1"/>
              <a:t>、</a:t>
            </a:r>
            <a:r>
              <a:rPr b="1" dirty="0" err="1"/>
              <a:t>RAG</a:t>
            </a:r>
            <a:r>
              <a:rPr b="1" dirty="0"/>
              <a:t> </a:t>
            </a:r>
            <a:r>
              <a:rPr b="1" dirty="0" err="1"/>
              <a:t>问答服务</a:t>
            </a:r>
            <a:r>
              <a:rPr dirty="0" err="1"/>
              <a:t>及基础管理功能开发</a:t>
            </a:r>
            <a:r>
              <a:rPr dirty="0"/>
              <a:t>。</a:t>
            </a:r>
          </a:p>
          <a:p>
            <a:pPr>
              <a:spcAft>
                <a:spcPts val="1000"/>
              </a:spcAft>
              <a:defRPr sz="1700">
                <a:solidFill>
                  <a:srgbClr val="282828"/>
                </a:solidFill>
                <a:latin typeface="Microsoft YaHei"/>
              </a:defRPr>
            </a:pPr>
            <a:r>
              <a:rPr dirty="0" err="1"/>
              <a:t>系统当前已经具备较完整的运行框架，可作为后续实验和论文撰写的核心原型</a:t>
            </a:r>
            <a:r>
              <a:rPr dirty="0"/>
              <a:t>。</a:t>
            </a:r>
          </a:p>
        </p:txBody>
      </p:sp>
      <p:sp>
        <p:nvSpPr>
          <p:cNvPr id="15" name="Rectangle 14"/>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内容依据：中期报告“2.系统设计与开发”</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系统界面展示（一）</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UI Screens</a:t>
            </a:r>
          </a:p>
        </p:txBody>
      </p:sp>
      <p:sp>
        <p:nvSpPr>
          <p:cNvPr id="5" name="Rectangle 4"/>
          <p:cNvSpPr/>
          <p:nvPr/>
        </p:nvSpPr>
        <p:spPr>
          <a:xfrm>
            <a:off x="500226" y="874008"/>
            <a:ext cx="8321040" cy="3930784"/>
          </a:xfrm>
          <a:prstGeom prst="rect">
            <a:avLst/>
          </a:prstGeom>
          <a:solidFill>
            <a:srgbClr val="12376D"/>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83992" y="4801360"/>
            <a:ext cx="3657600" cy="246221"/>
          </a:xfrm>
          <a:prstGeom prst="rect">
            <a:avLst/>
          </a:prstGeom>
          <a:noFill/>
        </p:spPr>
        <p:txBody>
          <a:bodyPr wrap="square" anchor="t">
            <a:spAutoFit/>
          </a:bodyPr>
          <a:lstStyle/>
          <a:p>
            <a:pPr algn="ctr"/>
            <a:r>
              <a:rPr sz="1000" b="1" dirty="0" err="1">
                <a:solidFill>
                  <a:srgbClr val="646464"/>
                </a:solidFill>
                <a:latin typeface="Microsoft YaHei"/>
              </a:rPr>
              <a:t>图表</a:t>
            </a:r>
            <a:r>
              <a:rPr sz="1000" b="1" dirty="0">
                <a:solidFill>
                  <a:srgbClr val="646464"/>
                </a:solidFill>
                <a:latin typeface="Microsoft YaHei"/>
              </a:rPr>
              <a:t> 1 </a:t>
            </a:r>
            <a:r>
              <a:rPr sz="1000" b="1" dirty="0" err="1">
                <a:solidFill>
                  <a:srgbClr val="646464"/>
                </a:solidFill>
                <a:latin typeface="Microsoft YaHei"/>
              </a:rPr>
              <a:t>图片知识库界面</a:t>
            </a:r>
            <a:endParaRPr sz="1000" b="1" dirty="0">
              <a:solidFill>
                <a:srgbClr val="646464"/>
              </a:solidFill>
              <a:latin typeface="Microsoft YaHei"/>
            </a:endParaRPr>
          </a:p>
        </p:txBody>
      </p:sp>
      <p:sp>
        <p:nvSpPr>
          <p:cNvPr id="11" name="Rectangle 10"/>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图片与标题均来自中期报告内嵌图表 1-2</a:t>
            </a:r>
          </a:p>
        </p:txBody>
      </p:sp>
      <p:pic>
        <p:nvPicPr>
          <p:cNvPr id="15" name="图片 14">
            <a:extLst>
              <a:ext uri="{FF2B5EF4-FFF2-40B4-BE49-F238E27FC236}">
                <a16:creationId xmlns:a16="http://schemas.microsoft.com/office/drawing/2014/main" id="{0C26C591-4FD8-6B88-6785-F77665C10B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276" y="926215"/>
            <a:ext cx="8152939" cy="38263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0FF7-06C9-E960-670D-BC06053811C2}"/>
            </a:ext>
          </a:extLst>
        </p:cNvPr>
        <p:cNvGrpSpPr/>
        <p:nvPr/>
      </p:nvGrpSpPr>
      <p:grpSpPr>
        <a:xfrm>
          <a:off x="0" y="0"/>
          <a:ext cx="0" cy="0"/>
          <a:chOff x="0" y="0"/>
          <a:chExt cx="0" cy="0"/>
        </a:xfrm>
      </p:grpSpPr>
      <p:sp>
        <p:nvSpPr>
          <p:cNvPr id="15" name="Rectangle 4">
            <a:extLst>
              <a:ext uri="{FF2B5EF4-FFF2-40B4-BE49-F238E27FC236}">
                <a16:creationId xmlns:a16="http://schemas.microsoft.com/office/drawing/2014/main" id="{94D96FD7-0C19-CA46-1D54-6633E9E9E1BF}"/>
              </a:ext>
            </a:extLst>
          </p:cNvPr>
          <p:cNvSpPr/>
          <p:nvPr/>
        </p:nvSpPr>
        <p:spPr>
          <a:xfrm>
            <a:off x="500226" y="874008"/>
            <a:ext cx="8321040" cy="3930784"/>
          </a:xfrm>
          <a:prstGeom prst="rect">
            <a:avLst/>
          </a:prstGeom>
          <a:solidFill>
            <a:srgbClr val="12376D"/>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a:extLst>
              <a:ext uri="{FF2B5EF4-FFF2-40B4-BE49-F238E27FC236}">
                <a16:creationId xmlns:a16="http://schemas.microsoft.com/office/drawing/2014/main" id="{CFAC4F3B-68A7-C60C-4003-434D99E78CB7}"/>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91C8282-0085-9C4F-A92C-25E0DC4EC7F2}"/>
              </a:ext>
            </a:extLst>
          </p:cNvPr>
          <p:cNvSpPr txBox="1"/>
          <p:nvPr/>
        </p:nvSpPr>
        <p:spPr>
          <a:xfrm>
            <a:off x="502920" y="128016"/>
            <a:ext cx="2969083" cy="461665"/>
          </a:xfrm>
          <a:prstGeom prst="rect">
            <a:avLst/>
          </a:prstGeom>
          <a:noFill/>
        </p:spPr>
        <p:txBody>
          <a:bodyPr wrap="none">
            <a:spAutoFit/>
          </a:bodyPr>
          <a:lstStyle/>
          <a:p>
            <a:r>
              <a:rPr sz="2400" b="1" dirty="0" err="1">
                <a:solidFill>
                  <a:srgbClr val="FFFFFF"/>
                </a:solidFill>
                <a:latin typeface="Microsoft YaHei"/>
              </a:rPr>
              <a:t>系统界面展示</a:t>
            </a:r>
            <a:r>
              <a:rPr sz="2400" b="1" dirty="0">
                <a:solidFill>
                  <a:srgbClr val="FFFFFF"/>
                </a:solidFill>
                <a:latin typeface="Microsoft YaHei"/>
              </a:rPr>
              <a:t>（</a:t>
            </a:r>
            <a:r>
              <a:rPr lang="zh-CN" altLang="en-US" sz="2400" b="1" dirty="0">
                <a:solidFill>
                  <a:srgbClr val="FFFFFF"/>
                </a:solidFill>
                <a:latin typeface="Microsoft YaHei"/>
              </a:rPr>
              <a:t>二</a:t>
            </a:r>
            <a:r>
              <a:rPr sz="2400" b="1" dirty="0">
                <a:solidFill>
                  <a:srgbClr val="FFFFFF"/>
                </a:solidFill>
                <a:latin typeface="Microsoft YaHei"/>
              </a:rPr>
              <a:t>）</a:t>
            </a:r>
          </a:p>
        </p:txBody>
      </p:sp>
      <p:sp>
        <p:nvSpPr>
          <p:cNvPr id="4" name="TextBox 3">
            <a:extLst>
              <a:ext uri="{FF2B5EF4-FFF2-40B4-BE49-F238E27FC236}">
                <a16:creationId xmlns:a16="http://schemas.microsoft.com/office/drawing/2014/main" id="{6FEC45A0-4689-8CA8-2CC8-BCAAB6F5E504}"/>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UI Screens</a:t>
            </a:r>
          </a:p>
        </p:txBody>
      </p:sp>
      <p:sp>
        <p:nvSpPr>
          <p:cNvPr id="10" name="TextBox 9">
            <a:extLst>
              <a:ext uri="{FF2B5EF4-FFF2-40B4-BE49-F238E27FC236}">
                <a16:creationId xmlns:a16="http://schemas.microsoft.com/office/drawing/2014/main" id="{41EC06E9-6C82-E401-9861-B0CB523D1CA1}"/>
              </a:ext>
            </a:extLst>
          </p:cNvPr>
          <p:cNvSpPr txBox="1"/>
          <p:nvPr/>
        </p:nvSpPr>
        <p:spPr>
          <a:xfrm>
            <a:off x="2769086" y="4774159"/>
            <a:ext cx="3657600" cy="246221"/>
          </a:xfrm>
          <a:prstGeom prst="rect">
            <a:avLst/>
          </a:prstGeom>
          <a:noFill/>
        </p:spPr>
        <p:txBody>
          <a:bodyPr wrap="square" anchor="t">
            <a:spAutoFit/>
          </a:bodyPr>
          <a:lstStyle/>
          <a:p>
            <a:pPr algn="ctr"/>
            <a:r>
              <a:rPr sz="1000" b="1" dirty="0" err="1">
                <a:solidFill>
                  <a:srgbClr val="646464"/>
                </a:solidFill>
                <a:latin typeface="Microsoft YaHei"/>
              </a:rPr>
              <a:t>图表</a:t>
            </a:r>
            <a:r>
              <a:rPr sz="1000" b="1" dirty="0">
                <a:solidFill>
                  <a:srgbClr val="646464"/>
                </a:solidFill>
                <a:latin typeface="Microsoft YaHei"/>
              </a:rPr>
              <a:t> 2 </a:t>
            </a:r>
            <a:r>
              <a:rPr sz="1000" b="1" dirty="0" err="1">
                <a:solidFill>
                  <a:srgbClr val="646464"/>
                </a:solidFill>
                <a:latin typeface="Microsoft YaHei"/>
              </a:rPr>
              <a:t>文档知识库界面</a:t>
            </a:r>
            <a:endParaRPr sz="1000" b="1" dirty="0">
              <a:solidFill>
                <a:srgbClr val="646464"/>
              </a:solidFill>
              <a:latin typeface="Microsoft YaHei"/>
            </a:endParaRPr>
          </a:p>
        </p:txBody>
      </p:sp>
      <p:sp>
        <p:nvSpPr>
          <p:cNvPr id="11" name="Rectangle 10">
            <a:extLst>
              <a:ext uri="{FF2B5EF4-FFF2-40B4-BE49-F238E27FC236}">
                <a16:creationId xmlns:a16="http://schemas.microsoft.com/office/drawing/2014/main" id="{032B1DDD-9BFE-13E1-C01B-7101D047AA42}"/>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E58DC21C-E94A-AE7E-3334-8676E7EFFF60}"/>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图片与标题均来自中期报告内嵌图表 1-2</a:t>
            </a:r>
          </a:p>
        </p:txBody>
      </p:sp>
      <p:pic>
        <p:nvPicPr>
          <p:cNvPr id="14" name="图片 13">
            <a:extLst>
              <a:ext uri="{FF2B5EF4-FFF2-40B4-BE49-F238E27FC236}">
                <a16:creationId xmlns:a16="http://schemas.microsoft.com/office/drawing/2014/main" id="{8149D05A-1322-D47F-70ED-8BF7FF8CDD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354" y="933189"/>
            <a:ext cx="8057949" cy="3781789"/>
          </a:xfrm>
          <a:prstGeom prst="rect">
            <a:avLst/>
          </a:prstGeom>
        </p:spPr>
      </p:pic>
    </p:spTree>
    <p:extLst>
      <p:ext uri="{BB962C8B-B14F-4D97-AF65-F5344CB8AC3E}">
        <p14:creationId xmlns:p14="http://schemas.microsoft.com/office/powerpoint/2010/main" val="3144066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4">
            <a:extLst>
              <a:ext uri="{FF2B5EF4-FFF2-40B4-BE49-F238E27FC236}">
                <a16:creationId xmlns:a16="http://schemas.microsoft.com/office/drawing/2014/main" id="{6AC2C414-7022-C1AB-A388-D8D9338FBDFD}"/>
              </a:ext>
            </a:extLst>
          </p:cNvPr>
          <p:cNvSpPr/>
          <p:nvPr/>
        </p:nvSpPr>
        <p:spPr>
          <a:xfrm>
            <a:off x="500226" y="874008"/>
            <a:ext cx="8321040" cy="3930784"/>
          </a:xfrm>
          <a:prstGeom prst="rect">
            <a:avLst/>
          </a:prstGeom>
          <a:solidFill>
            <a:srgbClr val="12376D"/>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2969083" cy="461665"/>
          </a:xfrm>
          <a:prstGeom prst="rect">
            <a:avLst/>
          </a:prstGeom>
          <a:noFill/>
        </p:spPr>
        <p:txBody>
          <a:bodyPr wrap="none">
            <a:spAutoFit/>
          </a:bodyPr>
          <a:lstStyle/>
          <a:p>
            <a:r>
              <a:rPr sz="2400" b="1" dirty="0" err="1">
                <a:solidFill>
                  <a:srgbClr val="FFFFFF"/>
                </a:solidFill>
                <a:latin typeface="Microsoft YaHei"/>
              </a:rPr>
              <a:t>系统界面展示</a:t>
            </a:r>
            <a:r>
              <a:rPr sz="2400" b="1" dirty="0">
                <a:solidFill>
                  <a:srgbClr val="FFFFFF"/>
                </a:solidFill>
                <a:latin typeface="Microsoft YaHei"/>
              </a:rPr>
              <a:t>（</a:t>
            </a:r>
            <a:r>
              <a:rPr lang="zh-CN" altLang="en-US" sz="2400" b="1" dirty="0">
                <a:solidFill>
                  <a:srgbClr val="FFFFFF"/>
                </a:solidFill>
                <a:latin typeface="Microsoft YaHei"/>
              </a:rPr>
              <a:t>三</a:t>
            </a:r>
            <a:r>
              <a:rPr sz="2400" b="1" dirty="0">
                <a:solidFill>
                  <a:srgbClr val="FFFFFF"/>
                </a:solidFill>
                <a:latin typeface="Microsoft YaHei"/>
              </a:rPr>
              <a:t>）</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UI Screens</a:t>
            </a:r>
          </a:p>
        </p:txBody>
      </p:sp>
      <p:sp>
        <p:nvSpPr>
          <p:cNvPr id="7" name="TextBox 6"/>
          <p:cNvSpPr txBox="1"/>
          <p:nvPr/>
        </p:nvSpPr>
        <p:spPr>
          <a:xfrm>
            <a:off x="2743200" y="4832224"/>
            <a:ext cx="3657600" cy="246221"/>
          </a:xfrm>
          <a:prstGeom prst="rect">
            <a:avLst/>
          </a:prstGeom>
          <a:noFill/>
        </p:spPr>
        <p:txBody>
          <a:bodyPr wrap="square" anchor="t">
            <a:spAutoFit/>
          </a:bodyPr>
          <a:lstStyle/>
          <a:p>
            <a:pPr algn="ctr"/>
            <a:r>
              <a:rPr sz="1000" b="1" dirty="0" err="1">
                <a:solidFill>
                  <a:srgbClr val="646464"/>
                </a:solidFill>
                <a:latin typeface="Microsoft YaHei"/>
              </a:rPr>
              <a:t>图表</a:t>
            </a:r>
            <a:r>
              <a:rPr sz="1000" b="1" dirty="0">
                <a:solidFill>
                  <a:srgbClr val="646464"/>
                </a:solidFill>
                <a:latin typeface="Microsoft YaHei"/>
              </a:rPr>
              <a:t> 3 </a:t>
            </a:r>
            <a:r>
              <a:rPr sz="1000" b="1" dirty="0" err="1">
                <a:solidFill>
                  <a:srgbClr val="646464"/>
                </a:solidFill>
                <a:latin typeface="Microsoft YaHei"/>
              </a:rPr>
              <a:t>图文检索服务界面</a:t>
            </a:r>
            <a:endParaRPr sz="1000" b="1" dirty="0">
              <a:solidFill>
                <a:srgbClr val="646464"/>
              </a:solidFill>
              <a:latin typeface="Microsoft YaHei"/>
            </a:endParaRPr>
          </a:p>
        </p:txBody>
      </p:sp>
      <p:sp>
        <p:nvSpPr>
          <p:cNvPr id="11" name="Rectangle 10"/>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图片与标题均来自中期报告内嵌图表 3-4</a:t>
            </a:r>
          </a:p>
        </p:txBody>
      </p:sp>
      <p:pic>
        <p:nvPicPr>
          <p:cNvPr id="15" name="图片 14">
            <a:extLst>
              <a:ext uri="{FF2B5EF4-FFF2-40B4-BE49-F238E27FC236}">
                <a16:creationId xmlns:a16="http://schemas.microsoft.com/office/drawing/2014/main" id="{2030C5A8-F49E-33EA-E205-028A90A8F9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072" y="956826"/>
            <a:ext cx="8029178" cy="37651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45B06-F275-EFDF-FF3C-718F3B9315FA}"/>
            </a:ext>
          </a:extLst>
        </p:cNvPr>
        <p:cNvGrpSpPr/>
        <p:nvPr/>
      </p:nvGrpSpPr>
      <p:grpSpPr>
        <a:xfrm>
          <a:off x="0" y="0"/>
          <a:ext cx="0" cy="0"/>
          <a:chOff x="0" y="0"/>
          <a:chExt cx="0" cy="0"/>
        </a:xfrm>
      </p:grpSpPr>
      <p:sp>
        <p:nvSpPr>
          <p:cNvPr id="13" name="Rectangle 4">
            <a:extLst>
              <a:ext uri="{FF2B5EF4-FFF2-40B4-BE49-F238E27FC236}">
                <a16:creationId xmlns:a16="http://schemas.microsoft.com/office/drawing/2014/main" id="{CAAB957F-6648-DAD9-BAB6-2B8F88CF4600}"/>
              </a:ext>
            </a:extLst>
          </p:cNvPr>
          <p:cNvSpPr/>
          <p:nvPr/>
        </p:nvSpPr>
        <p:spPr>
          <a:xfrm>
            <a:off x="500226" y="874008"/>
            <a:ext cx="8321040" cy="3930784"/>
          </a:xfrm>
          <a:prstGeom prst="rect">
            <a:avLst/>
          </a:prstGeom>
          <a:solidFill>
            <a:srgbClr val="12376D"/>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a:extLst>
              <a:ext uri="{FF2B5EF4-FFF2-40B4-BE49-F238E27FC236}">
                <a16:creationId xmlns:a16="http://schemas.microsoft.com/office/drawing/2014/main" id="{223659A4-B4C6-81C5-21A0-C87514664168}"/>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D9FC8C9-F339-BCDE-32C7-3553B293AD87}"/>
              </a:ext>
            </a:extLst>
          </p:cNvPr>
          <p:cNvSpPr txBox="1"/>
          <p:nvPr/>
        </p:nvSpPr>
        <p:spPr>
          <a:xfrm>
            <a:off x="502920" y="128016"/>
            <a:ext cx="2969083" cy="461665"/>
          </a:xfrm>
          <a:prstGeom prst="rect">
            <a:avLst/>
          </a:prstGeom>
          <a:noFill/>
        </p:spPr>
        <p:txBody>
          <a:bodyPr wrap="none">
            <a:spAutoFit/>
          </a:bodyPr>
          <a:lstStyle/>
          <a:p>
            <a:r>
              <a:rPr sz="2400" b="1" dirty="0" err="1">
                <a:solidFill>
                  <a:srgbClr val="FFFFFF"/>
                </a:solidFill>
                <a:latin typeface="Microsoft YaHei"/>
              </a:rPr>
              <a:t>系统界面展示</a:t>
            </a:r>
            <a:r>
              <a:rPr sz="2400" b="1" dirty="0">
                <a:solidFill>
                  <a:srgbClr val="FFFFFF"/>
                </a:solidFill>
                <a:latin typeface="Microsoft YaHei"/>
              </a:rPr>
              <a:t>（</a:t>
            </a:r>
            <a:r>
              <a:rPr lang="zh-CN" altLang="en-US" sz="2400" b="1" dirty="0">
                <a:solidFill>
                  <a:srgbClr val="FFFFFF"/>
                </a:solidFill>
                <a:latin typeface="Microsoft YaHei"/>
              </a:rPr>
              <a:t>四</a:t>
            </a:r>
            <a:r>
              <a:rPr sz="2400" b="1" dirty="0">
                <a:solidFill>
                  <a:srgbClr val="FFFFFF"/>
                </a:solidFill>
                <a:latin typeface="Microsoft YaHei"/>
              </a:rPr>
              <a:t>）</a:t>
            </a:r>
          </a:p>
        </p:txBody>
      </p:sp>
      <p:sp>
        <p:nvSpPr>
          <p:cNvPr id="4" name="TextBox 3">
            <a:extLst>
              <a:ext uri="{FF2B5EF4-FFF2-40B4-BE49-F238E27FC236}">
                <a16:creationId xmlns:a16="http://schemas.microsoft.com/office/drawing/2014/main" id="{D7487C15-BF50-C701-B592-56701FDC798F}"/>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UI Screens</a:t>
            </a:r>
          </a:p>
        </p:txBody>
      </p:sp>
      <p:sp>
        <p:nvSpPr>
          <p:cNvPr id="10" name="TextBox 9">
            <a:extLst>
              <a:ext uri="{FF2B5EF4-FFF2-40B4-BE49-F238E27FC236}">
                <a16:creationId xmlns:a16="http://schemas.microsoft.com/office/drawing/2014/main" id="{2B157172-25C4-020A-967E-9F0DC34F42CD}"/>
              </a:ext>
            </a:extLst>
          </p:cNvPr>
          <p:cNvSpPr txBox="1"/>
          <p:nvPr/>
        </p:nvSpPr>
        <p:spPr>
          <a:xfrm>
            <a:off x="2628578" y="4828223"/>
            <a:ext cx="3657600" cy="246221"/>
          </a:xfrm>
          <a:prstGeom prst="rect">
            <a:avLst/>
          </a:prstGeom>
          <a:noFill/>
        </p:spPr>
        <p:txBody>
          <a:bodyPr wrap="square" anchor="t">
            <a:spAutoFit/>
          </a:bodyPr>
          <a:lstStyle/>
          <a:p>
            <a:pPr algn="ctr"/>
            <a:r>
              <a:rPr sz="1000" b="1" dirty="0" err="1">
                <a:solidFill>
                  <a:srgbClr val="646464"/>
                </a:solidFill>
                <a:latin typeface="Microsoft YaHei"/>
              </a:rPr>
              <a:t>图表</a:t>
            </a:r>
            <a:r>
              <a:rPr sz="1000" b="1" dirty="0">
                <a:solidFill>
                  <a:srgbClr val="646464"/>
                </a:solidFill>
                <a:latin typeface="Microsoft YaHei"/>
              </a:rPr>
              <a:t> 4 RAG </a:t>
            </a:r>
            <a:r>
              <a:rPr sz="1000" b="1" dirty="0" err="1">
                <a:solidFill>
                  <a:srgbClr val="646464"/>
                </a:solidFill>
                <a:latin typeface="Microsoft YaHei"/>
              </a:rPr>
              <a:t>问答服务</a:t>
            </a:r>
            <a:endParaRPr sz="1000" b="1" dirty="0">
              <a:solidFill>
                <a:srgbClr val="646464"/>
              </a:solidFill>
              <a:latin typeface="Microsoft YaHei"/>
            </a:endParaRPr>
          </a:p>
        </p:txBody>
      </p:sp>
      <p:sp>
        <p:nvSpPr>
          <p:cNvPr id="11" name="Rectangle 10">
            <a:extLst>
              <a:ext uri="{FF2B5EF4-FFF2-40B4-BE49-F238E27FC236}">
                <a16:creationId xmlns:a16="http://schemas.microsoft.com/office/drawing/2014/main" id="{8BE19E0C-3302-CC5E-ABAE-9E442F3DA706}"/>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B8BC3B1C-3BDF-5FF4-C49F-DBA2FD3831A9}"/>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图片与标题均来自中期报告内嵌图表 3-4</a:t>
            </a:r>
          </a:p>
        </p:txBody>
      </p:sp>
      <p:pic>
        <p:nvPicPr>
          <p:cNvPr id="15" name="图片 14">
            <a:extLst>
              <a:ext uri="{FF2B5EF4-FFF2-40B4-BE49-F238E27FC236}">
                <a16:creationId xmlns:a16="http://schemas.microsoft.com/office/drawing/2014/main" id="{F110CEBB-3077-85D0-4C28-61F6B070D6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4209" y="927325"/>
            <a:ext cx="8118311" cy="3805459"/>
          </a:xfrm>
          <a:prstGeom prst="rect">
            <a:avLst/>
          </a:prstGeom>
        </p:spPr>
      </p:pic>
    </p:spTree>
    <p:extLst>
      <p:ext uri="{BB962C8B-B14F-4D97-AF65-F5344CB8AC3E}">
        <p14:creationId xmlns:p14="http://schemas.microsoft.com/office/powerpoint/2010/main" val="1141580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dirty="0" err="1">
                <a:solidFill>
                  <a:srgbClr val="FFFFFF"/>
                </a:solidFill>
                <a:latin typeface="Microsoft YaHei"/>
              </a:rPr>
              <a:t>核心功能实现与优化</a:t>
            </a:r>
            <a:endParaRPr sz="2400" b="1" dirty="0">
              <a:solidFill>
                <a:srgbClr val="FFFFFF"/>
              </a:solidFill>
              <a:latin typeface="Microsoft YaHei"/>
            </a:endParaRP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Core Functions</a:t>
            </a:r>
          </a:p>
        </p:txBody>
      </p:sp>
      <p:sp>
        <p:nvSpPr>
          <p:cNvPr id="5" name="Rounded Rectangle 4"/>
          <p:cNvSpPr/>
          <p:nvPr/>
        </p:nvSpPr>
        <p:spPr>
          <a:xfrm>
            <a:off x="640080" y="1097280"/>
            <a:ext cx="2468880" cy="146304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207007"/>
            <a:ext cx="2194560" cy="256032"/>
          </a:xfrm>
          <a:prstGeom prst="rect">
            <a:avLst/>
          </a:prstGeom>
          <a:noFill/>
        </p:spPr>
        <p:txBody>
          <a:bodyPr wrap="square" anchor="t">
            <a:spAutoFit/>
          </a:bodyPr>
          <a:lstStyle/>
          <a:p>
            <a:pPr algn="l"/>
            <a:r>
              <a:rPr sz="1600" b="1">
                <a:solidFill>
                  <a:srgbClr val="12376D"/>
                </a:solidFill>
                <a:latin typeface="Microsoft YaHei"/>
              </a:rPr>
              <a:t>图像语义化</a:t>
            </a:r>
          </a:p>
        </p:txBody>
      </p:sp>
      <p:sp>
        <p:nvSpPr>
          <p:cNvPr id="7" name="TextBox 6"/>
          <p:cNvSpPr txBox="1"/>
          <p:nvPr/>
        </p:nvSpPr>
        <p:spPr>
          <a:xfrm>
            <a:off x="749808" y="1481328"/>
            <a:ext cx="2249424" cy="1005840"/>
          </a:xfrm>
          <a:prstGeom prst="rect">
            <a:avLst/>
          </a:prstGeom>
          <a:noFill/>
        </p:spPr>
        <p:txBody>
          <a:bodyPr wrap="square">
            <a:spAutoFit/>
          </a:bodyPr>
          <a:lstStyle/>
          <a:p>
            <a:pPr>
              <a:spcAft>
                <a:spcPts val="400"/>
              </a:spcAft>
              <a:defRPr sz="1300">
                <a:solidFill>
                  <a:srgbClr val="282828"/>
                </a:solidFill>
                <a:latin typeface="Microsoft YaHei"/>
              </a:defRPr>
            </a:pPr>
            <a:r>
              <a:t>实现图像描述生成、结构化信息入库和向量化存储。</a:t>
            </a:r>
          </a:p>
        </p:txBody>
      </p:sp>
      <p:sp>
        <p:nvSpPr>
          <p:cNvPr id="8" name="Rounded Rectangle 7"/>
          <p:cNvSpPr/>
          <p:nvPr/>
        </p:nvSpPr>
        <p:spPr>
          <a:xfrm>
            <a:off x="3291840" y="1097280"/>
            <a:ext cx="2468880" cy="146304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29000" y="1207007"/>
            <a:ext cx="2194560" cy="256032"/>
          </a:xfrm>
          <a:prstGeom prst="rect">
            <a:avLst/>
          </a:prstGeom>
          <a:noFill/>
        </p:spPr>
        <p:txBody>
          <a:bodyPr wrap="square" anchor="t">
            <a:spAutoFit/>
          </a:bodyPr>
          <a:lstStyle/>
          <a:p>
            <a:pPr algn="l"/>
            <a:r>
              <a:rPr sz="1600" b="1">
                <a:solidFill>
                  <a:srgbClr val="12376D"/>
                </a:solidFill>
                <a:latin typeface="Microsoft YaHei"/>
              </a:rPr>
              <a:t>双路检索</a:t>
            </a:r>
          </a:p>
        </p:txBody>
      </p:sp>
      <p:sp>
        <p:nvSpPr>
          <p:cNvPr id="10" name="TextBox 9"/>
          <p:cNvSpPr txBox="1"/>
          <p:nvPr/>
        </p:nvSpPr>
        <p:spPr>
          <a:xfrm>
            <a:off x="3401568" y="1481328"/>
            <a:ext cx="2249424" cy="1005840"/>
          </a:xfrm>
          <a:prstGeom prst="rect">
            <a:avLst/>
          </a:prstGeom>
          <a:noFill/>
        </p:spPr>
        <p:txBody>
          <a:bodyPr wrap="square">
            <a:spAutoFit/>
          </a:bodyPr>
          <a:lstStyle/>
          <a:p>
            <a:pPr>
              <a:spcAft>
                <a:spcPts val="400"/>
              </a:spcAft>
              <a:defRPr sz="1300">
                <a:solidFill>
                  <a:srgbClr val="282828"/>
                </a:solidFill>
                <a:latin typeface="Microsoft YaHei"/>
              </a:defRPr>
            </a:pPr>
            <a:r>
              <a:rPr dirty="0" err="1"/>
              <a:t>实现文本检索图片和以图搜图两类检索机制</a:t>
            </a:r>
            <a:r>
              <a:rPr dirty="0"/>
              <a:t>。</a:t>
            </a:r>
          </a:p>
        </p:txBody>
      </p:sp>
      <p:sp>
        <p:nvSpPr>
          <p:cNvPr id="11" name="Rounded Rectangle 10"/>
          <p:cNvSpPr/>
          <p:nvPr/>
        </p:nvSpPr>
        <p:spPr>
          <a:xfrm>
            <a:off x="5943600" y="1097280"/>
            <a:ext cx="2468880" cy="146304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80760" y="1207007"/>
            <a:ext cx="2194560" cy="256032"/>
          </a:xfrm>
          <a:prstGeom prst="rect">
            <a:avLst/>
          </a:prstGeom>
          <a:noFill/>
        </p:spPr>
        <p:txBody>
          <a:bodyPr wrap="square" anchor="t">
            <a:spAutoFit/>
          </a:bodyPr>
          <a:lstStyle/>
          <a:p>
            <a:pPr algn="l"/>
            <a:r>
              <a:rPr sz="1600" b="1">
                <a:solidFill>
                  <a:srgbClr val="12376D"/>
                </a:solidFill>
                <a:latin typeface="Microsoft YaHei"/>
              </a:rPr>
              <a:t>多模态问答</a:t>
            </a:r>
          </a:p>
        </p:txBody>
      </p:sp>
      <p:sp>
        <p:nvSpPr>
          <p:cNvPr id="13" name="TextBox 12"/>
          <p:cNvSpPr txBox="1"/>
          <p:nvPr/>
        </p:nvSpPr>
        <p:spPr>
          <a:xfrm>
            <a:off x="6053328" y="1481328"/>
            <a:ext cx="2249424" cy="1005840"/>
          </a:xfrm>
          <a:prstGeom prst="rect">
            <a:avLst/>
          </a:prstGeom>
          <a:noFill/>
        </p:spPr>
        <p:txBody>
          <a:bodyPr wrap="square">
            <a:spAutoFit/>
          </a:bodyPr>
          <a:lstStyle/>
          <a:p>
            <a:pPr>
              <a:spcAft>
                <a:spcPts val="400"/>
              </a:spcAft>
              <a:defRPr sz="1300">
                <a:solidFill>
                  <a:srgbClr val="282828"/>
                </a:solidFill>
                <a:latin typeface="Microsoft YaHei"/>
              </a:defRPr>
            </a:pPr>
            <a:r>
              <a:t>完成基于 RAG 的问答能力，可返回回答、来源和检索过程信息。</a:t>
            </a:r>
          </a:p>
        </p:txBody>
      </p:sp>
      <p:sp>
        <p:nvSpPr>
          <p:cNvPr id="14" name="Rounded Rectangle 13"/>
          <p:cNvSpPr/>
          <p:nvPr/>
        </p:nvSpPr>
        <p:spPr>
          <a:xfrm>
            <a:off x="1815882" y="2880360"/>
            <a:ext cx="2468880" cy="164592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53042" y="2990088"/>
            <a:ext cx="2194560" cy="338554"/>
          </a:xfrm>
          <a:prstGeom prst="rect">
            <a:avLst/>
          </a:prstGeom>
          <a:noFill/>
        </p:spPr>
        <p:txBody>
          <a:bodyPr wrap="square" anchor="t">
            <a:spAutoFit/>
          </a:bodyPr>
          <a:lstStyle/>
          <a:p>
            <a:pPr algn="l"/>
            <a:r>
              <a:rPr sz="1600" b="1" dirty="0" err="1">
                <a:solidFill>
                  <a:srgbClr val="12376D"/>
                </a:solidFill>
                <a:latin typeface="Microsoft YaHei"/>
              </a:rPr>
              <a:t>检索增强</a:t>
            </a:r>
            <a:r>
              <a:rPr lang="zh-CN" altLang="en-US" sz="1600" b="1" dirty="0">
                <a:solidFill>
                  <a:srgbClr val="12376D"/>
                </a:solidFill>
                <a:latin typeface="Microsoft YaHei"/>
              </a:rPr>
              <a:t>优化</a:t>
            </a:r>
            <a:endParaRPr sz="1600" b="1" dirty="0">
              <a:solidFill>
                <a:srgbClr val="12376D"/>
              </a:solidFill>
              <a:latin typeface="Microsoft YaHei"/>
            </a:endParaRPr>
          </a:p>
        </p:txBody>
      </p:sp>
      <p:sp>
        <p:nvSpPr>
          <p:cNvPr id="16" name="TextBox 15"/>
          <p:cNvSpPr txBox="1"/>
          <p:nvPr/>
        </p:nvSpPr>
        <p:spPr>
          <a:xfrm>
            <a:off x="1925610" y="3264408"/>
            <a:ext cx="2249424" cy="692497"/>
          </a:xfrm>
          <a:prstGeom prst="rect">
            <a:avLst/>
          </a:prstGeom>
          <a:noFill/>
        </p:spPr>
        <p:txBody>
          <a:bodyPr wrap="square">
            <a:spAutoFit/>
          </a:bodyPr>
          <a:lstStyle/>
          <a:p>
            <a:pPr>
              <a:spcAft>
                <a:spcPts val="400"/>
              </a:spcAft>
              <a:defRPr sz="1300">
                <a:solidFill>
                  <a:srgbClr val="282828"/>
                </a:solidFill>
                <a:latin typeface="Microsoft YaHei"/>
              </a:defRPr>
            </a:pPr>
            <a:r>
              <a:rPr dirty="0" err="1"/>
              <a:t>集成查询改写、多查询扩展、混合检索和重排序</a:t>
            </a:r>
            <a:r>
              <a:rPr lang="zh-CN" altLang="en-US" dirty="0"/>
              <a:t>，上下文压缩的集成</a:t>
            </a:r>
            <a:r>
              <a:rPr dirty="0"/>
              <a:t>。</a:t>
            </a:r>
          </a:p>
        </p:txBody>
      </p:sp>
      <p:sp>
        <p:nvSpPr>
          <p:cNvPr id="20" name="Rounded Rectangle 19"/>
          <p:cNvSpPr/>
          <p:nvPr/>
        </p:nvSpPr>
        <p:spPr>
          <a:xfrm>
            <a:off x="4768210" y="2880360"/>
            <a:ext cx="2468880" cy="164592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905370" y="2990088"/>
            <a:ext cx="2194560" cy="338554"/>
          </a:xfrm>
          <a:prstGeom prst="rect">
            <a:avLst/>
          </a:prstGeom>
          <a:noFill/>
        </p:spPr>
        <p:txBody>
          <a:bodyPr wrap="square" anchor="t">
            <a:spAutoFit/>
          </a:bodyPr>
          <a:lstStyle/>
          <a:p>
            <a:pPr algn="l"/>
            <a:r>
              <a:rPr lang="en-US" altLang="zh-CN" sz="1600" b="1" dirty="0">
                <a:solidFill>
                  <a:srgbClr val="12376D"/>
                </a:solidFill>
                <a:latin typeface="Microsoft YaHei"/>
              </a:rPr>
              <a:t>RAG</a:t>
            </a:r>
            <a:r>
              <a:rPr lang="zh-CN" altLang="en-US" sz="1600" b="1" dirty="0">
                <a:solidFill>
                  <a:srgbClr val="12376D"/>
                </a:solidFill>
                <a:latin typeface="Microsoft YaHei"/>
              </a:rPr>
              <a:t>过程可观测</a:t>
            </a:r>
            <a:endParaRPr sz="1600" b="1" dirty="0">
              <a:solidFill>
                <a:srgbClr val="12376D"/>
              </a:solidFill>
              <a:latin typeface="Microsoft YaHei"/>
            </a:endParaRPr>
          </a:p>
        </p:txBody>
      </p:sp>
      <p:sp>
        <p:nvSpPr>
          <p:cNvPr id="22" name="TextBox 21"/>
          <p:cNvSpPr txBox="1"/>
          <p:nvPr/>
        </p:nvSpPr>
        <p:spPr>
          <a:xfrm>
            <a:off x="4877938" y="3264408"/>
            <a:ext cx="2249424" cy="892552"/>
          </a:xfrm>
          <a:prstGeom prst="rect">
            <a:avLst/>
          </a:prstGeom>
          <a:noFill/>
        </p:spPr>
        <p:txBody>
          <a:bodyPr wrap="square">
            <a:spAutoFit/>
          </a:bodyPr>
          <a:lstStyle/>
          <a:p>
            <a:pPr>
              <a:spcAft>
                <a:spcPts val="400"/>
              </a:spcAft>
              <a:defRPr sz="1300">
                <a:solidFill>
                  <a:srgbClr val="282828"/>
                </a:solidFill>
                <a:latin typeface="Microsoft YaHei"/>
              </a:defRPr>
            </a:pPr>
            <a:r>
              <a:rPr lang="zh-CN" altLang="en-US" dirty="0"/>
              <a:t>记录检索、评分、重写来源信息，前端可展开查看，具备了结果可追溯、过程可查看的能力。</a:t>
            </a:r>
            <a:endParaRPr dirty="0"/>
          </a:p>
        </p:txBody>
      </p:sp>
      <p:sp>
        <p:nvSpPr>
          <p:cNvPr id="23" name="Rectangle 22"/>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内容依据：中期报告“3.核心功能实现与优化”</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2CD10-E067-415F-9815-CEBFF2E955F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E4FEECE-FD67-7B9E-0599-07D44D0DF09C}"/>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E6CC36E-D0C0-67D3-4CEC-1CAAB13A9B73}"/>
              </a:ext>
            </a:extLst>
          </p:cNvPr>
          <p:cNvSpPr txBox="1"/>
          <p:nvPr/>
        </p:nvSpPr>
        <p:spPr>
          <a:xfrm>
            <a:off x="502920" y="128016"/>
            <a:ext cx="7223760" cy="320040"/>
          </a:xfrm>
          <a:prstGeom prst="rect">
            <a:avLst/>
          </a:prstGeom>
          <a:noFill/>
        </p:spPr>
        <p:txBody>
          <a:bodyPr wrap="none">
            <a:spAutoFit/>
          </a:bodyPr>
          <a:lstStyle/>
          <a:p>
            <a:r>
              <a:rPr sz="2400" b="1" dirty="0" err="1">
                <a:solidFill>
                  <a:srgbClr val="FFFFFF"/>
                </a:solidFill>
                <a:latin typeface="Microsoft YaHei"/>
              </a:rPr>
              <a:t>核心功能实现与优化</a:t>
            </a:r>
            <a:endParaRPr sz="2400" b="1" dirty="0">
              <a:solidFill>
                <a:srgbClr val="FFFFFF"/>
              </a:solidFill>
              <a:latin typeface="Microsoft YaHei"/>
            </a:endParaRPr>
          </a:p>
        </p:txBody>
      </p:sp>
      <p:sp>
        <p:nvSpPr>
          <p:cNvPr id="4" name="TextBox 3">
            <a:extLst>
              <a:ext uri="{FF2B5EF4-FFF2-40B4-BE49-F238E27FC236}">
                <a16:creationId xmlns:a16="http://schemas.microsoft.com/office/drawing/2014/main" id="{7875FC22-8639-B4C8-2ABC-BFED7D6463EE}"/>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Core Functions</a:t>
            </a:r>
          </a:p>
        </p:txBody>
      </p:sp>
      <p:sp>
        <p:nvSpPr>
          <p:cNvPr id="5" name="Rounded Rectangle 4">
            <a:extLst>
              <a:ext uri="{FF2B5EF4-FFF2-40B4-BE49-F238E27FC236}">
                <a16:creationId xmlns:a16="http://schemas.microsoft.com/office/drawing/2014/main" id="{5594729D-C273-800A-F763-472C611BB21B}"/>
              </a:ext>
            </a:extLst>
          </p:cNvPr>
          <p:cNvSpPr/>
          <p:nvPr/>
        </p:nvSpPr>
        <p:spPr>
          <a:xfrm>
            <a:off x="180306" y="844352"/>
            <a:ext cx="2420546" cy="934632"/>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00BDC63-45CE-9095-BE66-407EBEA51485}"/>
              </a:ext>
            </a:extLst>
          </p:cNvPr>
          <p:cNvSpPr txBox="1"/>
          <p:nvPr/>
        </p:nvSpPr>
        <p:spPr>
          <a:xfrm>
            <a:off x="317466" y="954079"/>
            <a:ext cx="2194560" cy="338554"/>
          </a:xfrm>
          <a:prstGeom prst="rect">
            <a:avLst/>
          </a:prstGeom>
          <a:noFill/>
        </p:spPr>
        <p:txBody>
          <a:bodyPr wrap="square" anchor="t">
            <a:spAutoFit/>
          </a:bodyPr>
          <a:lstStyle/>
          <a:p>
            <a:pPr algn="l"/>
            <a:r>
              <a:rPr lang="zh-CN" altLang="en-US" sz="1600" b="1" dirty="0">
                <a:solidFill>
                  <a:srgbClr val="12376D"/>
                </a:solidFill>
                <a:latin typeface="Microsoft YaHei"/>
              </a:rPr>
              <a:t>意图识别</a:t>
            </a:r>
            <a:endParaRPr sz="1600" b="1" dirty="0">
              <a:solidFill>
                <a:srgbClr val="12376D"/>
              </a:solidFill>
              <a:latin typeface="Microsoft YaHei"/>
            </a:endParaRPr>
          </a:p>
        </p:txBody>
      </p:sp>
      <p:sp>
        <p:nvSpPr>
          <p:cNvPr id="7" name="TextBox 6">
            <a:extLst>
              <a:ext uri="{FF2B5EF4-FFF2-40B4-BE49-F238E27FC236}">
                <a16:creationId xmlns:a16="http://schemas.microsoft.com/office/drawing/2014/main" id="{5C692723-5041-00DF-8DC0-4AA147B6A4F0}"/>
              </a:ext>
            </a:extLst>
          </p:cNvPr>
          <p:cNvSpPr txBox="1"/>
          <p:nvPr/>
        </p:nvSpPr>
        <p:spPr>
          <a:xfrm>
            <a:off x="290034" y="1228400"/>
            <a:ext cx="2249424" cy="492443"/>
          </a:xfrm>
          <a:prstGeom prst="rect">
            <a:avLst/>
          </a:prstGeom>
          <a:noFill/>
        </p:spPr>
        <p:txBody>
          <a:bodyPr wrap="square">
            <a:spAutoFit/>
          </a:bodyPr>
          <a:lstStyle/>
          <a:p>
            <a:pPr>
              <a:spcAft>
                <a:spcPts val="400"/>
              </a:spcAft>
              <a:defRPr sz="1300">
                <a:solidFill>
                  <a:srgbClr val="282828"/>
                </a:solidFill>
                <a:latin typeface="Microsoft YaHei"/>
              </a:defRPr>
            </a:pPr>
            <a:r>
              <a:rPr lang="zh-CN" altLang="en-US" dirty="0"/>
              <a:t>根据用户问题进行意图识别自动切换执行模式</a:t>
            </a:r>
            <a:endParaRPr dirty="0"/>
          </a:p>
        </p:txBody>
      </p:sp>
      <p:sp>
        <p:nvSpPr>
          <p:cNvPr id="23" name="Rectangle 22">
            <a:extLst>
              <a:ext uri="{FF2B5EF4-FFF2-40B4-BE49-F238E27FC236}">
                <a16:creationId xmlns:a16="http://schemas.microsoft.com/office/drawing/2014/main" id="{DFFA0869-7972-A5D8-E308-1FDA734E4320}"/>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5FAA117E-477A-5743-0F21-FB2FBB4B3C27}"/>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内容依据：中期报告“3.核心功能实现与优化”</a:t>
            </a:r>
          </a:p>
        </p:txBody>
      </p:sp>
    </p:spTree>
    <p:extLst>
      <p:ext uri="{BB962C8B-B14F-4D97-AF65-F5344CB8AC3E}">
        <p14:creationId xmlns:p14="http://schemas.microsoft.com/office/powerpoint/2010/main" val="3940557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实验评估总述</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Evaluation Summary</a:t>
            </a:r>
          </a:p>
        </p:txBody>
      </p:sp>
      <p:sp>
        <p:nvSpPr>
          <p:cNvPr id="5" name="TextBox 4"/>
          <p:cNvSpPr txBox="1"/>
          <p:nvPr/>
        </p:nvSpPr>
        <p:spPr>
          <a:xfrm>
            <a:off x="685800" y="914400"/>
            <a:ext cx="3657600" cy="320040"/>
          </a:xfrm>
          <a:prstGeom prst="rect">
            <a:avLst/>
          </a:prstGeom>
          <a:noFill/>
        </p:spPr>
        <p:txBody>
          <a:bodyPr wrap="square" anchor="t">
            <a:spAutoFit/>
          </a:bodyPr>
          <a:lstStyle/>
          <a:p>
            <a:pPr algn="l"/>
            <a:r>
              <a:rPr sz="1900" b="1">
                <a:solidFill>
                  <a:srgbClr val="12376D"/>
                </a:solidFill>
                <a:latin typeface="Microsoft YaHei"/>
              </a:rPr>
              <a:t>已完成两类实验评估</a:t>
            </a:r>
          </a:p>
        </p:txBody>
      </p:sp>
      <p:sp>
        <p:nvSpPr>
          <p:cNvPr id="6" name="TextBox 5"/>
          <p:cNvSpPr txBox="1"/>
          <p:nvPr/>
        </p:nvSpPr>
        <p:spPr>
          <a:xfrm>
            <a:off x="1980506" y="1492262"/>
            <a:ext cx="3657600" cy="2926080"/>
          </a:xfrm>
          <a:prstGeom prst="rect">
            <a:avLst/>
          </a:prstGeom>
          <a:noFill/>
        </p:spPr>
        <p:txBody>
          <a:bodyPr wrap="square">
            <a:spAutoFit/>
          </a:bodyPr>
          <a:lstStyle/>
          <a:p>
            <a:pPr>
              <a:spcAft>
                <a:spcPts val="1000"/>
              </a:spcAft>
              <a:defRPr sz="1800">
                <a:solidFill>
                  <a:srgbClr val="282828"/>
                </a:solidFill>
                <a:latin typeface="Microsoft YaHei"/>
              </a:defRPr>
            </a:pPr>
            <a:r>
              <a:rPr dirty="0" err="1"/>
              <a:t>检索器评估</a:t>
            </a:r>
            <a:endParaRPr dirty="0"/>
          </a:p>
          <a:p>
            <a:pPr>
              <a:spcAft>
                <a:spcPts val="1000"/>
              </a:spcAft>
              <a:defRPr sz="1800">
                <a:solidFill>
                  <a:srgbClr val="282828"/>
                </a:solidFill>
                <a:latin typeface="Microsoft YaHei"/>
              </a:defRPr>
            </a:pPr>
            <a:r>
              <a:rPr dirty="0" err="1"/>
              <a:t>生成器评估</a:t>
            </a:r>
            <a:endParaRPr dirty="0"/>
          </a:p>
        </p:txBody>
      </p:sp>
      <p:sp>
        <p:nvSpPr>
          <p:cNvPr id="10" name="Rectangle 9"/>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内容依据：中期报告“4.实验评估”</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6" name="TextBox 5"/>
          <p:cNvSpPr txBox="1"/>
          <p:nvPr/>
        </p:nvSpPr>
        <p:spPr>
          <a:xfrm>
            <a:off x="411480" y="2990088"/>
            <a:ext cx="3749039" cy="219456"/>
          </a:xfrm>
          <a:prstGeom prst="rect">
            <a:avLst/>
          </a:prstGeom>
          <a:noFill/>
        </p:spPr>
        <p:txBody>
          <a:bodyPr wrap="square" anchor="t">
            <a:spAutoFit/>
          </a:bodyPr>
          <a:lstStyle/>
          <a:p>
            <a:pPr algn="ctr"/>
            <a:r>
              <a:rPr sz="1000" b="0">
                <a:solidFill>
                  <a:srgbClr val="646464"/>
                </a:solidFill>
                <a:latin typeface="Microsoft YaHei"/>
              </a:rPr>
              <a:t>图表 5 CRM领域相关检索指标</a:t>
            </a:r>
          </a:p>
        </p:txBody>
      </p:sp>
      <p:sp>
        <p:nvSpPr>
          <p:cNvPr id="8" name="TextBox 7"/>
          <p:cNvSpPr txBox="1"/>
          <p:nvPr/>
        </p:nvSpPr>
        <p:spPr>
          <a:xfrm>
            <a:off x="4572000" y="2990088"/>
            <a:ext cx="3749039" cy="219456"/>
          </a:xfrm>
          <a:prstGeom prst="rect">
            <a:avLst/>
          </a:prstGeom>
          <a:noFill/>
        </p:spPr>
        <p:txBody>
          <a:bodyPr wrap="square" anchor="t">
            <a:spAutoFit/>
          </a:bodyPr>
          <a:lstStyle/>
          <a:p>
            <a:pPr algn="ctr"/>
            <a:r>
              <a:rPr sz="1000" b="0">
                <a:solidFill>
                  <a:srgbClr val="646464"/>
                </a:solidFill>
                <a:latin typeface="Microsoft YaHei"/>
              </a:rPr>
              <a:t>图表 6 Energy领域相关检索指标</a:t>
            </a:r>
          </a:p>
        </p:txBody>
      </p:sp>
      <p:sp>
        <p:nvSpPr>
          <p:cNvPr id="13" name="Rectangle 12"/>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sp>
        <p:nvSpPr>
          <p:cNvPr id="15" name="文本框 14">
            <a:extLst>
              <a:ext uri="{FF2B5EF4-FFF2-40B4-BE49-F238E27FC236}">
                <a16:creationId xmlns:a16="http://schemas.microsoft.com/office/drawing/2014/main" id="{37E0BC5B-A6DE-0A46-5D72-810F1F8DE84D}"/>
              </a:ext>
            </a:extLst>
          </p:cNvPr>
          <p:cNvSpPr txBox="1"/>
          <p:nvPr/>
        </p:nvSpPr>
        <p:spPr>
          <a:xfrm>
            <a:off x="616183" y="3347679"/>
            <a:ext cx="7704856" cy="1169551"/>
          </a:xfrm>
          <a:prstGeom prst="rect">
            <a:avLst/>
          </a:prstGeom>
          <a:noFill/>
        </p:spPr>
        <p:txBody>
          <a:bodyPr wrap="square" rtlCol="0">
            <a:spAutoFit/>
          </a:bodyPr>
          <a:lstStyle/>
          <a:p>
            <a:r>
              <a:rPr lang="zh-CN" altLang="zh-CN" sz="1400" dirty="0"/>
              <a:t>检索实验中，所提</a:t>
            </a:r>
            <a:r>
              <a:rPr lang="en-US" altLang="zh-CN" sz="1400" dirty="0"/>
              <a:t> proposed </a:t>
            </a:r>
            <a:r>
              <a:rPr lang="zh-CN" altLang="zh-CN" sz="1400" dirty="0"/>
              <a:t>方法在多个领域接近甚至超过</a:t>
            </a:r>
            <a:r>
              <a:rPr lang="en-US" altLang="zh-CN" sz="1400" dirty="0"/>
              <a:t> </a:t>
            </a:r>
            <a:r>
              <a:rPr lang="en-US" altLang="zh-CN" sz="1400" dirty="0" err="1"/>
              <a:t>baseline_clip</a:t>
            </a:r>
            <a:r>
              <a:rPr lang="zh-CN" altLang="zh-CN" sz="1400" dirty="0"/>
              <a:t>（实际使用的跨模态嵌入模型是</a:t>
            </a:r>
            <a:r>
              <a:rPr lang="en-US" altLang="zh-CN" sz="1400" dirty="0"/>
              <a:t>qwen3-vl-embedding</a:t>
            </a:r>
            <a:r>
              <a:rPr lang="zh-CN" altLang="zh-CN" sz="1400" dirty="0"/>
              <a:t>，为当时时间点的</a:t>
            </a:r>
            <a:r>
              <a:rPr lang="en-US" altLang="zh-CN" sz="1400" dirty="0"/>
              <a:t>SOTA</a:t>
            </a:r>
            <a:r>
              <a:rPr lang="zh-CN" altLang="zh-CN" sz="1400" dirty="0"/>
              <a:t>，下同）；其中在</a:t>
            </a:r>
            <a:r>
              <a:rPr lang="en-US" altLang="zh-CN" sz="1400" dirty="0"/>
              <a:t> CRM </a:t>
            </a:r>
            <a:r>
              <a:rPr lang="zh-CN" altLang="zh-CN" sz="1400" dirty="0"/>
              <a:t>和</a:t>
            </a:r>
            <a:r>
              <a:rPr lang="en-US" altLang="zh-CN" sz="1400" dirty="0"/>
              <a:t> energy </a:t>
            </a:r>
            <a:r>
              <a:rPr lang="zh-CN" altLang="zh-CN" sz="1400" dirty="0"/>
              <a:t>领域表现较好，在</a:t>
            </a:r>
            <a:r>
              <a:rPr lang="en-US" altLang="zh-CN" sz="1400" dirty="0"/>
              <a:t> finance </a:t>
            </a:r>
            <a:r>
              <a:rPr lang="zh-CN" altLang="zh-CN" sz="1400" dirty="0"/>
              <a:t>和</a:t>
            </a:r>
            <a:r>
              <a:rPr lang="en-US" altLang="zh-CN" sz="1400" dirty="0"/>
              <a:t> cross-domain </a:t>
            </a:r>
            <a:r>
              <a:rPr lang="zh-CN" altLang="zh-CN" sz="1400" dirty="0"/>
              <a:t>场景下仍弱于</a:t>
            </a:r>
            <a:r>
              <a:rPr lang="en-US" altLang="zh-CN" sz="1400" dirty="0"/>
              <a:t> </a:t>
            </a:r>
            <a:r>
              <a:rPr lang="en-US" altLang="zh-CN" sz="1400" dirty="0" err="1"/>
              <a:t>baseline_clip</a:t>
            </a:r>
            <a:r>
              <a:rPr lang="zh-CN" altLang="zh-CN" sz="1400" dirty="0"/>
              <a:t>，说明当前方法在复杂表格页和跨领域混合检索场景中还有优化空间。</a:t>
            </a:r>
          </a:p>
          <a:p>
            <a:endParaRPr lang="zh-CN" altLang="en-US" sz="1400" dirty="0"/>
          </a:p>
        </p:txBody>
      </p:sp>
      <p:pic>
        <p:nvPicPr>
          <p:cNvPr id="17" name="图片 16">
            <a:extLst>
              <a:ext uri="{FF2B5EF4-FFF2-40B4-BE49-F238E27FC236}">
                <a16:creationId xmlns:a16="http://schemas.microsoft.com/office/drawing/2014/main" id="{E7F9B278-4805-F83E-5E85-8FCEEFAC53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0716" y="873511"/>
            <a:ext cx="4162060" cy="2150265"/>
          </a:xfrm>
          <a:prstGeom prst="rect">
            <a:avLst/>
          </a:prstGeom>
        </p:spPr>
      </p:pic>
      <p:pic>
        <p:nvPicPr>
          <p:cNvPr id="19" name="图片 18">
            <a:extLst>
              <a:ext uri="{FF2B5EF4-FFF2-40B4-BE49-F238E27FC236}">
                <a16:creationId xmlns:a16="http://schemas.microsoft.com/office/drawing/2014/main" id="{2E5AE836-24C8-898A-8930-02E9D94375D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25729" y="853242"/>
            <a:ext cx="4201292" cy="217053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3C27E-D97B-5FB2-92DF-A075082BBFD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8046014-50D2-F576-4D6D-80967DEED9F1}"/>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5C956F7-C743-AB77-B160-7B7F94D1C00B}"/>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a:extLst>
              <a:ext uri="{FF2B5EF4-FFF2-40B4-BE49-F238E27FC236}">
                <a16:creationId xmlns:a16="http://schemas.microsoft.com/office/drawing/2014/main" id="{9717743D-238A-6D5F-E4B9-58CF9F08C5F6}"/>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10" name="TextBox 9">
            <a:extLst>
              <a:ext uri="{FF2B5EF4-FFF2-40B4-BE49-F238E27FC236}">
                <a16:creationId xmlns:a16="http://schemas.microsoft.com/office/drawing/2014/main" id="{9CADE5E6-E902-0642-5F3D-DA9EC8B1B153}"/>
              </a:ext>
            </a:extLst>
          </p:cNvPr>
          <p:cNvSpPr txBox="1"/>
          <p:nvPr/>
        </p:nvSpPr>
        <p:spPr>
          <a:xfrm>
            <a:off x="2700586" y="4588768"/>
            <a:ext cx="3749039" cy="219456"/>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7 </a:t>
            </a:r>
            <a:r>
              <a:rPr sz="1000" b="0" dirty="0" err="1">
                <a:solidFill>
                  <a:srgbClr val="646464"/>
                </a:solidFill>
                <a:latin typeface="Microsoft YaHei"/>
              </a:rPr>
              <a:t>两种方法检索延迟对比</a:t>
            </a:r>
            <a:endParaRPr sz="1000" b="0" dirty="0">
              <a:solidFill>
                <a:srgbClr val="646464"/>
              </a:solidFill>
              <a:latin typeface="Microsoft YaHei"/>
            </a:endParaRPr>
          </a:p>
        </p:txBody>
      </p:sp>
      <p:sp>
        <p:nvSpPr>
          <p:cNvPr id="13" name="Rectangle 12">
            <a:extLst>
              <a:ext uri="{FF2B5EF4-FFF2-40B4-BE49-F238E27FC236}">
                <a16:creationId xmlns:a16="http://schemas.microsoft.com/office/drawing/2014/main" id="{8E05A97C-1DAB-50C3-E569-7A1F4799AA5F}"/>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ECF5D96C-A6B8-F822-220A-34DFBA2264D3}"/>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pic>
        <p:nvPicPr>
          <p:cNvPr id="18" name="图片 17">
            <a:extLst>
              <a:ext uri="{FF2B5EF4-FFF2-40B4-BE49-F238E27FC236}">
                <a16:creationId xmlns:a16="http://schemas.microsoft.com/office/drawing/2014/main" id="{F345962F-136A-6580-2AA5-F274051845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761" y="844352"/>
            <a:ext cx="3749039" cy="1936884"/>
          </a:xfrm>
          <a:prstGeom prst="rect">
            <a:avLst/>
          </a:prstGeom>
        </p:spPr>
      </p:pic>
      <p:pic>
        <p:nvPicPr>
          <p:cNvPr id="20" name="图片 19">
            <a:extLst>
              <a:ext uri="{FF2B5EF4-FFF2-40B4-BE49-F238E27FC236}">
                <a16:creationId xmlns:a16="http://schemas.microsoft.com/office/drawing/2014/main" id="{A74714AF-DFFF-F7B1-B2A5-6C6AFB47A35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34917" y="850487"/>
            <a:ext cx="3713638" cy="1918595"/>
          </a:xfrm>
          <a:prstGeom prst="rect">
            <a:avLst/>
          </a:prstGeom>
        </p:spPr>
      </p:pic>
    </p:spTree>
    <p:extLst>
      <p:ext uri="{BB962C8B-B14F-4D97-AF65-F5344CB8AC3E}">
        <p14:creationId xmlns:p14="http://schemas.microsoft.com/office/powerpoint/2010/main" val="1442000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D1BEB-7A7E-271C-C766-F709A60CCBF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8696A0F-E804-0989-885E-4204DFF0B785}"/>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D72372A-4B04-F651-B689-F2CC4AB3A32E}"/>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a:extLst>
              <a:ext uri="{FF2B5EF4-FFF2-40B4-BE49-F238E27FC236}">
                <a16:creationId xmlns:a16="http://schemas.microsoft.com/office/drawing/2014/main" id="{1F4737E0-C6C7-2324-36E5-C28FEA777426}"/>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10" name="TextBox 9">
            <a:extLst>
              <a:ext uri="{FF2B5EF4-FFF2-40B4-BE49-F238E27FC236}">
                <a16:creationId xmlns:a16="http://schemas.microsoft.com/office/drawing/2014/main" id="{A97BEC93-35D4-0ED8-51A2-1F103B76CE1B}"/>
              </a:ext>
            </a:extLst>
          </p:cNvPr>
          <p:cNvSpPr txBox="1"/>
          <p:nvPr/>
        </p:nvSpPr>
        <p:spPr>
          <a:xfrm>
            <a:off x="2700586" y="4588768"/>
            <a:ext cx="3749039" cy="219456"/>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7 </a:t>
            </a:r>
            <a:r>
              <a:rPr sz="1000" b="0" dirty="0" err="1">
                <a:solidFill>
                  <a:srgbClr val="646464"/>
                </a:solidFill>
                <a:latin typeface="Microsoft YaHei"/>
              </a:rPr>
              <a:t>两种方法检索延迟对比</a:t>
            </a:r>
            <a:endParaRPr sz="1000" b="0" dirty="0">
              <a:solidFill>
                <a:srgbClr val="646464"/>
              </a:solidFill>
              <a:latin typeface="Microsoft YaHei"/>
            </a:endParaRPr>
          </a:p>
        </p:txBody>
      </p:sp>
      <p:sp>
        <p:nvSpPr>
          <p:cNvPr id="13" name="Rectangle 12">
            <a:extLst>
              <a:ext uri="{FF2B5EF4-FFF2-40B4-BE49-F238E27FC236}">
                <a16:creationId xmlns:a16="http://schemas.microsoft.com/office/drawing/2014/main" id="{56760A81-8A1F-EBD7-9EA5-1D11E589854A}"/>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3036023E-6578-542A-368A-F6D8F2C63F18}"/>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pic>
        <p:nvPicPr>
          <p:cNvPr id="6" name="图片 5">
            <a:extLst>
              <a:ext uri="{FF2B5EF4-FFF2-40B4-BE49-F238E27FC236}">
                <a16:creationId xmlns:a16="http://schemas.microsoft.com/office/drawing/2014/main" id="{E39B007E-DEA3-98EF-BA19-EC6752A756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920" y="644570"/>
            <a:ext cx="4124647" cy="2130936"/>
          </a:xfrm>
          <a:prstGeom prst="rect">
            <a:avLst/>
          </a:prstGeom>
        </p:spPr>
      </p:pic>
      <p:pic>
        <p:nvPicPr>
          <p:cNvPr id="8" name="图片 7">
            <a:extLst>
              <a:ext uri="{FF2B5EF4-FFF2-40B4-BE49-F238E27FC236}">
                <a16:creationId xmlns:a16="http://schemas.microsoft.com/office/drawing/2014/main" id="{117988B9-69C4-F951-48A7-4E33E0EE348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00072" y="737114"/>
            <a:ext cx="4032448" cy="2083303"/>
          </a:xfrm>
          <a:prstGeom prst="rect">
            <a:avLst/>
          </a:prstGeom>
        </p:spPr>
      </p:pic>
      <p:pic>
        <p:nvPicPr>
          <p:cNvPr id="11" name="图片 10">
            <a:extLst>
              <a:ext uri="{FF2B5EF4-FFF2-40B4-BE49-F238E27FC236}">
                <a16:creationId xmlns:a16="http://schemas.microsoft.com/office/drawing/2014/main" id="{923A01AC-4296-29BD-29E5-5FCC646879E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1480" y="2973390"/>
            <a:ext cx="3847607" cy="1987807"/>
          </a:xfrm>
          <a:prstGeom prst="rect">
            <a:avLst/>
          </a:prstGeom>
        </p:spPr>
      </p:pic>
      <p:pic>
        <p:nvPicPr>
          <p:cNvPr id="15" name="图片 14">
            <a:extLst>
              <a:ext uri="{FF2B5EF4-FFF2-40B4-BE49-F238E27FC236}">
                <a16:creationId xmlns:a16="http://schemas.microsoft.com/office/drawing/2014/main" id="{E247D0EE-A09D-1719-22D5-D9963200F69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17911" y="2748570"/>
            <a:ext cx="3847607" cy="1987807"/>
          </a:xfrm>
          <a:prstGeom prst="rect">
            <a:avLst/>
          </a:prstGeom>
        </p:spPr>
      </p:pic>
    </p:spTree>
    <p:extLst>
      <p:ext uri="{BB962C8B-B14F-4D97-AF65-F5344CB8AC3E}">
        <p14:creationId xmlns:p14="http://schemas.microsoft.com/office/powerpoint/2010/main" val="3353170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2F870-DDEA-BF09-2630-42D6570E01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F3F69D-7F5B-EC98-0E4A-A4C66E182670}"/>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941028F-CDBF-D35A-2CB0-2B972676E99B}"/>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a:extLst>
              <a:ext uri="{FF2B5EF4-FFF2-40B4-BE49-F238E27FC236}">
                <a16:creationId xmlns:a16="http://schemas.microsoft.com/office/drawing/2014/main" id="{AB575953-0FEA-C33B-BCE1-3139E76BA6C4}"/>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10" name="TextBox 9">
            <a:extLst>
              <a:ext uri="{FF2B5EF4-FFF2-40B4-BE49-F238E27FC236}">
                <a16:creationId xmlns:a16="http://schemas.microsoft.com/office/drawing/2014/main" id="{8EBF3CBA-5939-FF06-F74B-6E140128FA2B}"/>
              </a:ext>
            </a:extLst>
          </p:cNvPr>
          <p:cNvSpPr txBox="1"/>
          <p:nvPr/>
        </p:nvSpPr>
        <p:spPr>
          <a:xfrm>
            <a:off x="2700586" y="4588768"/>
            <a:ext cx="3749039" cy="219456"/>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7 </a:t>
            </a:r>
            <a:r>
              <a:rPr sz="1000" b="0" dirty="0" err="1">
                <a:solidFill>
                  <a:srgbClr val="646464"/>
                </a:solidFill>
                <a:latin typeface="Microsoft YaHei"/>
              </a:rPr>
              <a:t>两种方法检索延迟对比</a:t>
            </a:r>
            <a:endParaRPr sz="1000" b="0" dirty="0">
              <a:solidFill>
                <a:srgbClr val="646464"/>
              </a:solidFill>
              <a:latin typeface="Microsoft YaHei"/>
            </a:endParaRPr>
          </a:p>
        </p:txBody>
      </p:sp>
      <p:sp>
        <p:nvSpPr>
          <p:cNvPr id="13" name="Rectangle 12">
            <a:extLst>
              <a:ext uri="{FF2B5EF4-FFF2-40B4-BE49-F238E27FC236}">
                <a16:creationId xmlns:a16="http://schemas.microsoft.com/office/drawing/2014/main" id="{30211685-8F7E-51D3-F0A6-A0812CC65CC7}"/>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D0B0CA3D-13F4-D3C5-97A3-A9E54A0B60A1}"/>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pic>
        <p:nvPicPr>
          <p:cNvPr id="26" name="图片 25">
            <a:extLst>
              <a:ext uri="{FF2B5EF4-FFF2-40B4-BE49-F238E27FC236}">
                <a16:creationId xmlns:a16="http://schemas.microsoft.com/office/drawing/2014/main" id="{1078F390-0708-2862-98FC-0D6956A071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17598" y="916360"/>
            <a:ext cx="6001492" cy="3100579"/>
          </a:xfrm>
          <a:prstGeom prst="rect">
            <a:avLst/>
          </a:prstGeom>
        </p:spPr>
      </p:pic>
    </p:spTree>
    <p:extLst>
      <p:ext uri="{BB962C8B-B14F-4D97-AF65-F5344CB8AC3E}">
        <p14:creationId xmlns:p14="http://schemas.microsoft.com/office/powerpoint/2010/main" val="1490105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A0402-C42B-B3A3-BD3C-F2A5297316A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F3AAAFE-AD5D-F667-45F2-DDAD507BA630}"/>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7F86B93-3899-29CF-14D2-B6D7FF7FE4FA}"/>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a:extLst>
              <a:ext uri="{FF2B5EF4-FFF2-40B4-BE49-F238E27FC236}">
                <a16:creationId xmlns:a16="http://schemas.microsoft.com/office/drawing/2014/main" id="{6F0CA880-466E-6A15-B7E0-CCC83327B5D7}"/>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13" name="Rectangle 12">
            <a:extLst>
              <a:ext uri="{FF2B5EF4-FFF2-40B4-BE49-F238E27FC236}">
                <a16:creationId xmlns:a16="http://schemas.microsoft.com/office/drawing/2014/main" id="{9192F00B-89C9-55BC-2A30-C1832F9E4886}"/>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E061369E-E9F6-C2B8-6132-D3F71CD73193}"/>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pic>
        <p:nvPicPr>
          <p:cNvPr id="24" name="图片 23">
            <a:extLst>
              <a:ext uri="{FF2B5EF4-FFF2-40B4-BE49-F238E27FC236}">
                <a16:creationId xmlns:a16="http://schemas.microsoft.com/office/drawing/2014/main" id="{41665944-AD45-7726-F003-8A3A159D5A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4446" y="804672"/>
            <a:ext cx="7295108" cy="2583254"/>
          </a:xfrm>
          <a:prstGeom prst="rect">
            <a:avLst/>
          </a:prstGeom>
        </p:spPr>
      </p:pic>
    </p:spTree>
    <p:extLst>
      <p:ext uri="{BB962C8B-B14F-4D97-AF65-F5344CB8AC3E}">
        <p14:creationId xmlns:p14="http://schemas.microsoft.com/office/powerpoint/2010/main" val="3449808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DFE8D-6D50-F6C2-5FF9-E22F09F1D3A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114681-8229-9CEB-F9AC-441D8269CB09}"/>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2753E43-4A9A-D26A-3EFC-67A6BF99AA66}"/>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a:extLst>
              <a:ext uri="{FF2B5EF4-FFF2-40B4-BE49-F238E27FC236}">
                <a16:creationId xmlns:a16="http://schemas.microsoft.com/office/drawing/2014/main" id="{5D763A8A-9BCA-97C4-6134-CEF29965015F}"/>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13" name="Rectangle 12">
            <a:extLst>
              <a:ext uri="{FF2B5EF4-FFF2-40B4-BE49-F238E27FC236}">
                <a16:creationId xmlns:a16="http://schemas.microsoft.com/office/drawing/2014/main" id="{C3C1A510-2576-6F59-5545-05AF4600657C}"/>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F1B179E2-847E-AFF0-0CEF-FF780E799465}"/>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pic>
        <p:nvPicPr>
          <p:cNvPr id="7" name="图片 6">
            <a:extLst>
              <a:ext uri="{FF2B5EF4-FFF2-40B4-BE49-F238E27FC236}">
                <a16:creationId xmlns:a16="http://schemas.microsoft.com/office/drawing/2014/main" id="{5CEEF455-5EFF-C2D9-EFF1-400BB404D0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36490" y="1420416"/>
            <a:ext cx="5066509" cy="2799965"/>
          </a:xfrm>
          <a:prstGeom prst="rect">
            <a:avLst/>
          </a:prstGeom>
        </p:spPr>
      </p:pic>
    </p:spTree>
    <p:extLst>
      <p:ext uri="{BB962C8B-B14F-4D97-AF65-F5344CB8AC3E}">
        <p14:creationId xmlns:p14="http://schemas.microsoft.com/office/powerpoint/2010/main" val="2408165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5F470-EA55-0AE6-F953-C307EDBEDB9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6226BAF-C080-4BD3-D369-2C764D754914}"/>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94E83F5A-1F3D-2D3E-64DD-76EC5ADFC917}"/>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a:extLst>
              <a:ext uri="{FF2B5EF4-FFF2-40B4-BE49-F238E27FC236}">
                <a16:creationId xmlns:a16="http://schemas.microsoft.com/office/drawing/2014/main" id="{B127EFBF-E305-A767-87FB-69D897BD2465}"/>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10" name="TextBox 9">
            <a:extLst>
              <a:ext uri="{FF2B5EF4-FFF2-40B4-BE49-F238E27FC236}">
                <a16:creationId xmlns:a16="http://schemas.microsoft.com/office/drawing/2014/main" id="{0D22A3CC-45B0-94E2-BDF7-2AB31E663613}"/>
              </a:ext>
            </a:extLst>
          </p:cNvPr>
          <p:cNvSpPr txBox="1"/>
          <p:nvPr/>
        </p:nvSpPr>
        <p:spPr>
          <a:xfrm>
            <a:off x="2700586" y="4588768"/>
            <a:ext cx="3749039" cy="219456"/>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7 </a:t>
            </a:r>
            <a:r>
              <a:rPr sz="1000" b="0" dirty="0" err="1">
                <a:solidFill>
                  <a:srgbClr val="646464"/>
                </a:solidFill>
                <a:latin typeface="Microsoft YaHei"/>
              </a:rPr>
              <a:t>两种方法检索延迟对比</a:t>
            </a:r>
            <a:endParaRPr sz="1000" b="0" dirty="0">
              <a:solidFill>
                <a:srgbClr val="646464"/>
              </a:solidFill>
              <a:latin typeface="Microsoft YaHei"/>
            </a:endParaRPr>
          </a:p>
        </p:txBody>
      </p:sp>
      <p:sp>
        <p:nvSpPr>
          <p:cNvPr id="13" name="Rectangle 12">
            <a:extLst>
              <a:ext uri="{FF2B5EF4-FFF2-40B4-BE49-F238E27FC236}">
                <a16:creationId xmlns:a16="http://schemas.microsoft.com/office/drawing/2014/main" id="{7F80120F-4E71-C978-7B8A-D19536D572EE}"/>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5FE54CA-D30F-3B0A-0FFF-4C5C230AA5C6}"/>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pic>
        <p:nvPicPr>
          <p:cNvPr id="16" name="图片 15">
            <a:extLst>
              <a:ext uri="{FF2B5EF4-FFF2-40B4-BE49-F238E27FC236}">
                <a16:creationId xmlns:a16="http://schemas.microsoft.com/office/drawing/2014/main" id="{54BE7F2F-C8EA-47DE-E8AE-0A3EF5E4DA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4402" y="777092"/>
            <a:ext cx="6565340" cy="3831435"/>
          </a:xfrm>
          <a:prstGeom prst="rect">
            <a:avLst/>
          </a:prstGeom>
        </p:spPr>
      </p:pic>
    </p:spTree>
    <p:extLst>
      <p:ext uri="{BB962C8B-B14F-4D97-AF65-F5344CB8AC3E}">
        <p14:creationId xmlns:p14="http://schemas.microsoft.com/office/powerpoint/2010/main" val="1623546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CC146-E209-4B54-4A9C-2BD5675D45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6D615C-8857-B49C-6EDD-471FFF6DE8A5}"/>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236672A-F902-0CEC-4E07-67A6B6F7896B}"/>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a:extLst>
              <a:ext uri="{FF2B5EF4-FFF2-40B4-BE49-F238E27FC236}">
                <a16:creationId xmlns:a16="http://schemas.microsoft.com/office/drawing/2014/main" id="{620555C8-764C-1415-B929-7CEE950E91C6}"/>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12" name="TextBox 11">
            <a:extLst>
              <a:ext uri="{FF2B5EF4-FFF2-40B4-BE49-F238E27FC236}">
                <a16:creationId xmlns:a16="http://schemas.microsoft.com/office/drawing/2014/main" id="{5B2331EE-1C77-595A-1661-242812042B8E}"/>
              </a:ext>
            </a:extLst>
          </p:cNvPr>
          <p:cNvSpPr txBox="1"/>
          <p:nvPr/>
        </p:nvSpPr>
        <p:spPr>
          <a:xfrm>
            <a:off x="2772594" y="4500474"/>
            <a:ext cx="3749039" cy="219456"/>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8 </a:t>
            </a:r>
            <a:r>
              <a:rPr sz="1000" b="0" dirty="0" err="1">
                <a:solidFill>
                  <a:srgbClr val="646464"/>
                </a:solidFill>
                <a:latin typeface="Microsoft YaHei"/>
              </a:rPr>
              <a:t>两种方法分领域指标热力图</a:t>
            </a:r>
            <a:endParaRPr sz="1000" b="0" dirty="0">
              <a:solidFill>
                <a:srgbClr val="646464"/>
              </a:solidFill>
              <a:latin typeface="Microsoft YaHei"/>
            </a:endParaRPr>
          </a:p>
        </p:txBody>
      </p:sp>
      <p:sp>
        <p:nvSpPr>
          <p:cNvPr id="13" name="Rectangle 12">
            <a:extLst>
              <a:ext uri="{FF2B5EF4-FFF2-40B4-BE49-F238E27FC236}">
                <a16:creationId xmlns:a16="http://schemas.microsoft.com/office/drawing/2014/main" id="{74147F02-83B3-728F-3E0C-B3D8D091F0FD}"/>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FC49726-15F6-40D3-AC7D-8EF46DC54D75}"/>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pic>
        <p:nvPicPr>
          <p:cNvPr id="6" name="图片 5">
            <a:extLst>
              <a:ext uri="{FF2B5EF4-FFF2-40B4-BE49-F238E27FC236}">
                <a16:creationId xmlns:a16="http://schemas.microsoft.com/office/drawing/2014/main" id="{ADDB0135-C178-3E0C-37F9-7DCA6B0D2F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9402" y="1027584"/>
            <a:ext cx="8665196" cy="3295104"/>
          </a:xfrm>
          <a:prstGeom prst="rect">
            <a:avLst/>
          </a:prstGeom>
        </p:spPr>
      </p:pic>
    </p:spTree>
    <p:extLst>
      <p:ext uri="{BB962C8B-B14F-4D97-AF65-F5344CB8AC3E}">
        <p14:creationId xmlns:p14="http://schemas.microsoft.com/office/powerpoint/2010/main" val="1533991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E9287-0C82-5C34-D526-51E04FC9BE7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CC87586-B23B-0F49-BE0E-0E65CA076D56}"/>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EEAC166-5D08-FDA7-D275-E8BE4C71E8D3}"/>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生成实验结果</a:t>
            </a:r>
          </a:p>
        </p:txBody>
      </p:sp>
      <p:sp>
        <p:nvSpPr>
          <p:cNvPr id="4" name="TextBox 3">
            <a:extLst>
              <a:ext uri="{FF2B5EF4-FFF2-40B4-BE49-F238E27FC236}">
                <a16:creationId xmlns:a16="http://schemas.microsoft.com/office/drawing/2014/main" id="{12C1E79A-4EEA-4F22-5566-7046C4B40D6B}"/>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Generation Evaluation</a:t>
            </a:r>
          </a:p>
        </p:txBody>
      </p:sp>
      <p:sp>
        <p:nvSpPr>
          <p:cNvPr id="6" name="TextBox 5">
            <a:extLst>
              <a:ext uri="{FF2B5EF4-FFF2-40B4-BE49-F238E27FC236}">
                <a16:creationId xmlns:a16="http://schemas.microsoft.com/office/drawing/2014/main" id="{5D876620-631B-B423-9429-1E1722F3731A}"/>
              </a:ext>
            </a:extLst>
          </p:cNvPr>
          <p:cNvSpPr txBox="1"/>
          <p:nvPr/>
        </p:nvSpPr>
        <p:spPr>
          <a:xfrm>
            <a:off x="4788818" y="4619769"/>
            <a:ext cx="2651760" cy="219456"/>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9 </a:t>
            </a:r>
            <a:r>
              <a:rPr sz="1000" b="0" dirty="0" err="1">
                <a:solidFill>
                  <a:srgbClr val="646464"/>
                </a:solidFill>
                <a:latin typeface="Microsoft YaHei"/>
              </a:rPr>
              <a:t>三种方法生成器评测总览</a:t>
            </a:r>
            <a:endParaRPr sz="1000" b="0" dirty="0">
              <a:solidFill>
                <a:srgbClr val="646464"/>
              </a:solidFill>
              <a:latin typeface="Microsoft YaHei"/>
            </a:endParaRPr>
          </a:p>
        </p:txBody>
      </p:sp>
      <p:sp>
        <p:nvSpPr>
          <p:cNvPr id="15" name="Rectangle 14">
            <a:extLst>
              <a:ext uri="{FF2B5EF4-FFF2-40B4-BE49-F238E27FC236}">
                <a16:creationId xmlns:a16="http://schemas.microsoft.com/office/drawing/2014/main" id="{578E71AA-8FC3-A3CE-4BB5-A515ECCA6C1C}"/>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79F02D8C-57A5-8FF5-4858-5D3440E7D209}"/>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9-13 与对应文字结论</a:t>
            </a:r>
          </a:p>
        </p:txBody>
      </p:sp>
      <p:sp>
        <p:nvSpPr>
          <p:cNvPr id="17" name="文本框 16">
            <a:extLst>
              <a:ext uri="{FF2B5EF4-FFF2-40B4-BE49-F238E27FC236}">
                <a16:creationId xmlns:a16="http://schemas.microsoft.com/office/drawing/2014/main" id="{A54C8EFA-2003-6E5C-3475-8984ED1B34A4}"/>
              </a:ext>
            </a:extLst>
          </p:cNvPr>
          <p:cNvSpPr txBox="1"/>
          <p:nvPr/>
        </p:nvSpPr>
        <p:spPr>
          <a:xfrm>
            <a:off x="440921" y="1132384"/>
            <a:ext cx="2448272" cy="3693319"/>
          </a:xfrm>
          <a:prstGeom prst="rect">
            <a:avLst/>
          </a:prstGeom>
          <a:noFill/>
        </p:spPr>
        <p:txBody>
          <a:bodyPr wrap="square" rtlCol="0">
            <a:spAutoFit/>
          </a:bodyPr>
          <a:lstStyle/>
          <a:p>
            <a:r>
              <a:rPr lang="zh-CN" altLang="zh-CN" dirty="0"/>
              <a:t>生成实验中，</a:t>
            </a:r>
            <a:r>
              <a:rPr lang="en-US" altLang="zh-CN" dirty="0"/>
              <a:t>proposed </a:t>
            </a:r>
            <a:r>
              <a:rPr lang="zh-CN" altLang="zh-CN" dirty="0"/>
              <a:t>的回答正确性达到</a:t>
            </a:r>
            <a:r>
              <a:rPr lang="en-US" altLang="zh-CN" dirty="0"/>
              <a:t> 0.86</a:t>
            </a:r>
            <a:r>
              <a:rPr lang="zh-CN" altLang="zh-CN" dirty="0"/>
              <a:t>，与表现最好的</a:t>
            </a:r>
            <a:r>
              <a:rPr lang="en-US" altLang="zh-CN" dirty="0"/>
              <a:t> </a:t>
            </a:r>
            <a:r>
              <a:rPr lang="en-US" altLang="zh-CN" dirty="0" err="1"/>
              <a:t>baseline_clip</a:t>
            </a:r>
            <a:r>
              <a:rPr lang="en-US" altLang="zh-CN" dirty="0"/>
              <a:t> </a:t>
            </a:r>
            <a:r>
              <a:rPr lang="zh-CN" altLang="zh-CN" dirty="0"/>
              <a:t>的</a:t>
            </a:r>
            <a:r>
              <a:rPr lang="en-US" altLang="zh-CN" dirty="0"/>
              <a:t>0.87</a:t>
            </a:r>
            <a:r>
              <a:rPr lang="zh-CN" altLang="zh-CN" dirty="0"/>
              <a:t>基本接近；在图像上下文相关性指标上达到</a:t>
            </a:r>
            <a:r>
              <a:rPr lang="en-US" altLang="zh-CN" dirty="0"/>
              <a:t>0.9286</a:t>
            </a:r>
            <a:r>
              <a:rPr lang="zh-CN" altLang="zh-CN" dirty="0"/>
              <a:t>，为所有方法中最高。相比之下，</a:t>
            </a:r>
            <a:r>
              <a:rPr lang="en-US" altLang="zh-CN" dirty="0" err="1"/>
              <a:t>no_rag</a:t>
            </a:r>
            <a:r>
              <a:rPr lang="en-US" altLang="zh-CN" dirty="0"/>
              <a:t> </a:t>
            </a:r>
            <a:r>
              <a:rPr lang="zh-CN" altLang="zh-CN" dirty="0"/>
              <a:t>的回答正确性仅为</a:t>
            </a:r>
            <a:r>
              <a:rPr lang="en-US" altLang="zh-CN" dirty="0"/>
              <a:t>0.24</a:t>
            </a:r>
            <a:r>
              <a:rPr lang="zh-CN" altLang="zh-CN" dirty="0"/>
              <a:t>。总体来看，当前实验结果已经初步验证了所提方法的有效性和竞争力。</a:t>
            </a:r>
            <a:endParaRPr lang="zh-CN" altLang="en-US" dirty="0"/>
          </a:p>
        </p:txBody>
      </p:sp>
      <p:pic>
        <p:nvPicPr>
          <p:cNvPr id="19" name="图片 18">
            <a:extLst>
              <a:ext uri="{FF2B5EF4-FFF2-40B4-BE49-F238E27FC236}">
                <a16:creationId xmlns:a16="http://schemas.microsoft.com/office/drawing/2014/main" id="{413EFFBA-0554-65BE-BC5A-B1781C11DC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13005" y="1132384"/>
            <a:ext cx="5656675" cy="2841493"/>
          </a:xfrm>
          <a:prstGeom prst="rect">
            <a:avLst/>
          </a:prstGeom>
        </p:spPr>
      </p:pic>
    </p:spTree>
    <p:extLst>
      <p:ext uri="{BB962C8B-B14F-4D97-AF65-F5344CB8AC3E}">
        <p14:creationId xmlns:p14="http://schemas.microsoft.com/office/powerpoint/2010/main" val="1971512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生成实验结果</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Generation Evaluation</a:t>
            </a:r>
          </a:p>
        </p:txBody>
      </p:sp>
      <p:sp>
        <p:nvSpPr>
          <p:cNvPr id="8" name="TextBox 7"/>
          <p:cNvSpPr txBox="1"/>
          <p:nvPr/>
        </p:nvSpPr>
        <p:spPr>
          <a:xfrm>
            <a:off x="3246120" y="4444752"/>
            <a:ext cx="2651760" cy="219456"/>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10 </a:t>
            </a:r>
            <a:r>
              <a:rPr sz="1000" b="0" dirty="0" err="1">
                <a:solidFill>
                  <a:srgbClr val="646464"/>
                </a:solidFill>
                <a:latin typeface="Microsoft YaHei"/>
              </a:rPr>
              <a:t>三种方法分领域答案正确性</a:t>
            </a:r>
            <a:endParaRPr sz="1000" b="0" dirty="0">
              <a:solidFill>
                <a:srgbClr val="646464"/>
              </a:solidFill>
              <a:latin typeface="Microsoft YaHei"/>
            </a:endParaRPr>
          </a:p>
        </p:txBody>
      </p:sp>
      <p:sp>
        <p:nvSpPr>
          <p:cNvPr id="15" name="Rectangle 14"/>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9-13 与对应文字结论</a:t>
            </a:r>
          </a:p>
        </p:txBody>
      </p:sp>
      <p:pic>
        <p:nvPicPr>
          <p:cNvPr id="18" name="图片 17">
            <a:extLst>
              <a:ext uri="{FF2B5EF4-FFF2-40B4-BE49-F238E27FC236}">
                <a16:creationId xmlns:a16="http://schemas.microsoft.com/office/drawing/2014/main" id="{75D3AD4A-332A-7021-AC78-F17CD5BDAF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6370" y="768096"/>
            <a:ext cx="7796148" cy="326484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A6F21-DE88-19E4-D97F-63409980C44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12F4533-3A10-28FE-79CA-001CB9DD513C}"/>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E1808EC-165E-67A4-11D6-D15D72C51AD0}"/>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生成实验结果</a:t>
            </a:r>
          </a:p>
        </p:txBody>
      </p:sp>
      <p:sp>
        <p:nvSpPr>
          <p:cNvPr id="4" name="TextBox 3">
            <a:extLst>
              <a:ext uri="{FF2B5EF4-FFF2-40B4-BE49-F238E27FC236}">
                <a16:creationId xmlns:a16="http://schemas.microsoft.com/office/drawing/2014/main" id="{E43F76E4-12E9-FEA8-2343-2C56C3693907}"/>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Generation Evaluation</a:t>
            </a:r>
          </a:p>
        </p:txBody>
      </p:sp>
      <p:sp>
        <p:nvSpPr>
          <p:cNvPr id="10" name="TextBox 9">
            <a:extLst>
              <a:ext uri="{FF2B5EF4-FFF2-40B4-BE49-F238E27FC236}">
                <a16:creationId xmlns:a16="http://schemas.microsoft.com/office/drawing/2014/main" id="{85437B39-5F52-7371-4112-734B159EC995}"/>
              </a:ext>
            </a:extLst>
          </p:cNvPr>
          <p:cNvSpPr txBox="1"/>
          <p:nvPr/>
        </p:nvSpPr>
        <p:spPr>
          <a:xfrm>
            <a:off x="3017520" y="4170632"/>
            <a:ext cx="2651760" cy="219456"/>
          </a:xfrm>
          <a:prstGeom prst="rect">
            <a:avLst/>
          </a:prstGeom>
          <a:noFill/>
        </p:spPr>
        <p:txBody>
          <a:bodyPr wrap="square" anchor="t">
            <a:spAutoFit/>
          </a:bodyPr>
          <a:lstStyle/>
          <a:p>
            <a:pPr algn="ctr"/>
            <a:r>
              <a:rPr sz="1000" b="0">
                <a:solidFill>
                  <a:srgbClr val="646464"/>
                </a:solidFill>
                <a:latin typeface="Microsoft YaHei"/>
              </a:rPr>
              <a:t>图表 11 本文方法相对基线的提升</a:t>
            </a:r>
          </a:p>
        </p:txBody>
      </p:sp>
      <p:sp>
        <p:nvSpPr>
          <p:cNvPr id="15" name="Rectangle 14">
            <a:extLst>
              <a:ext uri="{FF2B5EF4-FFF2-40B4-BE49-F238E27FC236}">
                <a16:creationId xmlns:a16="http://schemas.microsoft.com/office/drawing/2014/main" id="{09857C9F-35FE-A32D-93FE-A5ED29BAE7E9}"/>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E8B605A4-4F22-32DA-AFB2-FFF340826343}"/>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9-13 与对应文字结论</a:t>
            </a:r>
          </a:p>
        </p:txBody>
      </p:sp>
      <p:pic>
        <p:nvPicPr>
          <p:cNvPr id="18" name="图片 17">
            <a:extLst>
              <a:ext uri="{FF2B5EF4-FFF2-40B4-BE49-F238E27FC236}">
                <a16:creationId xmlns:a16="http://schemas.microsoft.com/office/drawing/2014/main" id="{E52ED1B8-0218-16BB-586B-9A0F672E0E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650" y="-129133"/>
            <a:ext cx="8884938" cy="4303785"/>
          </a:xfrm>
          <a:prstGeom prst="rect">
            <a:avLst/>
          </a:prstGeom>
        </p:spPr>
      </p:pic>
    </p:spTree>
    <p:extLst>
      <p:ext uri="{BB962C8B-B14F-4D97-AF65-F5344CB8AC3E}">
        <p14:creationId xmlns:p14="http://schemas.microsoft.com/office/powerpoint/2010/main" val="1469136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4E1CB-4386-295B-8403-52F52C6B9D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9847ED7-14CC-1A53-00AE-222C057CC506}"/>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E7D4E19-9A59-F0EC-A530-88B237CA3E57}"/>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生成实验结果</a:t>
            </a:r>
          </a:p>
        </p:txBody>
      </p:sp>
      <p:sp>
        <p:nvSpPr>
          <p:cNvPr id="4" name="TextBox 3">
            <a:extLst>
              <a:ext uri="{FF2B5EF4-FFF2-40B4-BE49-F238E27FC236}">
                <a16:creationId xmlns:a16="http://schemas.microsoft.com/office/drawing/2014/main" id="{775DAF75-79F3-80A9-3894-E8F3A64ED331}"/>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Generation Evaluation</a:t>
            </a:r>
          </a:p>
        </p:txBody>
      </p:sp>
      <p:sp>
        <p:nvSpPr>
          <p:cNvPr id="12" name="TextBox 11">
            <a:extLst>
              <a:ext uri="{FF2B5EF4-FFF2-40B4-BE49-F238E27FC236}">
                <a16:creationId xmlns:a16="http://schemas.microsoft.com/office/drawing/2014/main" id="{58002E98-0944-EFCD-817A-5D61E496ACCD}"/>
              </a:ext>
            </a:extLst>
          </p:cNvPr>
          <p:cNvSpPr txBox="1"/>
          <p:nvPr/>
        </p:nvSpPr>
        <p:spPr>
          <a:xfrm>
            <a:off x="2670840" y="4660776"/>
            <a:ext cx="2834640" cy="219456"/>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12 </a:t>
            </a:r>
            <a:r>
              <a:rPr sz="1000" b="0" dirty="0" err="1">
                <a:solidFill>
                  <a:srgbClr val="646464"/>
                </a:solidFill>
                <a:latin typeface="Microsoft YaHei"/>
              </a:rPr>
              <a:t>分问题类型答案正确性</a:t>
            </a:r>
            <a:endParaRPr sz="1000" b="0" dirty="0">
              <a:solidFill>
                <a:srgbClr val="646464"/>
              </a:solidFill>
              <a:latin typeface="Microsoft YaHei"/>
            </a:endParaRPr>
          </a:p>
        </p:txBody>
      </p:sp>
      <p:sp>
        <p:nvSpPr>
          <p:cNvPr id="15" name="Rectangle 14">
            <a:extLst>
              <a:ext uri="{FF2B5EF4-FFF2-40B4-BE49-F238E27FC236}">
                <a16:creationId xmlns:a16="http://schemas.microsoft.com/office/drawing/2014/main" id="{DAD17D0B-ACEE-EB8C-4F1E-0E1D6CAC6AFC}"/>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E2A8F315-A2D4-5247-BFD8-2E5C93153AB4}"/>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9-13 与对应文字结论</a:t>
            </a:r>
          </a:p>
        </p:txBody>
      </p:sp>
      <p:pic>
        <p:nvPicPr>
          <p:cNvPr id="18" name="图片 17">
            <a:extLst>
              <a:ext uri="{FF2B5EF4-FFF2-40B4-BE49-F238E27FC236}">
                <a16:creationId xmlns:a16="http://schemas.microsoft.com/office/drawing/2014/main" id="{AA6DC713-1297-8523-3CF5-CF41AC6A02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9326" y="901099"/>
            <a:ext cx="7453114" cy="3342889"/>
          </a:xfrm>
          <a:prstGeom prst="rect">
            <a:avLst/>
          </a:prstGeom>
        </p:spPr>
      </p:pic>
    </p:spTree>
    <p:extLst>
      <p:ext uri="{BB962C8B-B14F-4D97-AF65-F5344CB8AC3E}">
        <p14:creationId xmlns:p14="http://schemas.microsoft.com/office/powerpoint/2010/main" val="3398979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34E81-D48A-23DC-031C-F2CA208DFCA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461C6FD-BB30-84E1-51B3-54DECA3CCAB4}"/>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3E9EE56-2498-5CDF-D341-FCF1262D0250}"/>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生成实验结果</a:t>
            </a:r>
          </a:p>
        </p:txBody>
      </p:sp>
      <p:sp>
        <p:nvSpPr>
          <p:cNvPr id="4" name="TextBox 3">
            <a:extLst>
              <a:ext uri="{FF2B5EF4-FFF2-40B4-BE49-F238E27FC236}">
                <a16:creationId xmlns:a16="http://schemas.microsoft.com/office/drawing/2014/main" id="{93B7F3AE-4C58-3421-CFC3-FD902FEA23A9}"/>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Generation Evaluation</a:t>
            </a:r>
          </a:p>
        </p:txBody>
      </p:sp>
      <p:sp>
        <p:nvSpPr>
          <p:cNvPr id="14" name="TextBox 13">
            <a:extLst>
              <a:ext uri="{FF2B5EF4-FFF2-40B4-BE49-F238E27FC236}">
                <a16:creationId xmlns:a16="http://schemas.microsoft.com/office/drawing/2014/main" id="{D710B442-F5C2-5E0A-FB2D-ECF6C571BF28}"/>
              </a:ext>
            </a:extLst>
          </p:cNvPr>
          <p:cNvSpPr txBox="1"/>
          <p:nvPr/>
        </p:nvSpPr>
        <p:spPr>
          <a:xfrm>
            <a:off x="3060626" y="4588768"/>
            <a:ext cx="2834640" cy="219456"/>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13 </a:t>
            </a:r>
            <a:r>
              <a:rPr sz="1000" b="0" dirty="0" err="1">
                <a:solidFill>
                  <a:srgbClr val="646464"/>
                </a:solidFill>
                <a:latin typeface="Microsoft YaHei"/>
              </a:rPr>
              <a:t>相关性与忠实度对比</a:t>
            </a:r>
            <a:endParaRPr sz="1000" b="0" dirty="0">
              <a:solidFill>
                <a:srgbClr val="646464"/>
              </a:solidFill>
              <a:latin typeface="Microsoft YaHei"/>
            </a:endParaRPr>
          </a:p>
        </p:txBody>
      </p:sp>
      <p:sp>
        <p:nvSpPr>
          <p:cNvPr id="15" name="Rectangle 14">
            <a:extLst>
              <a:ext uri="{FF2B5EF4-FFF2-40B4-BE49-F238E27FC236}">
                <a16:creationId xmlns:a16="http://schemas.microsoft.com/office/drawing/2014/main" id="{E058F449-4CC7-C50C-7C8C-E480125DAFFD}"/>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3EE98EFB-A607-B9F4-06C4-2BD52AD375FC}"/>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9-13 与对应文字结论</a:t>
            </a:r>
          </a:p>
        </p:txBody>
      </p:sp>
      <p:pic>
        <p:nvPicPr>
          <p:cNvPr id="18" name="图片 17">
            <a:extLst>
              <a:ext uri="{FF2B5EF4-FFF2-40B4-BE49-F238E27FC236}">
                <a16:creationId xmlns:a16="http://schemas.microsoft.com/office/drawing/2014/main" id="{EE426B64-8B57-2409-EAAD-3246348A33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3636" y="884050"/>
            <a:ext cx="7908884" cy="3376987"/>
          </a:xfrm>
          <a:prstGeom prst="rect">
            <a:avLst/>
          </a:prstGeom>
        </p:spPr>
      </p:pic>
    </p:spTree>
    <p:extLst>
      <p:ext uri="{BB962C8B-B14F-4D97-AF65-F5344CB8AC3E}">
        <p14:creationId xmlns:p14="http://schemas.microsoft.com/office/powerpoint/2010/main" val="421647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模型微调</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Fine-tuning</a:t>
            </a:r>
          </a:p>
        </p:txBody>
      </p:sp>
      <p:sp>
        <p:nvSpPr>
          <p:cNvPr id="5" name="TextBox 4"/>
          <p:cNvSpPr txBox="1"/>
          <p:nvPr/>
        </p:nvSpPr>
        <p:spPr>
          <a:xfrm>
            <a:off x="126232" y="1060704"/>
            <a:ext cx="3657600" cy="3213700"/>
          </a:xfrm>
          <a:prstGeom prst="rect">
            <a:avLst/>
          </a:prstGeom>
          <a:noFill/>
        </p:spPr>
        <p:txBody>
          <a:bodyPr wrap="square">
            <a:spAutoFit/>
          </a:bodyPr>
          <a:lstStyle/>
          <a:p>
            <a:pPr>
              <a:spcAft>
                <a:spcPts val="500"/>
              </a:spcAft>
              <a:defRPr sz="1400">
                <a:solidFill>
                  <a:srgbClr val="282828"/>
                </a:solidFill>
                <a:latin typeface="Microsoft YaHei"/>
              </a:defRPr>
            </a:pPr>
            <a:r>
              <a:rPr dirty="0" err="1"/>
              <a:t>已完成基于</a:t>
            </a:r>
            <a:r>
              <a:rPr dirty="0"/>
              <a:t> </a:t>
            </a:r>
            <a:r>
              <a:rPr dirty="0" err="1"/>
              <a:t>UniDoc</a:t>
            </a:r>
            <a:r>
              <a:rPr dirty="0"/>
              <a:t>-Bench </a:t>
            </a:r>
            <a:r>
              <a:rPr dirty="0" err="1"/>
              <a:t>图像及描述文本的监督微调数据构建、训练执行和阶段性评估</a:t>
            </a:r>
            <a:r>
              <a:rPr dirty="0"/>
              <a:t>。</a:t>
            </a:r>
          </a:p>
          <a:p>
            <a:pPr>
              <a:spcAft>
                <a:spcPts val="500"/>
              </a:spcAft>
              <a:defRPr sz="1400">
                <a:solidFill>
                  <a:srgbClr val="282828"/>
                </a:solidFill>
                <a:latin typeface="Microsoft YaHei"/>
              </a:defRPr>
            </a:pPr>
            <a:r>
              <a:rPr lang="zh-CN" altLang="en-US" dirty="0"/>
              <a:t>数据集：</a:t>
            </a:r>
            <a:r>
              <a:rPr dirty="0" err="1"/>
              <a:t>训练样本</a:t>
            </a:r>
            <a:r>
              <a:rPr dirty="0"/>
              <a:t> 888 </a:t>
            </a:r>
            <a:r>
              <a:rPr dirty="0" err="1"/>
              <a:t>条，验证样本</a:t>
            </a:r>
            <a:r>
              <a:rPr dirty="0"/>
              <a:t> 47 条</a:t>
            </a:r>
          </a:p>
          <a:p>
            <a:pPr>
              <a:spcAft>
                <a:spcPts val="500"/>
              </a:spcAft>
              <a:defRPr sz="1400">
                <a:solidFill>
                  <a:srgbClr val="282828"/>
                </a:solidFill>
                <a:latin typeface="Microsoft YaHei"/>
              </a:defRPr>
            </a:pPr>
            <a:r>
              <a:rPr dirty="0" err="1"/>
              <a:t>完成基于</a:t>
            </a:r>
            <a:r>
              <a:rPr dirty="0"/>
              <a:t> Qwen3.5-4B 的 </a:t>
            </a:r>
            <a:r>
              <a:rPr dirty="0" err="1"/>
              <a:t>LoRA</a:t>
            </a:r>
            <a:r>
              <a:rPr dirty="0"/>
              <a:t> </a:t>
            </a:r>
            <a:r>
              <a:rPr dirty="0" err="1"/>
              <a:t>微调训练，共</a:t>
            </a:r>
            <a:r>
              <a:rPr dirty="0"/>
              <a:t> 140 个 </a:t>
            </a:r>
            <a:r>
              <a:rPr dirty="0" err="1"/>
              <a:t>step，耗时约</a:t>
            </a:r>
            <a:r>
              <a:rPr dirty="0"/>
              <a:t> 5 </a:t>
            </a:r>
            <a:r>
              <a:rPr dirty="0" err="1"/>
              <a:t>小时</a:t>
            </a:r>
            <a:r>
              <a:rPr dirty="0"/>
              <a:t> 20 </a:t>
            </a:r>
            <a:r>
              <a:rPr dirty="0" err="1"/>
              <a:t>分钟</a:t>
            </a:r>
            <a:r>
              <a:rPr dirty="0"/>
              <a:t>。</a:t>
            </a:r>
          </a:p>
          <a:p>
            <a:pPr>
              <a:spcAft>
                <a:spcPts val="500"/>
              </a:spcAft>
              <a:defRPr sz="1400">
                <a:solidFill>
                  <a:srgbClr val="282828"/>
                </a:solidFill>
                <a:latin typeface="Microsoft YaHei"/>
              </a:defRPr>
            </a:pPr>
            <a:r>
              <a:rPr dirty="0" err="1"/>
              <a:t>最终训练损失为</a:t>
            </a:r>
            <a:r>
              <a:rPr dirty="0"/>
              <a:t> 0.5194，验证损失为 0.5915；step-75 </a:t>
            </a:r>
            <a:r>
              <a:rPr dirty="0" err="1"/>
              <a:t>验证损失最低，为</a:t>
            </a:r>
            <a:r>
              <a:rPr dirty="0"/>
              <a:t> 0.5892。</a:t>
            </a:r>
          </a:p>
          <a:p>
            <a:pPr>
              <a:spcAft>
                <a:spcPts val="500"/>
              </a:spcAft>
              <a:defRPr sz="1400">
                <a:solidFill>
                  <a:srgbClr val="282828"/>
                </a:solidFill>
                <a:latin typeface="Microsoft YaHei"/>
              </a:defRPr>
            </a:pPr>
            <a:r>
              <a:rPr dirty="0" err="1"/>
              <a:t>微调后在部分复杂页面上提升了格式遵循、关键词补充和局部细节描述能力</a:t>
            </a:r>
            <a:r>
              <a:rPr dirty="0"/>
              <a:t>。</a:t>
            </a:r>
          </a:p>
          <a:p>
            <a:pPr>
              <a:spcAft>
                <a:spcPts val="500"/>
              </a:spcAft>
              <a:defRPr sz="1400">
                <a:solidFill>
                  <a:srgbClr val="282828"/>
                </a:solidFill>
                <a:latin typeface="Microsoft YaHei"/>
              </a:defRPr>
            </a:pPr>
            <a:r>
              <a:rPr dirty="0" err="1"/>
              <a:t>但仍存在输出冗长、重复等问题，后续还需继续优化数据质量和输出效果</a:t>
            </a:r>
            <a:r>
              <a:rPr dirty="0"/>
              <a:t>。</a:t>
            </a:r>
          </a:p>
        </p:txBody>
      </p:sp>
      <p:sp>
        <p:nvSpPr>
          <p:cNvPr id="7" name="TextBox 6"/>
          <p:cNvSpPr txBox="1"/>
          <p:nvPr/>
        </p:nvSpPr>
        <p:spPr>
          <a:xfrm>
            <a:off x="4617720" y="5897880"/>
            <a:ext cx="3566160" cy="219456"/>
          </a:xfrm>
          <a:prstGeom prst="rect">
            <a:avLst/>
          </a:prstGeom>
          <a:noFill/>
        </p:spPr>
        <p:txBody>
          <a:bodyPr wrap="square" anchor="t">
            <a:spAutoFit/>
          </a:bodyPr>
          <a:lstStyle/>
          <a:p>
            <a:pPr algn="ctr"/>
            <a:r>
              <a:rPr sz="1000" b="0">
                <a:solidFill>
                  <a:srgbClr val="646464"/>
                </a:solidFill>
                <a:latin typeface="Microsoft YaHei"/>
              </a:rPr>
              <a:t>图表 14 微调学习曲线</a:t>
            </a:r>
          </a:p>
        </p:txBody>
      </p:sp>
      <p:sp>
        <p:nvSpPr>
          <p:cNvPr id="8" name="Rectangle 7"/>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内容依据：中期报告“5.模型微调”</a:t>
            </a:r>
          </a:p>
        </p:txBody>
      </p:sp>
      <p:sp>
        <p:nvSpPr>
          <p:cNvPr id="13" name="文本框 12">
            <a:extLst>
              <a:ext uri="{FF2B5EF4-FFF2-40B4-BE49-F238E27FC236}">
                <a16:creationId xmlns:a16="http://schemas.microsoft.com/office/drawing/2014/main" id="{D0FA19A5-DD95-8085-DD0F-8CA470E0C11C}"/>
              </a:ext>
            </a:extLst>
          </p:cNvPr>
          <p:cNvSpPr txBox="1"/>
          <p:nvPr/>
        </p:nvSpPr>
        <p:spPr>
          <a:xfrm>
            <a:off x="4500786" y="4106907"/>
            <a:ext cx="4572000" cy="246221"/>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dirty="0">
                <a:ln>
                  <a:noFill/>
                </a:ln>
                <a:solidFill>
                  <a:srgbClr val="646464"/>
                </a:solidFill>
                <a:effectLst/>
                <a:uLnTx/>
                <a:uFillTx/>
                <a:latin typeface="Microsoft YaHei"/>
                <a:ea typeface="宋体" panose="02010600030101010101" pitchFamily="2" charset="-122"/>
                <a:cs typeface="+mn-cs"/>
              </a:rPr>
              <a:t>图表 </a:t>
            </a:r>
            <a:r>
              <a:rPr kumimoji="0" lang="en-US" altLang="zh-CN" sz="1000" b="0" i="0" u="none" strike="noStrike" kern="1200" cap="none" spc="0" normalizeH="0" baseline="0" noProof="0" dirty="0">
                <a:ln>
                  <a:noFill/>
                </a:ln>
                <a:solidFill>
                  <a:srgbClr val="646464"/>
                </a:solidFill>
                <a:effectLst/>
                <a:uLnTx/>
                <a:uFillTx/>
                <a:latin typeface="Microsoft YaHei"/>
                <a:ea typeface="宋体" panose="02010600030101010101" pitchFamily="2" charset="-122"/>
                <a:cs typeface="+mn-cs"/>
              </a:rPr>
              <a:t>14 </a:t>
            </a:r>
            <a:r>
              <a:rPr kumimoji="0" lang="zh-CN" altLang="en-US" sz="1000" b="0" i="0" u="none" strike="noStrike" kern="1200" cap="none" spc="0" normalizeH="0" baseline="0" noProof="0" dirty="0">
                <a:ln>
                  <a:noFill/>
                </a:ln>
                <a:solidFill>
                  <a:srgbClr val="646464"/>
                </a:solidFill>
                <a:effectLst/>
                <a:uLnTx/>
                <a:uFillTx/>
                <a:latin typeface="Microsoft YaHei"/>
                <a:ea typeface="宋体" panose="02010600030101010101" pitchFamily="2" charset="-122"/>
                <a:cs typeface="+mn-cs"/>
              </a:rPr>
              <a:t>微调学习曲线</a:t>
            </a:r>
          </a:p>
        </p:txBody>
      </p:sp>
      <p:pic>
        <p:nvPicPr>
          <p:cNvPr id="15" name="图片 14">
            <a:extLst>
              <a:ext uri="{FF2B5EF4-FFF2-40B4-BE49-F238E27FC236}">
                <a16:creationId xmlns:a16="http://schemas.microsoft.com/office/drawing/2014/main" id="{551AEA62-2F82-CC85-1351-F581B26BED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0458" y="1455295"/>
            <a:ext cx="5292874" cy="22631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存在问题</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Open Issues</a:t>
            </a:r>
          </a:p>
        </p:txBody>
      </p:sp>
      <p:sp>
        <p:nvSpPr>
          <p:cNvPr id="5" name="Rounded Rectangle 4"/>
          <p:cNvSpPr/>
          <p:nvPr/>
        </p:nvSpPr>
        <p:spPr>
          <a:xfrm>
            <a:off x="685800" y="1143000"/>
            <a:ext cx="3657600" cy="15544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252728"/>
            <a:ext cx="3383280" cy="256032"/>
          </a:xfrm>
          <a:prstGeom prst="rect">
            <a:avLst/>
          </a:prstGeom>
          <a:noFill/>
        </p:spPr>
        <p:txBody>
          <a:bodyPr wrap="square" anchor="t">
            <a:spAutoFit/>
          </a:bodyPr>
          <a:lstStyle/>
          <a:p>
            <a:pPr algn="l"/>
            <a:r>
              <a:rPr sz="1600" b="1">
                <a:solidFill>
                  <a:srgbClr val="12376D"/>
                </a:solidFill>
                <a:latin typeface="Microsoft YaHei"/>
              </a:rPr>
              <a:t>1. OCR 基线检索异常</a:t>
            </a:r>
          </a:p>
        </p:txBody>
      </p:sp>
      <p:sp>
        <p:nvSpPr>
          <p:cNvPr id="7" name="TextBox 6"/>
          <p:cNvSpPr txBox="1"/>
          <p:nvPr/>
        </p:nvSpPr>
        <p:spPr>
          <a:xfrm>
            <a:off x="795528" y="1527048"/>
            <a:ext cx="3438144" cy="1097280"/>
          </a:xfrm>
          <a:prstGeom prst="rect">
            <a:avLst/>
          </a:prstGeom>
          <a:noFill/>
        </p:spPr>
        <p:txBody>
          <a:bodyPr wrap="square">
            <a:spAutoFit/>
          </a:bodyPr>
          <a:lstStyle/>
          <a:p>
            <a:pPr>
              <a:spcAft>
                <a:spcPts val="400"/>
              </a:spcAft>
              <a:defRPr sz="1300">
                <a:solidFill>
                  <a:srgbClr val="282828"/>
                </a:solidFill>
                <a:latin typeface="Microsoft YaHei"/>
              </a:defRPr>
            </a:pPr>
            <a:r>
              <a:t>OCR 基线索引构建不完整，导致 Recall@K、MRR 等指标失真。</a:t>
            </a:r>
          </a:p>
        </p:txBody>
      </p:sp>
      <p:sp>
        <p:nvSpPr>
          <p:cNvPr id="8" name="Rounded Rectangle 7"/>
          <p:cNvSpPr/>
          <p:nvPr/>
        </p:nvSpPr>
        <p:spPr>
          <a:xfrm>
            <a:off x="4572000" y="1143000"/>
            <a:ext cx="3657600" cy="15544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09160" y="1252728"/>
            <a:ext cx="3383280" cy="256032"/>
          </a:xfrm>
          <a:prstGeom prst="rect">
            <a:avLst/>
          </a:prstGeom>
          <a:noFill/>
        </p:spPr>
        <p:txBody>
          <a:bodyPr wrap="square" anchor="t">
            <a:spAutoFit/>
          </a:bodyPr>
          <a:lstStyle/>
          <a:p>
            <a:pPr algn="l"/>
            <a:r>
              <a:rPr sz="1600" b="1">
                <a:solidFill>
                  <a:srgbClr val="12376D"/>
                </a:solidFill>
                <a:latin typeface="Microsoft YaHei"/>
              </a:rPr>
              <a:t>2. 模型微调效果不够理想</a:t>
            </a:r>
          </a:p>
        </p:txBody>
      </p:sp>
      <p:sp>
        <p:nvSpPr>
          <p:cNvPr id="10" name="TextBox 9"/>
          <p:cNvSpPr txBox="1"/>
          <p:nvPr/>
        </p:nvSpPr>
        <p:spPr>
          <a:xfrm>
            <a:off x="4681728" y="1527048"/>
            <a:ext cx="3438144" cy="1097280"/>
          </a:xfrm>
          <a:prstGeom prst="rect">
            <a:avLst/>
          </a:prstGeom>
          <a:noFill/>
        </p:spPr>
        <p:txBody>
          <a:bodyPr wrap="square">
            <a:spAutoFit/>
          </a:bodyPr>
          <a:lstStyle/>
          <a:p>
            <a:pPr>
              <a:spcAft>
                <a:spcPts val="400"/>
              </a:spcAft>
              <a:defRPr sz="1300">
                <a:solidFill>
                  <a:srgbClr val="282828"/>
                </a:solidFill>
                <a:latin typeface="Microsoft YaHei"/>
              </a:defRPr>
            </a:pPr>
            <a:r>
              <a:t>当前微调虽完成阶段性训练与验证，但整体效果提升仍不够稳定。</a:t>
            </a:r>
          </a:p>
        </p:txBody>
      </p:sp>
      <p:sp>
        <p:nvSpPr>
          <p:cNvPr id="11" name="Rounded Rectangle 10"/>
          <p:cNvSpPr/>
          <p:nvPr/>
        </p:nvSpPr>
        <p:spPr>
          <a:xfrm>
            <a:off x="685800" y="2971800"/>
            <a:ext cx="3657600" cy="15544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081528"/>
            <a:ext cx="3383280" cy="256032"/>
          </a:xfrm>
          <a:prstGeom prst="rect">
            <a:avLst/>
          </a:prstGeom>
          <a:noFill/>
        </p:spPr>
        <p:txBody>
          <a:bodyPr wrap="square" anchor="t">
            <a:spAutoFit/>
          </a:bodyPr>
          <a:lstStyle/>
          <a:p>
            <a:pPr algn="l"/>
            <a:r>
              <a:rPr sz="1600" b="1">
                <a:solidFill>
                  <a:srgbClr val="12376D"/>
                </a:solidFill>
                <a:latin typeface="Microsoft YaHei"/>
              </a:rPr>
              <a:t>3. 系统响应速度仍有待提升</a:t>
            </a:r>
          </a:p>
        </p:txBody>
      </p:sp>
      <p:sp>
        <p:nvSpPr>
          <p:cNvPr id="13" name="TextBox 12"/>
          <p:cNvSpPr txBox="1"/>
          <p:nvPr/>
        </p:nvSpPr>
        <p:spPr>
          <a:xfrm>
            <a:off x="795528" y="3355848"/>
            <a:ext cx="3438144" cy="1097280"/>
          </a:xfrm>
          <a:prstGeom prst="rect">
            <a:avLst/>
          </a:prstGeom>
          <a:noFill/>
        </p:spPr>
        <p:txBody>
          <a:bodyPr wrap="square">
            <a:spAutoFit/>
          </a:bodyPr>
          <a:lstStyle/>
          <a:p>
            <a:pPr>
              <a:spcAft>
                <a:spcPts val="400"/>
              </a:spcAft>
              <a:defRPr sz="1300">
                <a:solidFill>
                  <a:srgbClr val="282828"/>
                </a:solidFill>
                <a:latin typeface="Microsoft YaHei"/>
              </a:defRPr>
            </a:pPr>
            <a:r>
              <a:t>RAG 链路和多模态问答受串行检索优化策略和 IO 操作影响，延迟较大。</a:t>
            </a:r>
          </a:p>
        </p:txBody>
      </p:sp>
      <p:sp>
        <p:nvSpPr>
          <p:cNvPr id="14" name="Rounded Rectangle 13"/>
          <p:cNvSpPr/>
          <p:nvPr/>
        </p:nvSpPr>
        <p:spPr>
          <a:xfrm>
            <a:off x="4572000" y="2971800"/>
            <a:ext cx="3657600" cy="15544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09160" y="3081528"/>
            <a:ext cx="3383280" cy="256032"/>
          </a:xfrm>
          <a:prstGeom prst="rect">
            <a:avLst/>
          </a:prstGeom>
          <a:noFill/>
        </p:spPr>
        <p:txBody>
          <a:bodyPr wrap="square" anchor="t">
            <a:spAutoFit/>
          </a:bodyPr>
          <a:lstStyle/>
          <a:p>
            <a:pPr algn="l"/>
            <a:r>
              <a:rPr sz="1600" b="1">
                <a:solidFill>
                  <a:srgbClr val="12376D"/>
                </a:solidFill>
                <a:latin typeface="Microsoft YaHei"/>
              </a:rPr>
              <a:t>4. 工程化与鲁棒性仍存在不足</a:t>
            </a:r>
          </a:p>
        </p:txBody>
      </p:sp>
      <p:sp>
        <p:nvSpPr>
          <p:cNvPr id="16" name="TextBox 15"/>
          <p:cNvSpPr txBox="1"/>
          <p:nvPr/>
        </p:nvSpPr>
        <p:spPr>
          <a:xfrm>
            <a:off x="4681728" y="3355848"/>
            <a:ext cx="3438144" cy="1097280"/>
          </a:xfrm>
          <a:prstGeom prst="rect">
            <a:avLst/>
          </a:prstGeom>
          <a:noFill/>
        </p:spPr>
        <p:txBody>
          <a:bodyPr wrap="square">
            <a:spAutoFit/>
          </a:bodyPr>
          <a:lstStyle/>
          <a:p>
            <a:pPr>
              <a:spcAft>
                <a:spcPts val="400"/>
              </a:spcAft>
              <a:defRPr sz="1300">
                <a:solidFill>
                  <a:srgbClr val="282828"/>
                </a:solidFill>
                <a:latin typeface="Microsoft YaHei"/>
              </a:defRPr>
            </a:pPr>
            <a:r>
              <a:t>异常处理、性能优化、恢复机制和工程化规范方面仍有提升空间。</a:t>
            </a:r>
          </a:p>
        </p:txBody>
      </p:sp>
      <p:sp>
        <p:nvSpPr>
          <p:cNvPr id="17" name="Rectangle 16"/>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内容依据：中期报告“存在问题”</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下一阶段工作计划</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Next Steps</a:t>
            </a:r>
          </a:p>
        </p:txBody>
      </p:sp>
      <p:sp>
        <p:nvSpPr>
          <p:cNvPr id="5" name="Rounded Rectangle 4"/>
          <p:cNvSpPr/>
          <p:nvPr/>
        </p:nvSpPr>
        <p:spPr>
          <a:xfrm>
            <a:off x="640080" y="1051560"/>
            <a:ext cx="3611880" cy="1024128"/>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161288"/>
            <a:ext cx="627202" cy="369332"/>
          </a:xfrm>
          <a:prstGeom prst="rect">
            <a:avLst/>
          </a:prstGeom>
          <a:noFill/>
        </p:spPr>
        <p:txBody>
          <a:bodyPr wrap="square" anchor="t">
            <a:spAutoFit/>
          </a:bodyPr>
          <a:lstStyle/>
          <a:p>
            <a:pPr algn="l"/>
            <a:r>
              <a:rPr sz="1800" b="1" dirty="0">
                <a:solidFill>
                  <a:srgbClr val="B72F2F"/>
                </a:solidFill>
                <a:latin typeface="Microsoft YaHei"/>
              </a:rPr>
              <a:t>01</a:t>
            </a:r>
          </a:p>
        </p:txBody>
      </p:sp>
      <p:sp>
        <p:nvSpPr>
          <p:cNvPr id="7" name="TextBox 6"/>
          <p:cNvSpPr txBox="1"/>
          <p:nvPr/>
        </p:nvSpPr>
        <p:spPr>
          <a:xfrm>
            <a:off x="1143000" y="1161288"/>
            <a:ext cx="3108960" cy="323165"/>
          </a:xfrm>
          <a:prstGeom prst="rect">
            <a:avLst/>
          </a:prstGeom>
          <a:noFill/>
        </p:spPr>
        <p:txBody>
          <a:bodyPr wrap="square" anchor="t">
            <a:spAutoFit/>
          </a:bodyPr>
          <a:lstStyle/>
          <a:p>
            <a:pPr algn="l"/>
            <a:r>
              <a:rPr sz="1500" b="1" dirty="0">
                <a:solidFill>
                  <a:srgbClr val="12376D"/>
                </a:solidFill>
                <a:latin typeface="Microsoft YaHei"/>
              </a:rPr>
              <a:t>OCR </a:t>
            </a:r>
            <a:r>
              <a:rPr sz="1500" b="1" dirty="0" err="1">
                <a:solidFill>
                  <a:srgbClr val="12376D"/>
                </a:solidFill>
                <a:latin typeface="Microsoft YaHei"/>
              </a:rPr>
              <a:t>基线问题修复与重跑实验</a:t>
            </a:r>
            <a:endParaRPr sz="1500" b="1" dirty="0">
              <a:solidFill>
                <a:srgbClr val="12376D"/>
              </a:solidFill>
              <a:latin typeface="Microsoft YaHei"/>
            </a:endParaRPr>
          </a:p>
        </p:txBody>
      </p:sp>
      <p:sp>
        <p:nvSpPr>
          <p:cNvPr id="8" name="TextBox 7"/>
          <p:cNvSpPr txBox="1"/>
          <p:nvPr/>
        </p:nvSpPr>
        <p:spPr>
          <a:xfrm>
            <a:off x="1143000" y="1472184"/>
            <a:ext cx="2743200" cy="461665"/>
          </a:xfrm>
          <a:prstGeom prst="rect">
            <a:avLst/>
          </a:prstGeom>
          <a:noFill/>
        </p:spPr>
        <p:txBody>
          <a:bodyPr wrap="square" anchor="t">
            <a:spAutoFit/>
          </a:bodyPr>
          <a:lstStyle/>
          <a:p>
            <a:pPr algn="l"/>
            <a:r>
              <a:rPr sz="1200" b="0" dirty="0" err="1">
                <a:solidFill>
                  <a:srgbClr val="282828"/>
                </a:solidFill>
                <a:latin typeface="宋体" panose="02010600030101010101" pitchFamily="2" charset="-122"/>
              </a:rPr>
              <a:t>诊断并修复</a:t>
            </a:r>
            <a:r>
              <a:rPr sz="1200" b="0" dirty="0">
                <a:solidFill>
                  <a:srgbClr val="282828"/>
                </a:solidFill>
                <a:latin typeface="宋体" panose="02010600030101010101" pitchFamily="2" charset="-122"/>
              </a:rPr>
              <a:t> OCR </a:t>
            </a:r>
            <a:r>
              <a:rPr sz="1200" b="0" dirty="0" err="1">
                <a:solidFill>
                  <a:srgbClr val="282828"/>
                </a:solidFill>
                <a:latin typeface="宋体" panose="02010600030101010101" pitchFamily="2" charset="-122"/>
              </a:rPr>
              <a:t>索引构建问题，重新构建索引并重跑受影响评估</a:t>
            </a:r>
            <a:r>
              <a:rPr sz="1200" b="0" dirty="0">
                <a:solidFill>
                  <a:srgbClr val="282828"/>
                </a:solidFill>
                <a:latin typeface="宋体" panose="02010600030101010101" pitchFamily="2" charset="-122"/>
              </a:rPr>
              <a:t>。</a:t>
            </a:r>
          </a:p>
        </p:txBody>
      </p:sp>
      <p:sp>
        <p:nvSpPr>
          <p:cNvPr id="9" name="Rounded Rectangle 8"/>
          <p:cNvSpPr/>
          <p:nvPr/>
        </p:nvSpPr>
        <p:spPr>
          <a:xfrm>
            <a:off x="1116410" y="2343287"/>
            <a:ext cx="3611879" cy="1165361"/>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53571" y="2453015"/>
            <a:ext cx="599842" cy="369332"/>
          </a:xfrm>
          <a:prstGeom prst="rect">
            <a:avLst/>
          </a:prstGeom>
          <a:noFill/>
        </p:spPr>
        <p:txBody>
          <a:bodyPr wrap="square" anchor="t">
            <a:spAutoFit/>
          </a:bodyPr>
          <a:lstStyle/>
          <a:p>
            <a:pPr algn="l"/>
            <a:r>
              <a:rPr sz="1800" b="1">
                <a:solidFill>
                  <a:srgbClr val="B72F2F"/>
                </a:solidFill>
                <a:latin typeface="Microsoft YaHei"/>
              </a:rPr>
              <a:t>02</a:t>
            </a:r>
          </a:p>
        </p:txBody>
      </p:sp>
      <p:sp>
        <p:nvSpPr>
          <p:cNvPr id="11" name="TextBox 10"/>
          <p:cNvSpPr txBox="1"/>
          <p:nvPr/>
        </p:nvSpPr>
        <p:spPr>
          <a:xfrm>
            <a:off x="1646688" y="2465403"/>
            <a:ext cx="3186411" cy="323165"/>
          </a:xfrm>
          <a:prstGeom prst="rect">
            <a:avLst/>
          </a:prstGeom>
          <a:noFill/>
        </p:spPr>
        <p:txBody>
          <a:bodyPr wrap="square" anchor="t">
            <a:spAutoFit/>
          </a:bodyPr>
          <a:lstStyle/>
          <a:p>
            <a:pPr algn="l"/>
            <a:r>
              <a:rPr sz="1500" b="1" dirty="0" err="1">
                <a:solidFill>
                  <a:srgbClr val="12376D"/>
                </a:solidFill>
                <a:latin typeface="Microsoft YaHei"/>
              </a:rPr>
              <a:t>继续优化模型微调与图像描述能力</a:t>
            </a:r>
            <a:endParaRPr sz="1500" b="1" dirty="0">
              <a:solidFill>
                <a:srgbClr val="12376D"/>
              </a:solidFill>
              <a:latin typeface="Microsoft YaHei"/>
            </a:endParaRPr>
          </a:p>
        </p:txBody>
      </p:sp>
      <p:sp>
        <p:nvSpPr>
          <p:cNvPr id="12" name="TextBox 11"/>
          <p:cNvSpPr txBox="1"/>
          <p:nvPr/>
        </p:nvSpPr>
        <p:spPr>
          <a:xfrm>
            <a:off x="1619330" y="2763911"/>
            <a:ext cx="2743200" cy="646331"/>
          </a:xfrm>
          <a:prstGeom prst="rect">
            <a:avLst/>
          </a:prstGeom>
          <a:noFill/>
        </p:spPr>
        <p:txBody>
          <a:bodyPr wrap="square" anchor="t">
            <a:spAutoFit/>
          </a:bodyPr>
          <a:lstStyle/>
          <a:p>
            <a:pPr algn="l"/>
            <a:r>
              <a:rPr lang="zh-CN" altLang="en-US" sz="1200" b="0" dirty="0">
                <a:solidFill>
                  <a:srgbClr val="282828"/>
                </a:solidFill>
                <a:latin typeface="宋体" panose="02010600030101010101" pitchFamily="2" charset="-122"/>
              </a:rPr>
              <a:t>争取使小参数模型在格式遵循、语义概括、细节提取和关键词生成等方面进一步接近 </a:t>
            </a:r>
            <a:r>
              <a:rPr lang="en-US" altLang="zh-CN" sz="1200" b="0" dirty="0">
                <a:solidFill>
                  <a:srgbClr val="282828"/>
                </a:solidFill>
                <a:latin typeface="宋体" panose="02010600030101010101" pitchFamily="2" charset="-122"/>
              </a:rPr>
              <a:t>qwen3.5-plus </a:t>
            </a:r>
            <a:r>
              <a:rPr lang="zh-CN" altLang="en-US" sz="1200" b="0" dirty="0">
                <a:solidFill>
                  <a:srgbClr val="282828"/>
                </a:solidFill>
                <a:latin typeface="宋体" panose="02010600030101010101" pitchFamily="2" charset="-122"/>
              </a:rPr>
              <a:t>的表现。</a:t>
            </a:r>
            <a:endParaRPr sz="1200" b="0" dirty="0">
              <a:solidFill>
                <a:srgbClr val="282828"/>
              </a:solidFill>
              <a:latin typeface="宋体" panose="02010600030101010101" pitchFamily="2" charset="-122"/>
            </a:endParaRPr>
          </a:p>
        </p:txBody>
      </p:sp>
      <p:sp>
        <p:nvSpPr>
          <p:cNvPr id="13" name="Rounded Rectangle 12"/>
          <p:cNvSpPr/>
          <p:nvPr/>
        </p:nvSpPr>
        <p:spPr>
          <a:xfrm>
            <a:off x="633771" y="3784591"/>
            <a:ext cx="3611879" cy="1092209"/>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0931" y="3894319"/>
            <a:ext cx="535877" cy="369332"/>
          </a:xfrm>
          <a:prstGeom prst="rect">
            <a:avLst/>
          </a:prstGeom>
          <a:noFill/>
        </p:spPr>
        <p:txBody>
          <a:bodyPr wrap="square" anchor="t">
            <a:spAutoFit/>
          </a:bodyPr>
          <a:lstStyle/>
          <a:p>
            <a:pPr algn="l"/>
            <a:r>
              <a:rPr sz="1800" b="1" dirty="0">
                <a:solidFill>
                  <a:srgbClr val="B72F2F"/>
                </a:solidFill>
                <a:latin typeface="Microsoft YaHei"/>
              </a:rPr>
              <a:t>03</a:t>
            </a:r>
          </a:p>
        </p:txBody>
      </p:sp>
      <p:sp>
        <p:nvSpPr>
          <p:cNvPr id="15" name="TextBox 14"/>
          <p:cNvSpPr txBox="1"/>
          <p:nvPr/>
        </p:nvSpPr>
        <p:spPr>
          <a:xfrm>
            <a:off x="1164051" y="3905563"/>
            <a:ext cx="3463848" cy="323165"/>
          </a:xfrm>
          <a:prstGeom prst="rect">
            <a:avLst/>
          </a:prstGeom>
          <a:noFill/>
        </p:spPr>
        <p:txBody>
          <a:bodyPr wrap="square" anchor="t">
            <a:spAutoFit/>
          </a:bodyPr>
          <a:lstStyle/>
          <a:p>
            <a:pPr algn="l"/>
            <a:r>
              <a:rPr sz="1500" b="1" dirty="0" err="1">
                <a:solidFill>
                  <a:srgbClr val="12376D"/>
                </a:solidFill>
                <a:latin typeface="Microsoft YaHei"/>
              </a:rPr>
              <a:t>完善多模态</a:t>
            </a:r>
            <a:r>
              <a:rPr sz="1500" b="1" dirty="0">
                <a:solidFill>
                  <a:srgbClr val="12376D"/>
                </a:solidFill>
                <a:latin typeface="Microsoft YaHei"/>
              </a:rPr>
              <a:t> RAG </a:t>
            </a:r>
            <a:r>
              <a:rPr sz="1500" b="1" dirty="0" err="1">
                <a:solidFill>
                  <a:srgbClr val="12376D"/>
                </a:solidFill>
                <a:latin typeface="Microsoft YaHei"/>
              </a:rPr>
              <a:t>链路</a:t>
            </a:r>
            <a:endParaRPr sz="1500" b="1" dirty="0">
              <a:solidFill>
                <a:srgbClr val="12376D"/>
              </a:solidFill>
              <a:latin typeface="Microsoft YaHei"/>
            </a:endParaRPr>
          </a:p>
        </p:txBody>
      </p:sp>
      <p:sp>
        <p:nvSpPr>
          <p:cNvPr id="16" name="TextBox 15"/>
          <p:cNvSpPr txBox="1"/>
          <p:nvPr/>
        </p:nvSpPr>
        <p:spPr>
          <a:xfrm>
            <a:off x="1136692" y="4205215"/>
            <a:ext cx="2895258" cy="646331"/>
          </a:xfrm>
          <a:prstGeom prst="rect">
            <a:avLst/>
          </a:prstGeom>
          <a:noFill/>
        </p:spPr>
        <p:txBody>
          <a:bodyPr wrap="square" anchor="t">
            <a:spAutoFit/>
          </a:bodyPr>
          <a:lstStyle/>
          <a:p>
            <a:pPr algn="l"/>
            <a:r>
              <a:rPr lang="zh-CN" altLang="en-US" sz="1200" b="0" dirty="0">
                <a:solidFill>
                  <a:srgbClr val="282828"/>
                </a:solidFill>
                <a:latin typeface="Microsoft YaHei"/>
              </a:rPr>
              <a:t>进一步优化检索与问答链路</a:t>
            </a:r>
            <a:r>
              <a:rPr lang="zh-CN" altLang="en-US" sz="1200" dirty="0">
                <a:solidFill>
                  <a:srgbClr val="282828"/>
                </a:solidFill>
                <a:latin typeface="Microsoft YaHei"/>
              </a:rPr>
              <a:t>，降低系统问答延迟时间，实现检索精确度与效率的统一。</a:t>
            </a:r>
            <a:endParaRPr sz="1200" b="0" dirty="0">
              <a:solidFill>
                <a:srgbClr val="282828"/>
              </a:solidFill>
              <a:latin typeface="Microsoft YaHei"/>
            </a:endParaRPr>
          </a:p>
        </p:txBody>
      </p:sp>
      <p:sp>
        <p:nvSpPr>
          <p:cNvPr id="17" name="Rounded Rectangle 16"/>
          <p:cNvSpPr/>
          <p:nvPr/>
        </p:nvSpPr>
        <p:spPr>
          <a:xfrm>
            <a:off x="4914498" y="1420416"/>
            <a:ext cx="3474720" cy="1105331"/>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51658" y="1530144"/>
            <a:ext cx="559872" cy="369332"/>
          </a:xfrm>
          <a:prstGeom prst="rect">
            <a:avLst/>
          </a:prstGeom>
          <a:noFill/>
        </p:spPr>
        <p:txBody>
          <a:bodyPr wrap="square" anchor="t">
            <a:spAutoFit/>
          </a:bodyPr>
          <a:lstStyle/>
          <a:p>
            <a:pPr algn="l"/>
            <a:r>
              <a:rPr sz="1800" b="1" dirty="0">
                <a:solidFill>
                  <a:srgbClr val="B72F2F"/>
                </a:solidFill>
                <a:latin typeface="Microsoft YaHei"/>
              </a:rPr>
              <a:t>04</a:t>
            </a:r>
          </a:p>
        </p:txBody>
      </p:sp>
      <p:sp>
        <p:nvSpPr>
          <p:cNvPr id="19" name="TextBox 18"/>
          <p:cNvSpPr txBox="1"/>
          <p:nvPr/>
        </p:nvSpPr>
        <p:spPr>
          <a:xfrm>
            <a:off x="5417417" y="1530144"/>
            <a:ext cx="2743200" cy="228600"/>
          </a:xfrm>
          <a:prstGeom prst="rect">
            <a:avLst/>
          </a:prstGeom>
          <a:noFill/>
        </p:spPr>
        <p:txBody>
          <a:bodyPr wrap="square" anchor="t">
            <a:spAutoFit/>
          </a:bodyPr>
          <a:lstStyle/>
          <a:p>
            <a:pPr algn="l"/>
            <a:r>
              <a:rPr sz="1500" b="1">
                <a:solidFill>
                  <a:srgbClr val="12376D"/>
                </a:solidFill>
                <a:latin typeface="Microsoft YaHei"/>
              </a:rPr>
              <a:t>加强测试并完善系统功能体验</a:t>
            </a:r>
          </a:p>
        </p:txBody>
      </p:sp>
      <p:sp>
        <p:nvSpPr>
          <p:cNvPr id="20" name="TextBox 19"/>
          <p:cNvSpPr txBox="1"/>
          <p:nvPr/>
        </p:nvSpPr>
        <p:spPr>
          <a:xfrm>
            <a:off x="5417417" y="1841040"/>
            <a:ext cx="2743200" cy="461665"/>
          </a:xfrm>
          <a:prstGeom prst="rect">
            <a:avLst/>
          </a:prstGeom>
          <a:noFill/>
        </p:spPr>
        <p:txBody>
          <a:bodyPr wrap="square" anchor="t">
            <a:spAutoFit/>
          </a:bodyPr>
          <a:lstStyle/>
          <a:p>
            <a:pPr algn="l"/>
            <a:r>
              <a:rPr sz="1200" b="0" dirty="0" err="1">
                <a:solidFill>
                  <a:srgbClr val="282828"/>
                </a:solidFill>
                <a:latin typeface="宋体" panose="02010600030101010101" pitchFamily="2" charset="-122"/>
              </a:rPr>
              <a:t>补充边界场景处理</a:t>
            </a:r>
            <a:r>
              <a:rPr sz="1200" b="0" dirty="0">
                <a:solidFill>
                  <a:srgbClr val="282828"/>
                </a:solidFill>
                <a:latin typeface="宋体" panose="02010600030101010101" pitchFamily="2" charset="-122"/>
              </a:rPr>
              <a:t>，</a:t>
            </a:r>
            <a:r>
              <a:rPr lang="zh-CN" altLang="en-US" sz="1200" b="0" dirty="0">
                <a:solidFill>
                  <a:srgbClr val="282828"/>
                </a:solidFill>
                <a:latin typeface="宋体" panose="02010600030101010101" pitchFamily="2" charset="-122"/>
              </a:rPr>
              <a:t>提升系统整体稳定性与使用体验。</a:t>
            </a:r>
            <a:endParaRPr sz="1200" b="0" dirty="0">
              <a:solidFill>
                <a:srgbClr val="282828"/>
              </a:solidFill>
              <a:latin typeface="宋体" panose="02010600030101010101" pitchFamily="2" charset="-122"/>
            </a:endParaRPr>
          </a:p>
        </p:txBody>
      </p:sp>
      <p:sp>
        <p:nvSpPr>
          <p:cNvPr id="21" name="Rounded Rectangle 20"/>
          <p:cNvSpPr/>
          <p:nvPr/>
        </p:nvSpPr>
        <p:spPr>
          <a:xfrm>
            <a:off x="4842490" y="3576301"/>
            <a:ext cx="3474720" cy="1084475"/>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979649" y="3686029"/>
            <a:ext cx="634971" cy="369332"/>
          </a:xfrm>
          <a:prstGeom prst="rect">
            <a:avLst/>
          </a:prstGeom>
          <a:noFill/>
        </p:spPr>
        <p:txBody>
          <a:bodyPr wrap="square" anchor="t">
            <a:spAutoFit/>
          </a:bodyPr>
          <a:lstStyle/>
          <a:p>
            <a:pPr algn="l"/>
            <a:r>
              <a:rPr sz="1800" b="1" dirty="0">
                <a:solidFill>
                  <a:srgbClr val="B72F2F"/>
                </a:solidFill>
                <a:latin typeface="Microsoft YaHei"/>
              </a:rPr>
              <a:t>05</a:t>
            </a:r>
          </a:p>
        </p:txBody>
      </p:sp>
      <p:sp>
        <p:nvSpPr>
          <p:cNvPr id="23" name="TextBox 22"/>
          <p:cNvSpPr txBox="1"/>
          <p:nvPr/>
        </p:nvSpPr>
        <p:spPr>
          <a:xfrm>
            <a:off x="5345410" y="3686029"/>
            <a:ext cx="2743200" cy="228600"/>
          </a:xfrm>
          <a:prstGeom prst="rect">
            <a:avLst/>
          </a:prstGeom>
          <a:noFill/>
        </p:spPr>
        <p:txBody>
          <a:bodyPr wrap="square" anchor="t">
            <a:spAutoFit/>
          </a:bodyPr>
          <a:lstStyle/>
          <a:p>
            <a:pPr algn="l"/>
            <a:r>
              <a:rPr sz="1500" b="1">
                <a:solidFill>
                  <a:srgbClr val="12376D"/>
                </a:solidFill>
                <a:latin typeface="Microsoft YaHei"/>
              </a:rPr>
              <a:t>推进论文初稿撰写与材料整理</a:t>
            </a:r>
          </a:p>
        </p:txBody>
      </p:sp>
      <p:sp>
        <p:nvSpPr>
          <p:cNvPr id="24" name="TextBox 23"/>
          <p:cNvSpPr txBox="1"/>
          <p:nvPr/>
        </p:nvSpPr>
        <p:spPr>
          <a:xfrm>
            <a:off x="5345410" y="3996925"/>
            <a:ext cx="2743200" cy="646331"/>
          </a:xfrm>
          <a:prstGeom prst="rect">
            <a:avLst/>
          </a:prstGeom>
          <a:noFill/>
        </p:spPr>
        <p:txBody>
          <a:bodyPr wrap="square" anchor="t">
            <a:spAutoFit/>
          </a:bodyPr>
          <a:lstStyle/>
          <a:p>
            <a:pPr algn="l"/>
            <a:r>
              <a:rPr sz="1200" b="0" dirty="0" err="1">
                <a:solidFill>
                  <a:srgbClr val="282828"/>
                </a:solidFill>
                <a:latin typeface="宋体" panose="02010600030101010101" pitchFamily="2" charset="-122"/>
              </a:rPr>
              <a:t>整理系统架构图、流程图、界面截图</a:t>
            </a:r>
            <a:r>
              <a:rPr lang="zh-CN" altLang="en-US" sz="1200" b="0" dirty="0">
                <a:solidFill>
                  <a:srgbClr val="282828"/>
                </a:solidFill>
                <a:latin typeface="宋体" panose="02010600030101010101" pitchFamily="2" charset="-122"/>
              </a:rPr>
              <a:t>等以及</a:t>
            </a:r>
            <a:r>
              <a:rPr sz="1200" b="0" dirty="0" err="1">
                <a:solidFill>
                  <a:srgbClr val="282828"/>
                </a:solidFill>
                <a:latin typeface="宋体" panose="02010600030101010101" pitchFamily="2" charset="-122"/>
              </a:rPr>
              <a:t>实验结果材料</a:t>
            </a:r>
            <a:r>
              <a:rPr lang="zh-CN" altLang="en-US" sz="1200" b="0" dirty="0">
                <a:solidFill>
                  <a:srgbClr val="282828"/>
                </a:solidFill>
                <a:latin typeface="宋体" panose="02010600030101010101" pitchFamily="2" charset="-122"/>
              </a:rPr>
              <a:t>，同步推进毕业论文初稿撰写工作</a:t>
            </a:r>
            <a:r>
              <a:rPr sz="1200" b="0" dirty="0">
                <a:solidFill>
                  <a:srgbClr val="282828"/>
                </a:solidFill>
                <a:latin typeface="宋体" panose="02010600030101010101" pitchFamily="2" charset="-122"/>
              </a:rPr>
              <a:t>。</a:t>
            </a:r>
          </a:p>
        </p:txBody>
      </p:sp>
      <p:sp>
        <p:nvSpPr>
          <p:cNvPr id="25" name="Rectangle 24"/>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内容依据：中期报告“下一阶段工作计划”</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965960"/>
            <a:ext cx="6858000" cy="731520"/>
          </a:xfrm>
          <a:prstGeom prst="rect">
            <a:avLst/>
          </a:prstGeom>
          <a:noFill/>
        </p:spPr>
        <p:txBody>
          <a:bodyPr wrap="square" anchor="t">
            <a:spAutoFit/>
          </a:bodyPr>
          <a:lstStyle/>
          <a:p>
            <a:pPr algn="ctr"/>
            <a:r>
              <a:rPr sz="3000" b="1">
                <a:solidFill>
                  <a:srgbClr val="12376D"/>
                </a:solidFill>
                <a:latin typeface="Microsoft YaHei"/>
              </a:rPr>
              <a:t>汇报完毕  谢谢老师</a:t>
            </a:r>
          </a:p>
        </p:txBody>
      </p:sp>
      <p:sp>
        <p:nvSpPr>
          <p:cNvPr id="3" name="TextBox 2"/>
          <p:cNvSpPr txBox="1"/>
          <p:nvPr/>
        </p:nvSpPr>
        <p:spPr>
          <a:xfrm>
            <a:off x="2011680" y="3063240"/>
            <a:ext cx="4754880" cy="369332"/>
          </a:xfrm>
          <a:prstGeom prst="rect">
            <a:avLst/>
          </a:prstGeom>
          <a:noFill/>
        </p:spPr>
        <p:txBody>
          <a:bodyPr wrap="square" anchor="t">
            <a:spAutoFit/>
          </a:bodyPr>
          <a:lstStyle/>
          <a:p>
            <a:pPr algn="ctr"/>
            <a:r>
              <a:rPr sz="1800" b="0" dirty="0">
                <a:solidFill>
                  <a:srgbClr val="646464"/>
                </a:solidFill>
                <a:latin typeface="Microsoft YaHei"/>
              </a:rPr>
              <a:t>张琪  |  计算机2202</a:t>
            </a:r>
          </a:p>
        </p:txBody>
      </p:sp>
      <p:sp>
        <p:nvSpPr>
          <p:cNvPr id="4" name="TextBox 3"/>
          <p:cNvSpPr txBox="1"/>
          <p:nvPr/>
        </p:nvSpPr>
        <p:spPr>
          <a:xfrm>
            <a:off x="2560320" y="3703320"/>
            <a:ext cx="3840480" cy="365760"/>
          </a:xfrm>
          <a:prstGeom prst="rect">
            <a:avLst/>
          </a:prstGeom>
          <a:noFill/>
        </p:spPr>
        <p:txBody>
          <a:bodyPr wrap="square" anchor="t">
            <a:spAutoFit/>
          </a:bodyPr>
          <a:lstStyle/>
          <a:p>
            <a:pPr algn="ctr"/>
            <a:r>
              <a:rPr sz="1600" b="0" dirty="0">
                <a:solidFill>
                  <a:srgbClr val="B72F2F"/>
                </a:solidFill>
                <a:latin typeface="Microsoft YaHei"/>
              </a:rPr>
              <a:t>2026年4月</a:t>
            </a:r>
          </a:p>
        </p:txBody>
      </p:sp>
      <p:sp>
        <p:nvSpPr>
          <p:cNvPr id="5" name="Rectangle 4"/>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中期汇报</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9E7965BD-BA7C-4284-B303-3DF26FF20985"/>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OUTPUT_FOLDER" val="C:\Users\Administrator\Desktop"/>
  <p:tag name="ISPRING_SCORM_PASSING_SCORE" val="100.000000"/>
  <p:tag name="ISPRING_SCORM_ENDPOINT" val="&lt;endpoint&gt;&lt;enable&gt;0&lt;/enable&gt;&lt;lrs&gt;http://&lt;/lrs&gt;&lt;auth&gt;0&lt;/auth&gt;&lt;login&gt;&lt;/login&gt;&lt;password&gt;&lt;/password&gt;&lt;key&gt;&lt;/key&gt;&lt;name&gt;&lt;/name&gt;&lt;email&gt;&lt;/email&gt;&lt;/endpoint&gt;&#10;"/>
  <p:tag name="ISPRING_PRESENTATION_TITLE" val="bt247"/>
</p:tagLst>
</file>

<file path=ppt/theme/theme1.xml><?xml version="1.0" encoding="utf-8"?>
<a:theme xmlns:a="http://schemas.openxmlformats.org/drawingml/2006/main" name="自定义设计方案">
  <a:themeElements>
    <a:clrScheme name="自定义 54">
      <a:dk1>
        <a:srgbClr val="000000"/>
      </a:dk1>
      <a:lt1>
        <a:srgbClr val="FFFFFF"/>
      </a:lt1>
      <a:dk2>
        <a:srgbClr val="44546A"/>
      </a:dk2>
      <a:lt2>
        <a:srgbClr val="E7E6E6"/>
      </a:lt2>
      <a:accent1>
        <a:srgbClr val="205381"/>
      </a:accent1>
      <a:accent2>
        <a:srgbClr val="FFC56C"/>
      </a:accent2>
      <a:accent3>
        <a:srgbClr val="A5A5A5"/>
      </a:accent3>
      <a:accent4>
        <a:srgbClr val="205381"/>
      </a:accent4>
      <a:accent5>
        <a:srgbClr val="FFC000"/>
      </a:accent5>
      <a:accent6>
        <a:srgbClr val="FF5959"/>
      </a:accent6>
      <a:hlink>
        <a:srgbClr val="0563C1"/>
      </a:hlink>
      <a:folHlink>
        <a:srgbClr val="954F72"/>
      </a:folHlink>
    </a:clrScheme>
    <a:fontScheme name="自定义 1">
      <a:majorFont>
        <a:latin typeface="Franklin Gothic Medium"/>
        <a:ea typeface="微软雅黑"/>
        <a:cs typeface=""/>
      </a:majorFont>
      <a:minorFont>
        <a:latin typeface="Microsoft Sans Serif"/>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1627</Words>
  <Application>Microsoft Office PowerPoint</Application>
  <PresentationFormat>自定义</PresentationFormat>
  <Paragraphs>214</Paragraphs>
  <Slides>28</Slides>
  <Notes>28</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28</vt:i4>
      </vt:variant>
    </vt:vector>
  </HeadingPairs>
  <TitlesOfParts>
    <vt:vector size="34" baseType="lpstr">
      <vt:lpstr>宋体</vt:lpstr>
      <vt:lpstr>微软雅黑</vt:lpstr>
      <vt:lpstr>微软雅黑</vt:lpstr>
      <vt:lpstr>Arial</vt:lpstr>
      <vt:lpstr>Calibri</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简约长投影工作总结汇报述职报告PPT模板</dc:title>
  <dc:creator/>
  <cp:lastModifiedBy/>
  <cp:revision>1</cp:revision>
  <dcterms:created xsi:type="dcterms:W3CDTF">2016-12-03T15:58:36Z</dcterms:created>
  <dcterms:modified xsi:type="dcterms:W3CDTF">2026-04-09T13:51:17Z</dcterms:modified>
</cp:coreProperties>
</file>