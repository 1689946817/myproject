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7" r:id="rId1"/>
  </p:sldMasterIdLst>
  <p:notesMasterIdLst>
    <p:notesMasterId r:id="rId30"/>
  </p:notesMasterIdLst>
  <p:handoutMasterIdLst>
    <p:handoutMasterId r:id="rId31"/>
  </p:handoutMasterIdLst>
  <p:sldIdLst>
    <p:sldId id="256" r:id="rId2"/>
    <p:sldId id="257" r:id="rId3"/>
    <p:sldId id="258" r:id="rId4"/>
    <p:sldId id="259" r:id="rId5"/>
    <p:sldId id="260" r:id="rId6"/>
    <p:sldId id="270" r:id="rId7"/>
    <p:sldId id="261" r:id="rId8"/>
    <p:sldId id="271" r:id="rId9"/>
    <p:sldId id="262" r:id="rId10"/>
    <p:sldId id="272" r:id="rId11"/>
    <p:sldId id="263" r:id="rId12"/>
    <p:sldId id="264" r:id="rId13"/>
    <p:sldId id="281" r:id="rId14"/>
    <p:sldId id="274" r:id="rId15"/>
    <p:sldId id="283" r:id="rId16"/>
    <p:sldId id="280" r:id="rId17"/>
    <p:sldId id="282" r:id="rId18"/>
    <p:sldId id="275" r:id="rId19"/>
    <p:sldId id="276" r:id="rId20"/>
    <p:sldId id="265" r:id="rId21"/>
    <p:sldId id="277" r:id="rId22"/>
    <p:sldId id="278" r:id="rId23"/>
    <p:sldId id="279" r:id="rId24"/>
    <p:sldId id="266" r:id="rId25"/>
    <p:sldId id="267" r:id="rId26"/>
    <p:sldId id="268" r:id="rId27"/>
    <p:sldId id="269" r:id="rId28"/>
    <p:sldId id="284" r:id="rId29"/>
  </p:sldIdLst>
  <p:sldSz cx="9145588" cy="5145088"/>
  <p:notesSz cx="6858000" cy="9144000"/>
  <p:custDataLst>
    <p:tags r:id="rId32"/>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4999" indent="-129839"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2256" indent="-261935"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69514" indent="-394032"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6771" indent="-526128"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1625803"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1950964"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2276124"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2601285" algn="l" defTabSz="650321"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28" userDrawn="1">
          <p15:clr>
            <a:srgbClr val="A4A3A4"/>
          </p15:clr>
        </p15:guide>
        <p15:guide id="2" pos="4050" userDrawn="1">
          <p15:clr>
            <a:srgbClr val="A4A3A4"/>
          </p15:clr>
        </p15:guide>
        <p15:guide id="3" pos="557" userDrawn="1">
          <p15:clr>
            <a:srgbClr val="A4A3A4"/>
          </p15:clr>
        </p15:guide>
        <p15:guide id="5" orient="horz" pos="4183" userDrawn="1">
          <p15:clr>
            <a:srgbClr val="A4A3A4"/>
          </p15:clr>
        </p15:guide>
        <p15:guide id="6" pos="7497" userDrawn="1">
          <p15:clr>
            <a:srgbClr val="A4A3A4"/>
          </p15:clr>
        </p15:guide>
        <p15:guide id="7" pos="6908" userDrawn="1">
          <p15:clr>
            <a:srgbClr val="A4A3A4"/>
          </p15:clr>
        </p15:guide>
        <p15:guide id="8" orient="horz" pos="233">
          <p15:clr>
            <a:srgbClr val="A4A3A4"/>
          </p15:clr>
        </p15:guide>
        <p15:guide id="9" orient="horz" pos="2976">
          <p15:clr>
            <a:srgbClr val="A4A3A4"/>
          </p15:clr>
        </p15:guide>
        <p15:guide id="10" pos="2881">
          <p15:clr>
            <a:srgbClr val="A4A3A4"/>
          </p15:clr>
        </p15:guide>
        <p15:guide id="11" pos="396">
          <p15:clr>
            <a:srgbClr val="A4A3A4"/>
          </p15:clr>
        </p15:guide>
        <p15:guide id="12" pos="5332">
          <p15:clr>
            <a:srgbClr val="A4A3A4"/>
          </p15:clr>
        </p15:guide>
        <p15:guide id="13" pos="4913">
          <p15:clr>
            <a:srgbClr val="A4A3A4"/>
          </p15:clr>
        </p15:guide>
        <p15:guide id="14" orient="horz" pos="2981">
          <p15:clr>
            <a:srgbClr val="A4A3A4"/>
          </p15:clr>
        </p15:guide>
        <p15:guide id="15" pos="567">
          <p15:clr>
            <a:srgbClr val="A4A3A4"/>
          </p15:clr>
        </p15:guide>
        <p15:guide id="16" pos="2880">
          <p15:clr>
            <a:srgbClr val="A4A3A4"/>
          </p15:clr>
        </p15:guide>
        <p15:guide id="17" pos="385">
          <p15:clr>
            <a:srgbClr val="A4A3A4"/>
          </p15:clr>
        </p15:guide>
        <p15:guide id="18" pos="492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376D"/>
    <a:srgbClr val="27B6B9"/>
    <a:srgbClr val="FFFFFF"/>
    <a:srgbClr val="29ABE2"/>
    <a:srgbClr val="262626"/>
    <a:srgbClr val="F66E4F"/>
    <a:srgbClr val="73DB29"/>
    <a:srgbClr val="FED40D"/>
    <a:srgbClr val="3AD1B5"/>
    <a:srgbClr val="3F3F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A28803-4A98-45B9-9001-E6FC932C78A3}" v="48" dt="2026-04-10T08:19:43.936"/>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57" autoAdjust="0"/>
    <p:restoredTop sz="77067" autoAdjust="0"/>
  </p:normalViewPr>
  <p:slideViewPr>
    <p:cSldViewPr>
      <p:cViewPr>
        <p:scale>
          <a:sx n="75" d="100"/>
          <a:sy n="75" d="100"/>
        </p:scale>
        <p:origin x="2088" y="-128"/>
      </p:cViewPr>
      <p:guideLst>
        <p:guide orient="horz" pos="328"/>
        <p:guide pos="4050"/>
        <p:guide pos="557"/>
        <p:guide orient="horz" pos="4183"/>
        <p:guide pos="7497"/>
        <p:guide pos="6908"/>
        <p:guide orient="horz" pos="233"/>
        <p:guide orient="horz" pos="2976"/>
        <p:guide pos="2881"/>
        <p:guide pos="396"/>
        <p:guide pos="5332"/>
        <p:guide pos="4913"/>
        <p:guide orient="horz" pos="2981"/>
        <p:guide pos="567"/>
        <p:guide pos="2880"/>
        <p:guide pos="385"/>
        <p:guide pos="4921"/>
      </p:guideLst>
    </p:cSldViewPr>
  </p:slideViewPr>
  <p:outlineViewPr>
    <p:cViewPr>
      <p:scale>
        <a:sx n="100" d="100"/>
        <a:sy n="100" d="100"/>
      </p:scale>
      <p:origin x="0" y="-13696"/>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72" d="100"/>
          <a:sy n="72" d="100"/>
        </p:scale>
        <p:origin x="3524" y="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9630DBF-D010-4114-9DE3-41E342A27C18}" type="datetimeFigureOut">
              <a:rPr lang="zh-CN" altLang="en-US" smtClean="0"/>
              <a:pPr/>
              <a:t>2026/4/10</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4D1D107-4CC9-43CA-8CA8-36E1DF70D5F2}" type="slidenum">
              <a:rPr lang="zh-CN" altLang="en-US" smtClean="0"/>
              <a:pPr/>
              <a:t>‹#›</a:t>
            </a:fld>
            <a:endParaRPr lang="zh-CN" altLang="en-US"/>
          </a:p>
        </p:txBody>
      </p:sp>
    </p:spTree>
    <p:extLst>
      <p:ext uri="{BB962C8B-B14F-4D97-AF65-F5344CB8AC3E}">
        <p14:creationId xmlns:p14="http://schemas.microsoft.com/office/powerpoint/2010/main" val="1986660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6024D97-E667-405D-B634-E583E2108D71}" type="datetimeFigureOut">
              <a:rPr lang="zh-CN" altLang="en-US"/>
              <a:pPr>
                <a:defRPr/>
              </a:pPr>
              <a:t>2026/4/10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418F03C3-53C1-4F10-8DAF-D1F318E96C6E}" type="slidenum">
              <a:rPr lang="zh-CN" altLang="en-US"/>
              <a:pPr/>
              <a:t>‹#›</a:t>
            </a:fld>
            <a:endParaRPr lang="zh-CN" altLang="en-US"/>
          </a:p>
        </p:txBody>
      </p:sp>
    </p:spTree>
    <p:extLst>
      <p:ext uri="{BB962C8B-B14F-4D97-AF65-F5344CB8AC3E}">
        <p14:creationId xmlns:p14="http://schemas.microsoft.com/office/powerpoint/2010/main" val="20605404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900" kern="1200">
        <a:solidFill>
          <a:schemeClr val="tx1"/>
        </a:solidFill>
        <a:latin typeface="+mn-lt"/>
        <a:ea typeface="+mn-ea"/>
        <a:cs typeface="+mn-cs"/>
      </a:defRPr>
    </a:lvl1pPr>
    <a:lvl2pPr marL="324032" algn="l" rtl="0" eaLnBrk="0" fontAlgn="base" hangingPunct="0">
      <a:spcBef>
        <a:spcPct val="30000"/>
      </a:spcBef>
      <a:spcAft>
        <a:spcPct val="0"/>
      </a:spcAft>
      <a:defRPr sz="900" kern="1200">
        <a:solidFill>
          <a:schemeClr val="tx1"/>
        </a:solidFill>
        <a:latin typeface="+mn-lt"/>
        <a:ea typeface="+mn-ea"/>
        <a:cs typeface="+mn-cs"/>
      </a:defRPr>
    </a:lvl2pPr>
    <a:lvl3pPr marL="649193" algn="l" rtl="0" eaLnBrk="0" fontAlgn="base" hangingPunct="0">
      <a:spcBef>
        <a:spcPct val="30000"/>
      </a:spcBef>
      <a:spcAft>
        <a:spcPct val="0"/>
      </a:spcAft>
      <a:defRPr sz="900" kern="1200">
        <a:solidFill>
          <a:schemeClr val="tx1"/>
        </a:solidFill>
        <a:latin typeface="+mn-lt"/>
        <a:ea typeface="+mn-ea"/>
        <a:cs typeface="+mn-cs"/>
      </a:defRPr>
    </a:lvl3pPr>
    <a:lvl4pPr marL="974353" algn="l" rtl="0" eaLnBrk="0" fontAlgn="base" hangingPunct="0">
      <a:spcBef>
        <a:spcPct val="30000"/>
      </a:spcBef>
      <a:spcAft>
        <a:spcPct val="0"/>
      </a:spcAft>
      <a:defRPr sz="900" kern="1200">
        <a:solidFill>
          <a:schemeClr val="tx1"/>
        </a:solidFill>
        <a:latin typeface="+mn-lt"/>
        <a:ea typeface="+mn-ea"/>
        <a:cs typeface="+mn-cs"/>
      </a:defRPr>
    </a:lvl4pPr>
    <a:lvl5pPr marL="1299514" algn="l" rtl="0" eaLnBrk="0" fontAlgn="base" hangingPunct="0">
      <a:spcBef>
        <a:spcPct val="30000"/>
      </a:spcBef>
      <a:spcAft>
        <a:spcPct val="0"/>
      </a:spcAft>
      <a:defRPr sz="900" kern="1200">
        <a:solidFill>
          <a:schemeClr val="tx1"/>
        </a:solidFill>
        <a:latin typeface="+mn-lt"/>
        <a:ea typeface="+mn-ea"/>
        <a:cs typeface="+mn-cs"/>
      </a:defRPr>
    </a:lvl5pPr>
    <a:lvl6pPr marL="1625443" algn="l" defTabSz="650177" rtl="0" eaLnBrk="1" latinLnBrk="0" hangingPunct="1">
      <a:defRPr sz="900" kern="1200">
        <a:solidFill>
          <a:schemeClr val="tx1"/>
        </a:solidFill>
        <a:latin typeface="+mn-lt"/>
        <a:ea typeface="+mn-ea"/>
        <a:cs typeface="+mn-cs"/>
      </a:defRPr>
    </a:lvl6pPr>
    <a:lvl7pPr marL="1950531" algn="l" defTabSz="650177" rtl="0" eaLnBrk="1" latinLnBrk="0" hangingPunct="1">
      <a:defRPr sz="900" kern="1200">
        <a:solidFill>
          <a:schemeClr val="tx1"/>
        </a:solidFill>
        <a:latin typeface="+mn-lt"/>
        <a:ea typeface="+mn-ea"/>
        <a:cs typeface="+mn-cs"/>
      </a:defRPr>
    </a:lvl7pPr>
    <a:lvl8pPr marL="2275621" algn="l" defTabSz="650177" rtl="0" eaLnBrk="1" latinLnBrk="0" hangingPunct="1">
      <a:defRPr sz="900" kern="1200">
        <a:solidFill>
          <a:schemeClr val="tx1"/>
        </a:solidFill>
        <a:latin typeface="+mn-lt"/>
        <a:ea typeface="+mn-ea"/>
        <a:cs typeface="+mn-cs"/>
      </a:defRPr>
    </a:lvl8pPr>
    <a:lvl9pPr marL="2600708" algn="l" defTabSz="650177"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各位老师好，我是张琪。我的毕业设计题目是“基于语义描述桥接的多模态RAG系统设计与实现</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下面我将结合当前系统实现和阶段性实验结果，从前期工作、系统展示、实验评估、模型微调、存在问题和后续计划几个方面做中期汇报。</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前一阶段，我围绕课题做了比较系统的文献阅读和资料学习。重点关注的方向包括多模态检索、检索增强生成、多模态大模型、向量数据库以及 RAG 自动评测方法。通过这些调研，我对系统的可选技术路线、评价指标和关键问题形成了比较明确的认识，也为后续原型开发和实验设计打下了基础。</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从系统建设进度来看，前一阶段已经完成了整体设计和原型开发工作，包括业务模型、功能模型和数据模型的建立，以及数据库和模块层面的设计。技术选型上，后端采用 </a:t>
            </a:r>
            <a:r>
              <a:rPr dirty="0" err="1"/>
              <a:t>FastAPI，前端采用</a:t>
            </a:r>
            <a:r>
              <a:rPr dirty="0"/>
              <a:t> Vue3、TypeScript 和 </a:t>
            </a:r>
            <a:r>
              <a:rPr dirty="0" err="1"/>
              <a:t>Vite。目前图片知识库、文档知识库、图文检索服务、RAG</a:t>
            </a:r>
            <a:r>
              <a:rPr dirty="0"/>
              <a:t> </a:t>
            </a:r>
            <a:r>
              <a:rPr dirty="0" err="1"/>
              <a:t>问答服务以及基础管理功能都已经完成，系统具备了较完整的运行框架</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图片知识库模块主要承担图片数据的接入、管理和语义化组织，是后续文本检图和以图搜图能力的基础。通过这个界面可以看到，目前系统已经具备了实际的数据管理入口，而不只是停留在概念设计层面。</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9D515-57C2-CF13-60ED-54DDA9A20B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49E356-FA14-635E-DDA8-5F72E7789DC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03FA217-21F8-C7F7-E244-3AC73E65D896}"/>
              </a:ext>
            </a:extLst>
          </p:cNvPr>
          <p:cNvSpPr>
            <a:spLocks noGrp="1"/>
          </p:cNvSpPr>
          <p:nvPr>
            <p:ph type="body" sz="quarter" idx="3"/>
          </p:nvPr>
        </p:nvSpPr>
        <p:spPr/>
        <p:txBody>
          <a:bodyPr/>
          <a:lstStyle/>
          <a:p>
            <a:r>
              <a:rPr dirty="0"/>
              <a:t>文档知识库模块面向文档上传、解析和知识管理，承担的是文档侧的知识组织能力。图片知识库和文档知识库共同构成了系统多模态知识接入的底座，也为后续检索和问答服务提供了统一的数据支撑。</a:t>
            </a:r>
          </a:p>
        </p:txBody>
      </p:sp>
      <p:sp>
        <p:nvSpPr>
          <p:cNvPr id="4" name="Slide Number Placeholder 3">
            <a:extLst>
              <a:ext uri="{FF2B5EF4-FFF2-40B4-BE49-F238E27FC236}">
                <a16:creationId xmlns:a16="http://schemas.microsoft.com/office/drawing/2014/main" id="{139E40F1-6998-F02C-8641-8086ACAB5104}"/>
              </a:ext>
            </a:extLst>
          </p:cNvPr>
          <p:cNvSpPr>
            <a:spLocks noGrp="1"/>
          </p:cNvSpPr>
          <p:nvPr>
            <p:ph type="sldNum" sz="quarter" idx="5"/>
          </p:nvPr>
        </p:nvSpPr>
        <p:spPr/>
      </p:sp>
    </p:spTree>
    <p:extLst>
      <p:ext uri="{BB962C8B-B14F-4D97-AF65-F5344CB8AC3E}">
        <p14:creationId xmlns:p14="http://schemas.microsoft.com/office/powerpoint/2010/main" val="747712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图文检索服务</a:t>
            </a:r>
            <a:r>
              <a:rPr lang="zh-CN" altLang="en-US" dirty="0"/>
              <a:t>模块</a:t>
            </a:r>
            <a:r>
              <a:rPr dirty="0"/>
              <a:t>对应两类核心能力，一类是文本检索图片，另一类是以图搜图。也就是说，系统已经能够把不同形式的用户输入统一纳入检索链路，并把检索结果以可视化方式输出。</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AFA44-9F10-E12A-C04E-F27EB52F7B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3BB65-3FB4-DCF0-A6B5-2ED12CE156A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D0A8014-67DE-98DE-6C7A-E0B88752FEDB}"/>
              </a:ext>
            </a:extLst>
          </p:cNvPr>
          <p:cNvSpPr>
            <a:spLocks noGrp="1"/>
          </p:cNvSpPr>
          <p:nvPr>
            <p:ph type="body" sz="quarter" idx="3"/>
          </p:nvPr>
        </p:nvSpPr>
        <p:spPr/>
        <p:txBody>
          <a:bodyPr/>
          <a:lstStyle/>
          <a:p>
            <a:r>
              <a:rPr dirty="0" err="1"/>
              <a:t>在应用层面，RAG</a:t>
            </a:r>
            <a:r>
              <a:rPr dirty="0"/>
              <a:t> 问答服务已经可以基于检索到的多模态证据生成回答，并返回引用来源和相关过程信息。到这里为止，知识接入、检索和问答三个关键环节已经串联起来，形成了一个可运行的多模态 RAG </a:t>
            </a:r>
            <a:r>
              <a:rPr dirty="0" err="1"/>
              <a:t>原型</a:t>
            </a:r>
            <a:r>
              <a:rPr dirty="0"/>
              <a:t>。</a:t>
            </a:r>
          </a:p>
        </p:txBody>
      </p:sp>
      <p:sp>
        <p:nvSpPr>
          <p:cNvPr id="4" name="Slide Number Placeholder 3">
            <a:extLst>
              <a:ext uri="{FF2B5EF4-FFF2-40B4-BE49-F238E27FC236}">
                <a16:creationId xmlns:a16="http://schemas.microsoft.com/office/drawing/2014/main" id="{65A215FE-858E-4E72-6808-8B1A0754BB6F}"/>
              </a:ext>
            </a:extLst>
          </p:cNvPr>
          <p:cNvSpPr>
            <a:spLocks noGrp="1"/>
          </p:cNvSpPr>
          <p:nvPr>
            <p:ph type="sldNum" sz="quarter" idx="5"/>
          </p:nvPr>
        </p:nvSpPr>
        <p:spPr/>
      </p:sp>
    </p:spTree>
    <p:extLst>
      <p:ext uri="{BB962C8B-B14F-4D97-AF65-F5344CB8AC3E}">
        <p14:creationId xmlns:p14="http://schemas.microsoft.com/office/powerpoint/2010/main" val="33758261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dirty="0" err="1"/>
              <a:t>从核心</a:t>
            </a:r>
            <a:r>
              <a:rPr lang="zh-CN" altLang="en-US" dirty="0"/>
              <a:t>功能</a:t>
            </a:r>
            <a:r>
              <a:rPr dirty="0" err="1"/>
              <a:t>来看，当前</a:t>
            </a:r>
            <a:r>
              <a:rPr lang="zh-CN" altLang="en-US" dirty="0"/>
              <a:t>已基本完成开题报告中的主要功能目标，</a:t>
            </a:r>
            <a:r>
              <a:rPr dirty="0" err="1"/>
              <a:t>系统已经实现图像描述生成、结构化入库和向量化存储，也实现了文本检图和以图搜图的双路检索机制。同时，系统支持基于</a:t>
            </a:r>
            <a:r>
              <a:rPr dirty="0"/>
              <a:t> RAG </a:t>
            </a:r>
            <a:r>
              <a:rPr dirty="0" err="1"/>
              <a:t>的多模态问答，并加入了查询改写、多查询扩展、混合检索、重排序、上下文压缩等优化环节，使整体链路更加完整</a:t>
            </a:r>
            <a:r>
              <a:rPr lang="zh-CN" altLang="en-US" dirty="0"/>
              <a:t>，同时</a:t>
            </a:r>
            <a:r>
              <a:rPr lang="zh-CN" altLang="zh-CN" sz="900" kern="1200" dirty="0">
                <a:solidFill>
                  <a:schemeClr val="tx1"/>
                </a:solidFill>
                <a:effectLst/>
                <a:latin typeface="+mn-lt"/>
                <a:ea typeface="+mn-ea"/>
                <a:cs typeface="+mn-cs"/>
              </a:rPr>
              <a:t>还初步具备了结果可追溯、过程可查看的能力。</a:t>
            </a:r>
          </a:p>
          <a:p>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8F00E-F2A7-C993-70A0-621C41914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08FFA-20BA-7CD9-9C12-1B2E2CBF1A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FC4473E-E80F-0331-9657-E10E42647FDF}"/>
              </a:ext>
            </a:extLst>
          </p:cNvPr>
          <p:cNvSpPr>
            <a:spLocks noGrp="1"/>
          </p:cNvSpPr>
          <p:nvPr>
            <p:ph type="body" sz="quarter" idx="3"/>
          </p:nvPr>
        </p:nvSpPr>
        <p:spPr/>
        <p:txBody>
          <a:bodyPr/>
          <a:lstStyle/>
          <a:p>
            <a:r>
              <a:rPr dirty="0" err="1"/>
              <a:t>除了基础检索和问答能力，我还补充实现了意图识别模块。这个</a:t>
            </a:r>
            <a:r>
              <a:rPr lang="zh-CN" altLang="en-US" dirty="0"/>
              <a:t>表格</a:t>
            </a:r>
            <a:r>
              <a:rPr dirty="0"/>
              <a:t>把当前支持的意图类型做了归纳，核心作用是根据用户问题自动切换执行模式，比如进入检索流程、问答流程或者其他对应链路。它的价值在于让系统不再只是被动执行单一流程，而是具备一定的任务路由和自适应能力。</a:t>
            </a:r>
          </a:p>
        </p:txBody>
      </p:sp>
      <p:sp>
        <p:nvSpPr>
          <p:cNvPr id="4" name="Slide Number Placeholder 3">
            <a:extLst>
              <a:ext uri="{FF2B5EF4-FFF2-40B4-BE49-F238E27FC236}">
                <a16:creationId xmlns:a16="http://schemas.microsoft.com/office/drawing/2014/main" id="{E58FA412-56B0-5ADF-0017-331DF5A2C19F}"/>
              </a:ext>
            </a:extLst>
          </p:cNvPr>
          <p:cNvSpPr>
            <a:spLocks noGrp="1"/>
          </p:cNvSpPr>
          <p:nvPr>
            <p:ph type="sldNum" sz="quarter" idx="5"/>
          </p:nvPr>
        </p:nvSpPr>
        <p:spPr/>
      </p:sp>
    </p:spTree>
    <p:extLst>
      <p:ext uri="{BB962C8B-B14F-4D97-AF65-F5344CB8AC3E}">
        <p14:creationId xmlns:p14="http://schemas.microsoft.com/office/powerpoint/2010/main" val="4063196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在系统功能打通之后，前一阶段还完成了两类实验评估，分别是检索器评估和生成器评估。这样做的目的，是让系统不仅能运行起来，还能通过实验结果来验证方法有效性、分析当前优势，并定位后续仍需优化的部分。</a:t>
            </a:r>
            <a:r>
              <a:rPr lang="zh-CN" altLang="en-US" dirty="0"/>
              <a:t>所使用的数据集是</a:t>
            </a:r>
            <a:r>
              <a:rPr lang="en-US" altLang="zh-CN" dirty="0" err="1"/>
              <a:t>UniDoc</a:t>
            </a:r>
            <a:r>
              <a:rPr lang="en-US" altLang="zh-CN" dirty="0"/>
              <a:t>-Bench</a:t>
            </a:r>
            <a:r>
              <a:rPr lang="zh-CN" altLang="en-US" dirty="0"/>
              <a:t>，包含八大行业领域，包含四种回答类型，本实验只使用了</a:t>
            </a:r>
            <a:r>
              <a:rPr lang="en-US" altLang="zh-CN" dirty="0"/>
              <a:t>"</a:t>
            </a:r>
            <a:r>
              <a:rPr lang="en-US" altLang="zh-CN" dirty="0" err="1"/>
              <a:t>table_required</a:t>
            </a:r>
            <a:r>
              <a:rPr lang="en-US" altLang="zh-CN" dirty="0"/>
              <a:t>",    "</a:t>
            </a:r>
            <a:r>
              <a:rPr lang="en-US" altLang="zh-CN" dirty="0" err="1"/>
              <a:t>image_only</a:t>
            </a:r>
            <a:r>
              <a:rPr lang="en-US" altLang="zh-CN" dirty="0"/>
              <a:t>" </a:t>
            </a:r>
            <a:r>
              <a:rPr lang="zh-CN" altLang="en-US" dirty="0"/>
              <a:t>，每个领域</a:t>
            </a:r>
            <a:r>
              <a:rPr lang="en-US" altLang="zh-CN" dirty="0"/>
              <a:t>100</a:t>
            </a:r>
            <a:r>
              <a:rPr lang="zh-CN" altLang="en-US" dirty="0"/>
              <a:t>条，共计</a:t>
            </a:r>
            <a:r>
              <a:rPr lang="en-US" altLang="zh-CN" dirty="0"/>
              <a:t>800</a:t>
            </a:r>
            <a:r>
              <a:rPr lang="zh-CN" altLang="en-US" dirty="0"/>
              <a:t>条</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zh-CN" sz="900" kern="1200" dirty="0">
                <a:solidFill>
                  <a:schemeClr val="tx1"/>
                </a:solidFill>
                <a:latin typeface="+mn-lt"/>
                <a:ea typeface="+mn-ea"/>
                <a:cs typeface="+mn-cs"/>
              </a:rPr>
              <a:t>所提</a:t>
            </a:r>
            <a:r>
              <a:rPr lang="en-US" altLang="zh-CN" sz="900" kern="1200" dirty="0">
                <a:solidFill>
                  <a:schemeClr val="tx1"/>
                </a:solidFill>
                <a:latin typeface="+mn-lt"/>
                <a:ea typeface="+mn-ea"/>
                <a:cs typeface="+mn-cs"/>
              </a:rPr>
              <a:t> proposed </a:t>
            </a:r>
            <a:r>
              <a:rPr lang="zh-CN" altLang="zh-CN" sz="900" kern="1200" dirty="0">
                <a:solidFill>
                  <a:schemeClr val="tx1"/>
                </a:solidFill>
                <a:latin typeface="+mn-lt"/>
                <a:ea typeface="+mn-ea"/>
                <a:cs typeface="+mn-cs"/>
              </a:rPr>
              <a:t>方法在多个领域接近甚至超过</a:t>
            </a:r>
            <a:r>
              <a:rPr lang="en-US" altLang="zh-CN" sz="900" kern="1200" dirty="0">
                <a:solidFill>
                  <a:schemeClr val="tx1"/>
                </a:solidFill>
                <a:latin typeface="+mn-lt"/>
                <a:ea typeface="+mn-ea"/>
                <a:cs typeface="+mn-cs"/>
              </a:rPr>
              <a:t> </a:t>
            </a:r>
            <a:r>
              <a:rPr lang="en-US" altLang="zh-CN" sz="900" kern="1200" dirty="0" err="1">
                <a:solidFill>
                  <a:schemeClr val="tx1"/>
                </a:solidFill>
                <a:latin typeface="+mn-lt"/>
                <a:ea typeface="+mn-ea"/>
                <a:cs typeface="+mn-cs"/>
              </a:rPr>
              <a:t>baseline_clip</a:t>
            </a:r>
            <a:r>
              <a:rPr lang="zh-CN" altLang="en-US" sz="900" kern="1200" dirty="0">
                <a:solidFill>
                  <a:schemeClr val="tx1"/>
                </a:solidFill>
                <a:latin typeface="+mn-lt"/>
                <a:ea typeface="+mn-ea"/>
                <a:cs typeface="+mn-cs"/>
              </a:rPr>
              <a:t>，</a:t>
            </a:r>
            <a:r>
              <a:rPr lang="zh-CN" altLang="en-US" dirty="0"/>
              <a:t>客户关系管理领域（</a:t>
            </a:r>
            <a:r>
              <a:rPr lang="en-US" altLang="zh-CN" dirty="0"/>
              <a:t>CRM</a:t>
            </a:r>
            <a:r>
              <a:rPr lang="zh-CN" altLang="en-US" dirty="0"/>
              <a:t>）</a:t>
            </a:r>
            <a:r>
              <a:rPr dirty="0" err="1"/>
              <a:t>里，proposed</a:t>
            </a:r>
            <a:r>
              <a:rPr dirty="0"/>
              <a:t> 在 </a:t>
            </a:r>
            <a:r>
              <a:rPr lang="zh-CN" altLang="en-US" dirty="0"/>
              <a:t>前</a:t>
            </a:r>
            <a:r>
              <a:rPr lang="en-US" altLang="zh-CN" dirty="0"/>
              <a:t>10</a:t>
            </a:r>
            <a:r>
              <a:rPr lang="zh-CN" altLang="en-US" dirty="0"/>
              <a:t>召回率</a:t>
            </a:r>
            <a:r>
              <a:rPr dirty="0"/>
              <a:t> </a:t>
            </a:r>
            <a:r>
              <a:rPr dirty="0" err="1"/>
              <a:t>上优于</a:t>
            </a:r>
            <a:r>
              <a:rPr dirty="0"/>
              <a:t> </a:t>
            </a:r>
            <a:r>
              <a:rPr dirty="0" err="1"/>
              <a:t>baseline，大约是</a:t>
            </a:r>
            <a:r>
              <a:rPr dirty="0"/>
              <a:t> 0.977 对 0.947，</a:t>
            </a:r>
            <a:r>
              <a:rPr lang="zh-CN" altLang="en-US" dirty="0"/>
              <a:t>平均倒数排名</a:t>
            </a:r>
            <a:r>
              <a:rPr dirty="0"/>
              <a:t>和 </a:t>
            </a:r>
            <a:r>
              <a:rPr lang="zh-CN" altLang="en-US" dirty="0"/>
              <a:t>前</a:t>
            </a:r>
            <a:r>
              <a:rPr lang="en-US" altLang="zh-CN" dirty="0"/>
              <a:t>10</a:t>
            </a:r>
            <a:r>
              <a:rPr lang="zh-CN" altLang="en-US" dirty="0"/>
              <a:t>平均精度均值</a:t>
            </a:r>
            <a:r>
              <a:rPr dirty="0"/>
              <a:t> </a:t>
            </a:r>
            <a:r>
              <a:rPr dirty="0" err="1"/>
              <a:t>也基本接近或略有优势；Energy</a:t>
            </a:r>
            <a:r>
              <a:rPr dirty="0"/>
              <a:t> </a:t>
            </a:r>
            <a:r>
              <a:rPr dirty="0" err="1"/>
              <a:t>场景中，proposed</a:t>
            </a:r>
            <a:r>
              <a:rPr dirty="0"/>
              <a:t> 的</a:t>
            </a:r>
            <a:r>
              <a:rPr lang="zh-CN" altLang="en-US" dirty="0"/>
              <a:t>四个指标</a:t>
            </a:r>
            <a:r>
              <a:rPr dirty="0" err="1"/>
              <a:t>都略高于</a:t>
            </a:r>
            <a:r>
              <a:rPr dirty="0"/>
              <a:t> </a:t>
            </a:r>
            <a:r>
              <a:rPr dirty="0" err="1"/>
              <a:t>baseline。说明当前方法在这两个领域已经体现出比较稳定的竞争力</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24A09-E747-0B9A-1ACE-6E7580DE6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678A6-16F8-4732-93EB-92E39D57AC2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1CD5507-1D4D-C7DE-8D4D-64B7E6C509A3}"/>
              </a:ext>
            </a:extLst>
          </p:cNvPr>
          <p:cNvSpPr>
            <a:spLocks noGrp="1"/>
          </p:cNvSpPr>
          <p:nvPr>
            <p:ph type="body" sz="quarter"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其他领域中，在教育领域（</a:t>
            </a:r>
            <a:r>
              <a:rPr dirty="0"/>
              <a:t>Education</a:t>
            </a:r>
            <a:r>
              <a:rPr lang="zh-CN" altLang="en-US" dirty="0"/>
              <a:t>）</a:t>
            </a:r>
            <a:r>
              <a:rPr dirty="0"/>
              <a:t> </a:t>
            </a:r>
            <a:r>
              <a:rPr dirty="0" err="1"/>
              <a:t>基本上是两种方法持平</a:t>
            </a:r>
            <a:r>
              <a:rPr dirty="0"/>
              <a:t>；</a:t>
            </a:r>
            <a:r>
              <a:rPr lang="zh-CN" altLang="en-US" dirty="0"/>
              <a:t>医疗健康（</a:t>
            </a:r>
            <a:r>
              <a:rPr dirty="0"/>
              <a:t>Healthcare</a:t>
            </a:r>
            <a:r>
              <a:rPr lang="zh-CN" altLang="en-US" dirty="0"/>
              <a:t>）</a:t>
            </a:r>
            <a:r>
              <a:rPr dirty="0"/>
              <a:t>上 proposed 在 </a:t>
            </a:r>
            <a:r>
              <a:rPr lang="zh-CN" altLang="en-US" dirty="0"/>
              <a:t>前</a:t>
            </a:r>
            <a:r>
              <a:rPr lang="en-US" altLang="zh-CN" dirty="0"/>
              <a:t>10</a:t>
            </a:r>
            <a:r>
              <a:rPr lang="zh-CN" altLang="en-US" dirty="0"/>
              <a:t>召回率</a:t>
            </a:r>
            <a:r>
              <a:rPr dirty="0" err="1"/>
              <a:t>略有优势，但在</a:t>
            </a:r>
            <a:r>
              <a:rPr lang="zh-CN" altLang="en-US" sz="900" b="0" dirty="0">
                <a:solidFill>
                  <a:srgbClr val="646464"/>
                </a:solidFill>
                <a:latin typeface="Microsoft YaHei"/>
              </a:rPr>
              <a:t>平均倒数排名和前</a:t>
            </a:r>
            <a:r>
              <a:rPr lang="en-US" altLang="zh-CN" sz="900" b="0" dirty="0">
                <a:solidFill>
                  <a:srgbClr val="646464"/>
                </a:solidFill>
                <a:latin typeface="Microsoft YaHei"/>
              </a:rPr>
              <a:t>10</a:t>
            </a:r>
            <a:r>
              <a:rPr lang="zh-CN" altLang="en-US" sz="900" b="0" dirty="0">
                <a:solidFill>
                  <a:srgbClr val="646464"/>
                </a:solidFill>
                <a:latin typeface="Microsoft YaHei"/>
              </a:rPr>
              <a:t>平均精度均值</a:t>
            </a:r>
            <a:r>
              <a:rPr dirty="0" err="1"/>
              <a:t>上稍弱</a:t>
            </a:r>
            <a:r>
              <a:rPr dirty="0"/>
              <a:t>；</a:t>
            </a:r>
            <a:r>
              <a:rPr lang="zh-CN" altLang="en-US" dirty="0"/>
              <a:t>金融（</a:t>
            </a:r>
            <a:r>
              <a:rPr dirty="0"/>
              <a:t>Finance</a:t>
            </a:r>
            <a:r>
              <a:rPr lang="zh-CN" altLang="en-US" dirty="0"/>
              <a:t>）</a:t>
            </a:r>
            <a:r>
              <a:rPr dirty="0"/>
              <a:t>和</a:t>
            </a:r>
            <a:r>
              <a:rPr lang="zh-CN" altLang="en-US" dirty="0"/>
              <a:t>法律（</a:t>
            </a:r>
            <a:r>
              <a:rPr dirty="0"/>
              <a:t>Legal</a:t>
            </a:r>
            <a:r>
              <a:rPr lang="zh-CN" altLang="en-US" dirty="0"/>
              <a:t>）</a:t>
            </a:r>
            <a:r>
              <a:rPr dirty="0"/>
              <a:t> </a:t>
            </a:r>
            <a:r>
              <a:rPr lang="zh-CN" altLang="en-US" dirty="0"/>
              <a:t>领域</a:t>
            </a:r>
            <a:r>
              <a:rPr dirty="0" err="1"/>
              <a:t>中，baseline_clip</a:t>
            </a:r>
            <a:r>
              <a:rPr dirty="0"/>
              <a:t> </a:t>
            </a:r>
            <a:r>
              <a:rPr dirty="0" err="1"/>
              <a:t>整体仍然更强。这个结果说明</a:t>
            </a:r>
            <a:r>
              <a:rPr dirty="0"/>
              <a:t> proposed </a:t>
            </a:r>
            <a:r>
              <a:rPr dirty="0" err="1"/>
              <a:t>并不是在所有领域都占优，它的表现仍然受到页面类型和领域特征的影响</a:t>
            </a:r>
            <a:r>
              <a:rPr dirty="0"/>
              <a:t>。</a:t>
            </a:r>
          </a:p>
        </p:txBody>
      </p:sp>
      <p:sp>
        <p:nvSpPr>
          <p:cNvPr id="4" name="Slide Number Placeholder 3">
            <a:extLst>
              <a:ext uri="{FF2B5EF4-FFF2-40B4-BE49-F238E27FC236}">
                <a16:creationId xmlns:a16="http://schemas.microsoft.com/office/drawing/2014/main" id="{BEB1F708-B90B-7E21-81AC-4CC9E6936121}"/>
              </a:ext>
            </a:extLst>
          </p:cNvPr>
          <p:cNvSpPr>
            <a:spLocks noGrp="1"/>
          </p:cNvSpPr>
          <p:nvPr>
            <p:ph type="sldNum" sz="quarter" idx="5"/>
          </p:nvPr>
        </p:nvSpPr>
        <p:spPr/>
      </p:sp>
    </p:spTree>
    <p:extLst>
      <p:ext uri="{BB962C8B-B14F-4D97-AF65-F5344CB8AC3E}">
        <p14:creationId xmlns:p14="http://schemas.microsoft.com/office/powerpoint/2010/main" val="34016618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2DC78-A364-559F-B5A5-2E442EF73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D166CF-3CBB-DAE6-E0E6-5850E3AFE64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1A8518-24E2-1773-162F-11DF0E68B07E}"/>
              </a:ext>
            </a:extLst>
          </p:cNvPr>
          <p:cNvSpPr>
            <a:spLocks noGrp="1"/>
          </p:cNvSpPr>
          <p:nvPr>
            <p:ph type="body" sz="quarter" idx="3"/>
          </p:nvPr>
        </p:nvSpPr>
        <p:spPr/>
        <p:txBody>
          <a:bodyPr/>
          <a:lstStyle/>
          <a:p>
            <a:r>
              <a:rPr lang="zh-CN" altLang="en-US" dirty="0"/>
              <a:t>而商业制造（</a:t>
            </a:r>
            <a:r>
              <a:rPr dirty="0"/>
              <a:t>Commerce &amp; Manu.</a:t>
            </a:r>
            <a:r>
              <a:rPr lang="zh-CN" altLang="en-US" dirty="0"/>
              <a:t>）</a:t>
            </a:r>
            <a:r>
              <a:rPr dirty="0"/>
              <a:t> 和 </a:t>
            </a:r>
            <a:r>
              <a:rPr lang="zh-CN" altLang="en-US" dirty="0"/>
              <a:t>建筑（</a:t>
            </a:r>
            <a:r>
              <a:rPr dirty="0"/>
              <a:t>Construction</a:t>
            </a:r>
            <a:r>
              <a:rPr lang="zh-CN" altLang="en-US" dirty="0"/>
              <a:t>）</a:t>
            </a:r>
            <a:r>
              <a:rPr dirty="0"/>
              <a:t> </a:t>
            </a:r>
            <a:r>
              <a:rPr dirty="0" err="1"/>
              <a:t>这两个领域的结果进一步说明了这一点。在这两个场景里，baseline_clip</a:t>
            </a:r>
            <a:r>
              <a:rPr dirty="0"/>
              <a:t> </a:t>
            </a:r>
            <a:r>
              <a:rPr dirty="0" err="1"/>
              <a:t>的整体表现依然更好，尤其在</a:t>
            </a:r>
            <a:r>
              <a:rPr dirty="0"/>
              <a:t> </a:t>
            </a:r>
            <a:r>
              <a:rPr lang="zh-CN" altLang="en-US" dirty="0"/>
              <a:t>前</a:t>
            </a:r>
            <a:r>
              <a:rPr lang="en-US" altLang="zh-CN" dirty="0"/>
              <a:t>1</a:t>
            </a:r>
            <a:r>
              <a:rPr lang="zh-CN" altLang="en-US" dirty="0"/>
              <a:t>召回率、平均倒数排名</a:t>
            </a:r>
            <a:r>
              <a:rPr dirty="0"/>
              <a:t>和 </a:t>
            </a:r>
            <a:r>
              <a:rPr lang="zh-CN" altLang="en-US" dirty="0"/>
              <a:t>前</a:t>
            </a:r>
            <a:r>
              <a:rPr lang="en-US" altLang="zh-CN" dirty="0"/>
              <a:t>10</a:t>
            </a:r>
            <a:r>
              <a:rPr lang="zh-CN" altLang="en-US" dirty="0"/>
              <a:t>平均精度均值</a:t>
            </a:r>
            <a:r>
              <a:rPr dirty="0" err="1"/>
              <a:t>上更明显。也就是说，当前</a:t>
            </a:r>
            <a:r>
              <a:rPr dirty="0"/>
              <a:t> proposed </a:t>
            </a:r>
            <a:r>
              <a:rPr dirty="0" err="1"/>
              <a:t>方法在一些复杂工业或结构化页面场景下，还需要继续优化</a:t>
            </a:r>
            <a:r>
              <a:rPr dirty="0"/>
              <a:t>。</a:t>
            </a:r>
          </a:p>
        </p:txBody>
      </p:sp>
      <p:sp>
        <p:nvSpPr>
          <p:cNvPr id="4" name="Slide Number Placeholder 3">
            <a:extLst>
              <a:ext uri="{FF2B5EF4-FFF2-40B4-BE49-F238E27FC236}">
                <a16:creationId xmlns:a16="http://schemas.microsoft.com/office/drawing/2014/main" id="{BA5ED46A-E549-B19F-9AF9-7FE9D14FE38A}"/>
              </a:ext>
            </a:extLst>
          </p:cNvPr>
          <p:cNvSpPr>
            <a:spLocks noGrp="1"/>
          </p:cNvSpPr>
          <p:nvPr>
            <p:ph type="sldNum" sz="quarter" idx="5"/>
          </p:nvPr>
        </p:nvSpPr>
        <p:spPr/>
      </p:sp>
    </p:spTree>
    <p:extLst>
      <p:ext uri="{BB962C8B-B14F-4D97-AF65-F5344CB8AC3E}">
        <p14:creationId xmlns:p14="http://schemas.microsoft.com/office/powerpoint/2010/main" val="291966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5305A-47F0-3B8D-F79E-2457959AA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B6FDE6-6B43-F6B0-715E-049306C2557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C159A12-9262-205C-7B30-A7C3BD162D22}"/>
              </a:ext>
            </a:extLst>
          </p:cNvPr>
          <p:cNvSpPr>
            <a:spLocks noGrp="1"/>
          </p:cNvSpPr>
          <p:nvPr>
            <p:ph type="body" sz="quarter" idx="3"/>
          </p:nvPr>
        </p:nvSpPr>
        <p:spPr/>
        <p:txBody>
          <a:bodyPr/>
          <a:lstStyle/>
          <a:p>
            <a:r>
              <a:rPr dirty="0" err="1"/>
              <a:t>跨领域场景的难度会更高一些。从图里可以看到，proposed</a:t>
            </a:r>
            <a:r>
              <a:rPr dirty="0"/>
              <a:t> </a:t>
            </a:r>
            <a:r>
              <a:rPr dirty="0" err="1"/>
              <a:t>在四个指标上都略低于</a:t>
            </a:r>
            <a:r>
              <a:rPr dirty="0"/>
              <a:t> </a:t>
            </a:r>
            <a:r>
              <a:rPr dirty="0" err="1"/>
              <a:t>baseline_clip，尤其是</a:t>
            </a:r>
            <a:r>
              <a:rPr dirty="0"/>
              <a:t> </a:t>
            </a:r>
            <a:r>
              <a:rPr lang="zh-CN" altLang="en-US" dirty="0"/>
              <a:t>前</a:t>
            </a:r>
            <a:r>
              <a:rPr lang="en-US" altLang="zh-CN" dirty="0"/>
              <a:t>1</a:t>
            </a:r>
            <a:r>
              <a:rPr lang="zh-CN" altLang="en-US" dirty="0"/>
              <a:t>召回率和前</a:t>
            </a:r>
            <a:r>
              <a:rPr lang="en-US" altLang="zh-CN" dirty="0"/>
              <a:t>10</a:t>
            </a:r>
            <a:r>
              <a:rPr lang="zh-CN" altLang="en-US" dirty="0"/>
              <a:t>平均精度均值</a:t>
            </a:r>
            <a:r>
              <a:rPr dirty="0"/>
              <a:t> </a:t>
            </a:r>
            <a:r>
              <a:rPr dirty="0" err="1"/>
              <a:t>的差距更明显</a:t>
            </a:r>
            <a:r>
              <a:rPr dirty="0"/>
              <a:t>。</a:t>
            </a:r>
          </a:p>
        </p:txBody>
      </p:sp>
      <p:sp>
        <p:nvSpPr>
          <p:cNvPr id="4" name="Slide Number Placeholder 3">
            <a:extLst>
              <a:ext uri="{FF2B5EF4-FFF2-40B4-BE49-F238E27FC236}">
                <a16:creationId xmlns:a16="http://schemas.microsoft.com/office/drawing/2014/main" id="{E90D7AD7-D850-CD04-DA2A-6E327267A929}"/>
              </a:ext>
            </a:extLst>
          </p:cNvPr>
          <p:cNvSpPr>
            <a:spLocks noGrp="1"/>
          </p:cNvSpPr>
          <p:nvPr>
            <p:ph type="sldNum" sz="quarter" idx="5"/>
          </p:nvPr>
        </p:nvSpPr>
        <p:spPr/>
      </p:sp>
    </p:spTree>
    <p:extLst>
      <p:ext uri="{BB962C8B-B14F-4D97-AF65-F5344CB8AC3E}">
        <p14:creationId xmlns:p14="http://schemas.microsoft.com/office/powerpoint/2010/main" val="2230803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F59A7-AD36-7364-4A66-84F5E15D4C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4608E-5CFD-5845-8064-C7D1B38FDB5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05ECFC8-64BC-837B-CB7D-722EE4880113}"/>
              </a:ext>
            </a:extLst>
          </p:cNvPr>
          <p:cNvSpPr>
            <a:spLocks noGrp="1"/>
          </p:cNvSpPr>
          <p:nvPr>
            <p:ph type="body" sz="quarter" idx="3"/>
          </p:nvPr>
        </p:nvSpPr>
        <p:spPr/>
        <p:txBody>
          <a:bodyPr/>
          <a:lstStyle/>
          <a:p>
            <a:r>
              <a:rPr dirty="0" err="1"/>
              <a:t>再看检索延迟。两种方法的整体延迟都在五百多毫秒量级，proposed</a:t>
            </a:r>
            <a:r>
              <a:rPr dirty="0"/>
              <a:t> </a:t>
            </a:r>
            <a:r>
              <a:rPr dirty="0" err="1"/>
              <a:t>的平均延迟略低于</a:t>
            </a:r>
            <a:r>
              <a:rPr dirty="0"/>
              <a:t> </a:t>
            </a:r>
            <a:r>
              <a:rPr dirty="0" err="1"/>
              <a:t>baseline，大约是</a:t>
            </a:r>
            <a:r>
              <a:rPr dirty="0"/>
              <a:t> 562 </a:t>
            </a:r>
            <a:r>
              <a:rPr dirty="0" err="1"/>
              <a:t>毫秒对</a:t>
            </a:r>
            <a:r>
              <a:rPr dirty="0"/>
              <a:t> 580 </a:t>
            </a:r>
            <a:r>
              <a:rPr dirty="0" err="1"/>
              <a:t>毫秒；中位延迟两者非常接近，proposed</a:t>
            </a:r>
            <a:r>
              <a:rPr dirty="0"/>
              <a:t> </a:t>
            </a:r>
            <a:r>
              <a:rPr dirty="0" err="1"/>
              <a:t>还略高一点。说明当前方法在效果提升的同时，并没有带来明显不可接受的时延代价</a:t>
            </a:r>
            <a:r>
              <a:rPr dirty="0"/>
              <a:t>。</a:t>
            </a:r>
          </a:p>
        </p:txBody>
      </p:sp>
      <p:sp>
        <p:nvSpPr>
          <p:cNvPr id="4" name="Slide Number Placeholder 3">
            <a:extLst>
              <a:ext uri="{FF2B5EF4-FFF2-40B4-BE49-F238E27FC236}">
                <a16:creationId xmlns:a16="http://schemas.microsoft.com/office/drawing/2014/main" id="{2C735CFD-AAB9-E143-882F-89F517AEB705}"/>
              </a:ext>
            </a:extLst>
          </p:cNvPr>
          <p:cNvSpPr>
            <a:spLocks noGrp="1"/>
          </p:cNvSpPr>
          <p:nvPr>
            <p:ph type="sldNum" sz="quarter" idx="5"/>
          </p:nvPr>
        </p:nvSpPr>
        <p:spPr/>
      </p:sp>
    </p:spTree>
    <p:extLst>
      <p:ext uri="{BB962C8B-B14F-4D97-AF65-F5344CB8AC3E}">
        <p14:creationId xmlns:p14="http://schemas.microsoft.com/office/powerpoint/2010/main" val="450908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B4D46-D2C8-CB67-52C2-0E351369D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956778-A50D-6AE1-1FEA-05E0A0D2D53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FAFBF85-F3E0-E769-3F72-FF557C13A24D}"/>
              </a:ext>
            </a:extLst>
          </p:cNvPr>
          <p:cNvSpPr>
            <a:spLocks noGrp="1"/>
          </p:cNvSpPr>
          <p:nvPr>
            <p:ph type="body" sz="quarter" idx="3"/>
          </p:nvPr>
        </p:nvSpPr>
        <p:spPr/>
        <p:txBody>
          <a:bodyPr/>
          <a:lstStyle/>
          <a:p>
            <a:r>
              <a:rPr dirty="0" err="1"/>
              <a:t>把分领域结果综合起来看，按领域汇总的</a:t>
            </a:r>
            <a:r>
              <a:rPr dirty="0"/>
              <a:t> </a:t>
            </a:r>
            <a:r>
              <a:rPr lang="zh-CN" altLang="en-US" dirty="0"/>
              <a:t>前</a:t>
            </a:r>
            <a:r>
              <a:rPr lang="en-US" altLang="zh-CN" dirty="0"/>
              <a:t>1</a:t>
            </a:r>
            <a:r>
              <a:rPr lang="zh-CN" altLang="en-US" dirty="0"/>
              <a:t>召回率和平均倒数排名</a:t>
            </a:r>
            <a:r>
              <a:rPr dirty="0"/>
              <a:t> </a:t>
            </a:r>
            <a:r>
              <a:rPr dirty="0" err="1"/>
              <a:t>能更清楚地反映整体趋势。proposed</a:t>
            </a:r>
            <a:r>
              <a:rPr dirty="0"/>
              <a:t> 在 </a:t>
            </a:r>
            <a:r>
              <a:rPr lang="zh-CN" altLang="en-US" dirty="0"/>
              <a:t>客户关系管理（</a:t>
            </a:r>
            <a:r>
              <a:rPr dirty="0"/>
              <a:t>CRM</a:t>
            </a:r>
            <a:r>
              <a:rPr lang="zh-CN" altLang="en-US" dirty="0"/>
              <a:t>）</a:t>
            </a:r>
            <a:r>
              <a:rPr dirty="0"/>
              <a:t> 和</a:t>
            </a:r>
            <a:r>
              <a:rPr lang="zh-CN" altLang="en-US" dirty="0"/>
              <a:t>能源（</a:t>
            </a:r>
            <a:r>
              <a:rPr dirty="0"/>
              <a:t> Energy</a:t>
            </a:r>
            <a:r>
              <a:rPr lang="zh-CN" altLang="en-US" dirty="0"/>
              <a:t>）领域</a:t>
            </a:r>
            <a:r>
              <a:rPr dirty="0"/>
              <a:t> </a:t>
            </a:r>
            <a:r>
              <a:rPr dirty="0" err="1"/>
              <a:t>上相对突出，在部分领域和</a:t>
            </a:r>
            <a:r>
              <a:rPr dirty="0"/>
              <a:t> baseline </a:t>
            </a:r>
            <a:r>
              <a:rPr dirty="0" err="1"/>
              <a:t>接近，但在</a:t>
            </a:r>
            <a:r>
              <a:rPr dirty="0"/>
              <a:t> </a:t>
            </a:r>
            <a:r>
              <a:rPr lang="zh-CN" altLang="en-US" dirty="0"/>
              <a:t>商业制造（</a:t>
            </a:r>
            <a:r>
              <a:rPr dirty="0"/>
              <a:t>Commerce</a:t>
            </a:r>
            <a:r>
              <a:rPr lang="zh-CN" altLang="en-US" dirty="0"/>
              <a:t>）</a:t>
            </a:r>
            <a:r>
              <a:rPr dirty="0"/>
              <a:t>、</a:t>
            </a:r>
            <a:r>
              <a:rPr lang="zh-CN" altLang="en-US" dirty="0"/>
              <a:t>建筑（</a:t>
            </a:r>
            <a:r>
              <a:rPr dirty="0"/>
              <a:t>Construction</a:t>
            </a:r>
            <a:r>
              <a:rPr lang="zh-CN" altLang="en-US" dirty="0"/>
              <a:t>）</a:t>
            </a:r>
            <a:r>
              <a:rPr dirty="0"/>
              <a:t>、</a:t>
            </a:r>
            <a:r>
              <a:rPr lang="zh-CN" altLang="en-US" dirty="0"/>
              <a:t>金融（</a:t>
            </a:r>
            <a:r>
              <a:rPr dirty="0"/>
              <a:t>Finance</a:t>
            </a:r>
            <a:r>
              <a:rPr lang="zh-CN" altLang="en-US" dirty="0"/>
              <a:t>）</a:t>
            </a:r>
            <a:r>
              <a:rPr dirty="0"/>
              <a:t> </a:t>
            </a:r>
            <a:r>
              <a:rPr dirty="0" err="1"/>
              <a:t>这类场景下仍有差距</a:t>
            </a:r>
            <a:r>
              <a:rPr dirty="0"/>
              <a:t>。</a:t>
            </a:r>
          </a:p>
        </p:txBody>
      </p:sp>
      <p:sp>
        <p:nvSpPr>
          <p:cNvPr id="4" name="Slide Number Placeholder 3">
            <a:extLst>
              <a:ext uri="{FF2B5EF4-FFF2-40B4-BE49-F238E27FC236}">
                <a16:creationId xmlns:a16="http://schemas.microsoft.com/office/drawing/2014/main" id="{E1113A2B-E2C3-1AE8-D1BB-06065105DF97}"/>
              </a:ext>
            </a:extLst>
          </p:cNvPr>
          <p:cNvSpPr>
            <a:spLocks noGrp="1"/>
          </p:cNvSpPr>
          <p:nvPr>
            <p:ph type="sldNum" sz="quarter" idx="5"/>
          </p:nvPr>
        </p:nvSpPr>
        <p:spPr/>
      </p:sp>
    </p:spTree>
    <p:extLst>
      <p:ext uri="{BB962C8B-B14F-4D97-AF65-F5344CB8AC3E}">
        <p14:creationId xmlns:p14="http://schemas.microsoft.com/office/powerpoint/2010/main" val="1523556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92CA5-D2C0-B4BB-17DD-FF249399C9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89CE0-1486-2FC0-E124-FCBD06BADD1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B02CCCC-2B88-781D-6EC9-802E3A7C1705}"/>
              </a:ext>
            </a:extLst>
          </p:cNvPr>
          <p:cNvSpPr>
            <a:spLocks noGrp="1"/>
          </p:cNvSpPr>
          <p:nvPr>
            <p:ph type="body" sz="quarter" idx="3"/>
          </p:nvPr>
        </p:nvSpPr>
        <p:spPr/>
        <p:txBody>
          <a:bodyPr/>
          <a:lstStyle/>
          <a:p>
            <a:r>
              <a:rPr dirty="0" err="1"/>
              <a:t>最后用热力图把各个领域、各项指标的结果放在一起比较。热力图</a:t>
            </a:r>
            <a:r>
              <a:rPr lang="zh-CN" altLang="en-US" dirty="0"/>
              <a:t>也</a:t>
            </a:r>
            <a:r>
              <a:rPr dirty="0" err="1"/>
              <a:t>很直观地</a:t>
            </a:r>
            <a:r>
              <a:rPr lang="zh-CN" altLang="en-US" dirty="0"/>
              <a:t>同样说明了这一点</a:t>
            </a:r>
            <a:r>
              <a:rPr dirty="0"/>
              <a:t>。</a:t>
            </a:r>
            <a:r>
              <a:rPr dirty="0" err="1"/>
              <a:t>到这里，检索实验的结论就比较完整了：当前方法已经有明显亮点，但还不是全面领先</a:t>
            </a:r>
            <a:r>
              <a:rPr dirty="0"/>
              <a:t>。</a:t>
            </a:r>
          </a:p>
        </p:txBody>
      </p:sp>
      <p:sp>
        <p:nvSpPr>
          <p:cNvPr id="4" name="Slide Number Placeholder 3">
            <a:extLst>
              <a:ext uri="{FF2B5EF4-FFF2-40B4-BE49-F238E27FC236}">
                <a16:creationId xmlns:a16="http://schemas.microsoft.com/office/drawing/2014/main" id="{E8E47EEB-2C5B-DDE1-D8C2-FE2A0413C829}"/>
              </a:ext>
            </a:extLst>
          </p:cNvPr>
          <p:cNvSpPr>
            <a:spLocks noGrp="1"/>
          </p:cNvSpPr>
          <p:nvPr>
            <p:ph type="sldNum" sz="quarter" idx="5"/>
          </p:nvPr>
        </p:nvSpPr>
        <p:spPr/>
      </p:sp>
    </p:spTree>
    <p:extLst>
      <p:ext uri="{BB962C8B-B14F-4D97-AF65-F5344CB8AC3E}">
        <p14:creationId xmlns:p14="http://schemas.microsoft.com/office/powerpoint/2010/main" val="37308561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EE31F-E0E9-19C2-C865-2A579C0EDB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8A5371-F505-69FE-3C2B-46F6EDC6138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0716425-F563-06B7-4DCC-A603F3750CD4}"/>
              </a:ext>
            </a:extLst>
          </p:cNvPr>
          <p:cNvSpPr>
            <a:spLocks noGrp="1"/>
          </p:cNvSpPr>
          <p:nvPr>
            <p:ph type="body" sz="quarter" idx="3"/>
          </p:nvPr>
        </p:nvSpPr>
        <p:spPr/>
        <p:txBody>
          <a:bodyPr/>
          <a:lstStyle/>
          <a:p>
            <a:r>
              <a:rPr dirty="0" err="1"/>
              <a:t>生成实验</a:t>
            </a:r>
            <a:r>
              <a:rPr lang="zh-CN" altLang="en-US" dirty="0"/>
              <a:t>方面</a:t>
            </a:r>
            <a:r>
              <a:rPr dirty="0"/>
              <a:t>。proposed </a:t>
            </a:r>
            <a:r>
              <a:rPr dirty="0" err="1"/>
              <a:t>的回答正确性达到</a:t>
            </a:r>
            <a:r>
              <a:rPr dirty="0"/>
              <a:t> 0.86，与 </a:t>
            </a:r>
            <a:r>
              <a:rPr dirty="0" err="1"/>
              <a:t>baseline_clip</a:t>
            </a:r>
            <a:r>
              <a:rPr dirty="0"/>
              <a:t> 的 0.87 </a:t>
            </a:r>
            <a:r>
              <a:rPr dirty="0" err="1"/>
              <a:t>已经非常接近，而</a:t>
            </a:r>
            <a:r>
              <a:rPr dirty="0"/>
              <a:t> </a:t>
            </a:r>
            <a:r>
              <a:rPr dirty="0" err="1"/>
              <a:t>no_rag</a:t>
            </a:r>
            <a:r>
              <a:rPr dirty="0"/>
              <a:t> </a:t>
            </a:r>
            <a:r>
              <a:rPr dirty="0" err="1"/>
              <a:t>只有</a:t>
            </a:r>
            <a:r>
              <a:rPr dirty="0"/>
              <a:t> 0.24，差距非常明显。同时，在图像上下文相关性上，proposed </a:t>
            </a:r>
            <a:r>
              <a:rPr dirty="0" err="1"/>
              <a:t>达到</a:t>
            </a:r>
            <a:r>
              <a:rPr dirty="0"/>
              <a:t> 0.929，是三种方法里最高的。这个结果说明，引入检索增强后，回答质量有明显提升，而且 proposed </a:t>
            </a:r>
            <a:r>
              <a:rPr dirty="0" err="1"/>
              <a:t>在视觉证据匹配上具有一定优势</a:t>
            </a:r>
            <a:r>
              <a:rPr dirty="0"/>
              <a:t>。</a:t>
            </a:r>
            <a:r>
              <a:rPr lang="zh-CN" altLang="en-US" dirty="0"/>
              <a:t>需要说明的是</a:t>
            </a:r>
            <a:r>
              <a:rPr lang="en-US" altLang="zh-CN" sz="900" kern="1200" dirty="0" err="1">
                <a:solidFill>
                  <a:schemeClr val="tx1"/>
                </a:solidFill>
                <a:effectLst/>
                <a:latin typeface="+mn-lt"/>
                <a:ea typeface="+mn-ea"/>
                <a:cs typeface="+mn-cs"/>
              </a:rPr>
              <a:t>No_RAG</a:t>
            </a:r>
            <a:r>
              <a:rPr lang="zh-CN" altLang="zh-CN" sz="900" kern="1200" dirty="0">
                <a:solidFill>
                  <a:schemeClr val="tx1"/>
                </a:solidFill>
                <a:effectLst/>
                <a:latin typeface="+mn-lt"/>
                <a:ea typeface="+mn-ea"/>
                <a:cs typeface="+mn-cs"/>
              </a:rPr>
              <a:t>基线不参与后两个图像相关指标的评测</a:t>
            </a:r>
            <a:endParaRPr dirty="0"/>
          </a:p>
        </p:txBody>
      </p:sp>
      <p:sp>
        <p:nvSpPr>
          <p:cNvPr id="4" name="Slide Number Placeholder 3">
            <a:extLst>
              <a:ext uri="{FF2B5EF4-FFF2-40B4-BE49-F238E27FC236}">
                <a16:creationId xmlns:a16="http://schemas.microsoft.com/office/drawing/2014/main" id="{C913030B-4EA8-356F-FF71-A10FA4BC1F1E}"/>
              </a:ext>
            </a:extLst>
          </p:cNvPr>
          <p:cNvSpPr>
            <a:spLocks noGrp="1"/>
          </p:cNvSpPr>
          <p:nvPr>
            <p:ph type="sldNum" sz="quarter" idx="5"/>
          </p:nvPr>
        </p:nvSpPr>
        <p:spPr/>
      </p:sp>
    </p:spTree>
    <p:extLst>
      <p:ext uri="{BB962C8B-B14F-4D97-AF65-F5344CB8AC3E}">
        <p14:creationId xmlns:p14="http://schemas.microsoft.com/office/powerpoint/2010/main" val="3115615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按领域来看，proposed</a:t>
            </a:r>
            <a:r>
              <a:rPr dirty="0"/>
              <a:t> 在 </a:t>
            </a:r>
            <a:r>
              <a:rPr lang="zh-CN" altLang="en-US" dirty="0"/>
              <a:t>商业制造（</a:t>
            </a:r>
            <a:r>
              <a:rPr dirty="0"/>
              <a:t>Commerce</a:t>
            </a:r>
            <a:r>
              <a:rPr lang="zh-CN" altLang="en-US" dirty="0"/>
              <a:t>）</a:t>
            </a:r>
            <a:r>
              <a:rPr dirty="0"/>
              <a:t>、</a:t>
            </a:r>
            <a:r>
              <a:rPr lang="zh-CN" altLang="en-US" dirty="0"/>
              <a:t>教育（</a:t>
            </a:r>
            <a:r>
              <a:rPr dirty="0"/>
              <a:t>Education</a:t>
            </a:r>
            <a:r>
              <a:rPr lang="zh-CN" altLang="en-US" dirty="0"/>
              <a:t>）</a:t>
            </a:r>
            <a:r>
              <a:rPr dirty="0"/>
              <a:t>、</a:t>
            </a:r>
            <a:r>
              <a:rPr lang="zh-CN" altLang="en-US" dirty="0"/>
              <a:t>金融（</a:t>
            </a:r>
            <a:r>
              <a:rPr dirty="0"/>
              <a:t>Finance</a:t>
            </a:r>
            <a:r>
              <a:rPr lang="zh-CN" altLang="en-US" dirty="0"/>
              <a:t>）</a:t>
            </a:r>
            <a:r>
              <a:rPr dirty="0"/>
              <a:t> 和 </a:t>
            </a:r>
            <a:r>
              <a:rPr lang="zh-CN" altLang="en-US" dirty="0"/>
              <a:t>法律（</a:t>
            </a:r>
            <a:r>
              <a:rPr dirty="0"/>
              <a:t>Legal</a:t>
            </a:r>
            <a:r>
              <a:rPr lang="zh-CN" altLang="en-US" dirty="0"/>
              <a:t>）</a:t>
            </a:r>
            <a:r>
              <a:rPr dirty="0"/>
              <a:t> </a:t>
            </a:r>
            <a:r>
              <a:rPr dirty="0" err="1"/>
              <a:t>这些领域可以达到与</a:t>
            </a:r>
            <a:r>
              <a:rPr dirty="0"/>
              <a:t> </a:t>
            </a:r>
            <a:r>
              <a:rPr dirty="0" err="1"/>
              <a:t>baseline_clip</a:t>
            </a:r>
            <a:r>
              <a:rPr dirty="0"/>
              <a:t> </a:t>
            </a:r>
            <a:r>
              <a:rPr dirty="0" err="1"/>
              <a:t>持平，甚至在</a:t>
            </a:r>
            <a:r>
              <a:rPr lang="zh-CN" altLang="en-US" dirty="0"/>
              <a:t>教育（</a:t>
            </a:r>
            <a:r>
              <a:rPr dirty="0"/>
              <a:t> Education</a:t>
            </a:r>
            <a:r>
              <a:rPr lang="zh-CN" altLang="en-US" dirty="0"/>
              <a:t>）</a:t>
            </a:r>
            <a:r>
              <a:rPr dirty="0"/>
              <a:t> </a:t>
            </a:r>
            <a:r>
              <a:rPr dirty="0" err="1"/>
              <a:t>上更优；在</a:t>
            </a:r>
            <a:r>
              <a:rPr dirty="0"/>
              <a:t> </a:t>
            </a:r>
            <a:r>
              <a:rPr lang="zh-CN" altLang="en-US" dirty="0"/>
              <a:t>客户关系管理（</a:t>
            </a:r>
            <a:r>
              <a:rPr dirty="0"/>
              <a:t>CRM</a:t>
            </a:r>
            <a:r>
              <a:rPr lang="zh-CN" altLang="en-US" dirty="0"/>
              <a:t>）</a:t>
            </a:r>
            <a:r>
              <a:rPr dirty="0"/>
              <a:t> 和</a:t>
            </a:r>
            <a:r>
              <a:rPr lang="zh-CN" altLang="en-US" dirty="0"/>
              <a:t>建筑（</a:t>
            </a:r>
            <a:r>
              <a:rPr dirty="0"/>
              <a:t> Construction</a:t>
            </a:r>
            <a:r>
              <a:rPr lang="zh-CN" altLang="en-US" dirty="0"/>
              <a:t>）</a:t>
            </a:r>
            <a:r>
              <a:rPr dirty="0"/>
              <a:t> </a:t>
            </a:r>
            <a:r>
              <a:rPr dirty="0" err="1"/>
              <a:t>上略弱于</a:t>
            </a:r>
            <a:r>
              <a:rPr dirty="0"/>
              <a:t> </a:t>
            </a:r>
            <a:r>
              <a:rPr dirty="0" err="1"/>
              <a:t>baseline</a:t>
            </a:r>
            <a:r>
              <a:rPr lang="en-US" dirty="0" err="1"/>
              <a:t>_clip</a:t>
            </a:r>
            <a:r>
              <a:rPr dirty="0" err="1"/>
              <a:t>；在</a:t>
            </a:r>
            <a:r>
              <a:rPr dirty="0"/>
              <a:t> </a:t>
            </a:r>
            <a:r>
              <a:rPr lang="zh-CN" altLang="en-US" dirty="0"/>
              <a:t>能源（</a:t>
            </a:r>
            <a:r>
              <a:rPr dirty="0"/>
              <a:t>Energy</a:t>
            </a:r>
            <a:r>
              <a:rPr lang="zh-CN" altLang="en-US" dirty="0"/>
              <a:t>）</a:t>
            </a:r>
            <a:r>
              <a:rPr dirty="0"/>
              <a:t> 和 </a:t>
            </a:r>
            <a:r>
              <a:rPr lang="zh-CN" altLang="en-US" dirty="0"/>
              <a:t>医疗健康（</a:t>
            </a:r>
            <a:r>
              <a:rPr dirty="0"/>
              <a:t>Healthcare</a:t>
            </a:r>
            <a:r>
              <a:rPr lang="zh-CN" altLang="en-US" dirty="0"/>
              <a:t>）</a:t>
            </a:r>
            <a:r>
              <a:rPr dirty="0"/>
              <a:t> </a:t>
            </a:r>
            <a:r>
              <a:rPr dirty="0" err="1"/>
              <a:t>上两者比较接近。整体来看，proposed</a:t>
            </a:r>
            <a:r>
              <a:rPr dirty="0"/>
              <a:t> </a:t>
            </a:r>
            <a:r>
              <a:rPr dirty="0" err="1"/>
              <a:t>的生成效果在多数领域已经具备较强竞争力，但仍然存在领域间表现不均衡的问题</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0F5EA-641F-1EE3-DA7E-CC06534DA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66609-F0CD-8474-86FB-CAA757FABEC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B9E2E5B-4BB7-1E17-B5D3-A7C9B81A1D85}"/>
              </a:ext>
            </a:extLst>
          </p:cNvPr>
          <p:cNvSpPr>
            <a:spLocks noGrp="1"/>
          </p:cNvSpPr>
          <p:nvPr>
            <p:ph type="body" sz="quarter" idx="3"/>
          </p:nvPr>
        </p:nvSpPr>
        <p:spPr/>
        <p:txBody>
          <a:bodyPr/>
          <a:lstStyle/>
          <a:p>
            <a:r>
              <a:rPr dirty="0" err="1"/>
              <a:t>如果把</a:t>
            </a:r>
            <a:r>
              <a:rPr dirty="0"/>
              <a:t> proposed </a:t>
            </a:r>
            <a:r>
              <a:rPr dirty="0" err="1"/>
              <a:t>分别和两个基线做差值比较，结果会更清楚。相对于</a:t>
            </a:r>
            <a:r>
              <a:rPr dirty="0"/>
              <a:t> </a:t>
            </a:r>
            <a:r>
              <a:rPr dirty="0" err="1"/>
              <a:t>no_rag，proposed</a:t>
            </a:r>
            <a:r>
              <a:rPr dirty="0"/>
              <a:t> </a:t>
            </a:r>
            <a:r>
              <a:rPr dirty="0" err="1"/>
              <a:t>在回答正确性、图像上下文相关性和图像忠实度上的提升都很明显，尤其图像上下文相关性提升接近</a:t>
            </a:r>
            <a:r>
              <a:rPr dirty="0"/>
              <a:t> 0.93。相对于 </a:t>
            </a:r>
            <a:r>
              <a:rPr dirty="0" err="1"/>
              <a:t>baseline_clip，proposed</a:t>
            </a:r>
            <a:r>
              <a:rPr dirty="0"/>
              <a:t> </a:t>
            </a:r>
            <a:r>
              <a:rPr dirty="0" err="1"/>
              <a:t>在图像上下文相关性和答案相关性上略有增益，但在回答正确性和图像忠实度上还没有明显超过它</a:t>
            </a:r>
            <a:r>
              <a:rPr dirty="0"/>
              <a:t>。</a:t>
            </a:r>
          </a:p>
        </p:txBody>
      </p:sp>
      <p:sp>
        <p:nvSpPr>
          <p:cNvPr id="4" name="Slide Number Placeholder 3">
            <a:extLst>
              <a:ext uri="{FF2B5EF4-FFF2-40B4-BE49-F238E27FC236}">
                <a16:creationId xmlns:a16="http://schemas.microsoft.com/office/drawing/2014/main" id="{46458ADE-F7C3-C4C8-4653-9233285549A7}"/>
              </a:ext>
            </a:extLst>
          </p:cNvPr>
          <p:cNvSpPr>
            <a:spLocks noGrp="1"/>
          </p:cNvSpPr>
          <p:nvPr>
            <p:ph type="sldNum" sz="quarter" idx="5"/>
          </p:nvPr>
        </p:nvSpPr>
        <p:spPr/>
      </p:sp>
    </p:spTree>
    <p:extLst>
      <p:ext uri="{BB962C8B-B14F-4D97-AF65-F5344CB8AC3E}">
        <p14:creationId xmlns:p14="http://schemas.microsoft.com/office/powerpoint/2010/main" val="27335944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C2358-2309-90C0-147F-187FAE9FC8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5A0C7B-5B25-DCD1-D5F3-9EC538D27F6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A3716F5-69C0-7A4A-9522-D047878D8C03}"/>
              </a:ext>
            </a:extLst>
          </p:cNvPr>
          <p:cNvSpPr>
            <a:spLocks noGrp="1"/>
          </p:cNvSpPr>
          <p:nvPr>
            <p:ph type="body" sz="quarter" idx="3"/>
          </p:nvPr>
        </p:nvSpPr>
        <p:spPr/>
        <p:txBody>
          <a:bodyPr/>
          <a:lstStyle/>
          <a:p>
            <a:r>
              <a:rPr dirty="0" err="1"/>
              <a:t>进一步按问题类型来看，在</a:t>
            </a:r>
            <a:r>
              <a:rPr lang="zh-CN" altLang="en-US" dirty="0"/>
              <a:t>因果推理和 时间维度对比 </a:t>
            </a:r>
            <a:r>
              <a:rPr dirty="0"/>
              <a:t> </a:t>
            </a:r>
            <a:r>
              <a:rPr lang="zh-CN" altLang="en-US" dirty="0"/>
              <a:t>（</a:t>
            </a:r>
            <a:r>
              <a:rPr lang="en-US" dirty="0"/>
              <a:t>Casual </a:t>
            </a:r>
            <a:r>
              <a:rPr lang="zh-CN" altLang="en-US" dirty="0"/>
              <a:t>）和 时间维度（</a:t>
            </a:r>
            <a:r>
              <a:rPr lang="en-US" dirty="0"/>
              <a:t>Temporal</a:t>
            </a:r>
            <a:r>
              <a:rPr lang="zh-CN" altLang="en-US" dirty="0"/>
              <a:t>） </a:t>
            </a:r>
            <a:r>
              <a:rPr dirty="0" err="1"/>
              <a:t>这两类问题上，proposed</a:t>
            </a:r>
            <a:r>
              <a:rPr dirty="0"/>
              <a:t> 与 </a:t>
            </a:r>
            <a:r>
              <a:rPr dirty="0" err="1"/>
              <a:t>baseline_clip</a:t>
            </a:r>
            <a:r>
              <a:rPr dirty="0"/>
              <a:t> </a:t>
            </a:r>
            <a:r>
              <a:rPr dirty="0" err="1"/>
              <a:t>基本持平；在</a:t>
            </a:r>
            <a:r>
              <a:rPr dirty="0"/>
              <a:t> </a:t>
            </a:r>
            <a:r>
              <a:rPr lang="zh-CN" altLang="en-US" dirty="0"/>
              <a:t>事实检索题（</a:t>
            </a:r>
            <a:r>
              <a:rPr dirty="0"/>
              <a:t>Factual</a:t>
            </a:r>
            <a:r>
              <a:rPr lang="zh-CN" altLang="en-US" dirty="0"/>
              <a:t>）</a:t>
            </a:r>
            <a:r>
              <a:rPr dirty="0"/>
              <a:t> </a:t>
            </a:r>
            <a:r>
              <a:rPr dirty="0" err="1"/>
              <a:t>类型上，proposed</a:t>
            </a:r>
            <a:r>
              <a:rPr dirty="0"/>
              <a:t> </a:t>
            </a:r>
            <a:r>
              <a:rPr dirty="0" err="1"/>
              <a:t>还略优；但在</a:t>
            </a:r>
            <a:r>
              <a:rPr dirty="0"/>
              <a:t> </a:t>
            </a:r>
            <a:r>
              <a:rPr lang="zh-CN" altLang="en-US" dirty="0"/>
              <a:t>对比题（</a:t>
            </a:r>
            <a:r>
              <a:rPr dirty="0"/>
              <a:t>Comparison</a:t>
            </a:r>
            <a:r>
              <a:rPr lang="zh-CN" altLang="en-US" dirty="0"/>
              <a:t>）</a:t>
            </a:r>
            <a:r>
              <a:rPr dirty="0"/>
              <a:t> 和 </a:t>
            </a:r>
            <a:r>
              <a:rPr lang="zh-CN" altLang="en-US" dirty="0"/>
              <a:t>总结概括题（</a:t>
            </a:r>
            <a:r>
              <a:rPr dirty="0"/>
              <a:t>Summarization</a:t>
            </a:r>
            <a:r>
              <a:rPr lang="zh-CN" altLang="en-US" dirty="0"/>
              <a:t>）</a:t>
            </a:r>
            <a:r>
              <a:rPr dirty="0"/>
              <a:t> </a:t>
            </a:r>
            <a:r>
              <a:rPr dirty="0" err="1"/>
              <a:t>这类更复杂的问题上，proposed</a:t>
            </a:r>
            <a:r>
              <a:rPr dirty="0"/>
              <a:t> </a:t>
            </a:r>
            <a:r>
              <a:rPr dirty="0" err="1"/>
              <a:t>仍然稍弱。这说明当前方法在直接事实型问题上的表现已经比较稳定，但在更依赖综合归纳和比较能力的题型上还需要继续提升</a:t>
            </a:r>
            <a:endParaRPr dirty="0"/>
          </a:p>
        </p:txBody>
      </p:sp>
      <p:sp>
        <p:nvSpPr>
          <p:cNvPr id="4" name="Slide Number Placeholder 3">
            <a:extLst>
              <a:ext uri="{FF2B5EF4-FFF2-40B4-BE49-F238E27FC236}">
                <a16:creationId xmlns:a16="http://schemas.microsoft.com/office/drawing/2014/main" id="{6F91DCBB-FF3B-7E99-776C-E5C4ECEA3B3D}"/>
              </a:ext>
            </a:extLst>
          </p:cNvPr>
          <p:cNvSpPr>
            <a:spLocks noGrp="1"/>
          </p:cNvSpPr>
          <p:nvPr>
            <p:ph type="sldNum" sz="quarter" idx="5"/>
          </p:nvPr>
        </p:nvSpPr>
        <p:spPr/>
      </p:sp>
    </p:spTree>
    <p:extLst>
      <p:ext uri="{BB962C8B-B14F-4D97-AF65-F5344CB8AC3E}">
        <p14:creationId xmlns:p14="http://schemas.microsoft.com/office/powerpoint/2010/main" val="2426981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1D470-8B9F-2295-F502-0C236AE5B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6267FE-77C8-53B8-00BC-8671F39B122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AADFCB2-7929-EF4A-26A3-2872F915B51A}"/>
              </a:ext>
            </a:extLst>
          </p:cNvPr>
          <p:cNvSpPr>
            <a:spLocks noGrp="1"/>
          </p:cNvSpPr>
          <p:nvPr>
            <p:ph type="body" sz="quarter" idx="3"/>
          </p:nvPr>
        </p:nvSpPr>
        <p:spPr/>
        <p:txBody>
          <a:bodyPr/>
          <a:lstStyle/>
          <a:p>
            <a:r>
              <a:rPr dirty="0" err="1"/>
              <a:t>再看相关性和忠实度的对比</a:t>
            </a:r>
            <a:r>
              <a:rPr dirty="0"/>
              <a:t>。</a:t>
            </a:r>
            <a:r>
              <a:rPr lang="zh-CN" altLang="en-US" dirty="0"/>
              <a:t>答案相关性（</a:t>
            </a:r>
            <a:r>
              <a:rPr lang="en-US" altLang="zh-CN" dirty="0"/>
              <a:t>Answer Relevancy</a:t>
            </a:r>
            <a:r>
              <a:rPr lang="zh-CN" altLang="en-US" dirty="0"/>
              <a:t>）</a:t>
            </a:r>
            <a:r>
              <a:rPr dirty="0" err="1"/>
              <a:t>上三种方法都很高，差距不大</a:t>
            </a:r>
            <a:r>
              <a:rPr dirty="0"/>
              <a:t>；</a:t>
            </a:r>
            <a:r>
              <a:rPr lang="zh-CN" altLang="en-US" dirty="0"/>
              <a:t>图像上下文相关性（</a:t>
            </a:r>
            <a:r>
              <a:rPr lang="en-US" altLang="zh-CN" dirty="0"/>
              <a:t>Image Context Relevancy</a:t>
            </a:r>
            <a:r>
              <a:rPr lang="zh-CN" altLang="en-US" dirty="0"/>
              <a:t>）</a:t>
            </a:r>
            <a:r>
              <a:rPr dirty="0" err="1"/>
              <a:t>上，proposed</a:t>
            </a:r>
            <a:r>
              <a:rPr dirty="0"/>
              <a:t> </a:t>
            </a:r>
            <a:r>
              <a:rPr dirty="0" err="1"/>
              <a:t>略高于</a:t>
            </a:r>
            <a:r>
              <a:rPr dirty="0"/>
              <a:t> </a:t>
            </a:r>
            <a:r>
              <a:rPr dirty="0" err="1"/>
              <a:t>baseline_clip；而</a:t>
            </a:r>
            <a:r>
              <a:rPr dirty="0"/>
              <a:t> </a:t>
            </a:r>
            <a:r>
              <a:rPr lang="zh-CN" altLang="en-US" dirty="0"/>
              <a:t>图像忠实度</a:t>
            </a:r>
            <a:r>
              <a:rPr lang="en-US" altLang="zh-CN" dirty="0"/>
              <a:t>(Image Context Relevancy)</a:t>
            </a:r>
            <a:r>
              <a:rPr dirty="0" err="1"/>
              <a:t>上，baseline_clip</a:t>
            </a:r>
            <a:r>
              <a:rPr dirty="0"/>
              <a:t> </a:t>
            </a:r>
            <a:r>
              <a:rPr dirty="0" err="1"/>
              <a:t>仍然稍强一些。也就是说，proposed</a:t>
            </a:r>
            <a:r>
              <a:rPr dirty="0"/>
              <a:t> </a:t>
            </a:r>
            <a:r>
              <a:rPr dirty="0" err="1"/>
              <a:t>更擅长检索到和问题更匹配的视觉上下文，但在最终生成内容对图像证据的忠实表达上，还存在继续优化的空间</a:t>
            </a:r>
            <a:r>
              <a:rPr dirty="0"/>
              <a:t>。</a:t>
            </a:r>
          </a:p>
        </p:txBody>
      </p:sp>
      <p:sp>
        <p:nvSpPr>
          <p:cNvPr id="4" name="Slide Number Placeholder 3">
            <a:extLst>
              <a:ext uri="{FF2B5EF4-FFF2-40B4-BE49-F238E27FC236}">
                <a16:creationId xmlns:a16="http://schemas.microsoft.com/office/drawing/2014/main" id="{DB7E0EE0-0B43-D07A-BFFA-CEB06F7177C6}"/>
              </a:ext>
            </a:extLst>
          </p:cNvPr>
          <p:cNvSpPr>
            <a:spLocks noGrp="1"/>
          </p:cNvSpPr>
          <p:nvPr>
            <p:ph type="sldNum" sz="quarter" idx="5"/>
          </p:nvPr>
        </p:nvSpPr>
        <p:spPr/>
      </p:sp>
    </p:spTree>
    <p:extLst>
      <p:ext uri="{BB962C8B-B14F-4D97-AF65-F5344CB8AC3E}">
        <p14:creationId xmlns:p14="http://schemas.microsoft.com/office/powerpoint/2010/main" val="25612918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en-US" dirty="0"/>
              <a:t>为图像生成文本描述使用</a:t>
            </a:r>
            <a:r>
              <a:rPr lang="en-US" altLang="zh-CN" dirty="0"/>
              <a:t>API</a:t>
            </a:r>
            <a:r>
              <a:rPr lang="zh-CN" altLang="en-US" dirty="0"/>
              <a:t>费用昂贵，如果能对小参数模型进行微调实现高质量的图像语义描述并进行本地部署会节省大量成本</a:t>
            </a:r>
            <a:r>
              <a:rPr dirty="0"/>
              <a:t>。</a:t>
            </a:r>
            <a:r>
              <a:rPr dirty="0" err="1"/>
              <a:t>目前基于</a:t>
            </a:r>
            <a:r>
              <a:rPr dirty="0"/>
              <a:t> </a:t>
            </a:r>
            <a:r>
              <a:rPr dirty="0" err="1"/>
              <a:t>UniDoc</a:t>
            </a:r>
            <a:r>
              <a:rPr dirty="0"/>
              <a:t>-Bench </a:t>
            </a:r>
            <a:r>
              <a:rPr dirty="0" err="1"/>
              <a:t>图像及描述文本构建了监督微调数据集，其中训练样本</a:t>
            </a:r>
            <a:r>
              <a:rPr dirty="0"/>
              <a:t> 888 </a:t>
            </a:r>
            <a:r>
              <a:rPr dirty="0" err="1"/>
              <a:t>条、验证样本</a:t>
            </a:r>
            <a:r>
              <a:rPr dirty="0"/>
              <a:t> 47 </a:t>
            </a:r>
            <a:r>
              <a:rPr dirty="0" err="1"/>
              <a:t>条，并完成了基于</a:t>
            </a:r>
            <a:r>
              <a:rPr dirty="0"/>
              <a:t> Qwen3.5-4B 的 </a:t>
            </a:r>
            <a:r>
              <a:rPr dirty="0" err="1"/>
              <a:t>LoRA</a:t>
            </a:r>
            <a:r>
              <a:rPr dirty="0"/>
              <a:t> </a:t>
            </a:r>
            <a:r>
              <a:rPr dirty="0" err="1"/>
              <a:t>微调训练，共</a:t>
            </a:r>
            <a:r>
              <a:rPr dirty="0"/>
              <a:t> 140 个 </a:t>
            </a:r>
            <a:r>
              <a:rPr dirty="0" err="1"/>
              <a:t>step。训练损失整体持续下降，验证损失在</a:t>
            </a:r>
            <a:r>
              <a:rPr dirty="0"/>
              <a:t> step-75 </a:t>
            </a:r>
            <a:r>
              <a:rPr dirty="0" err="1"/>
              <a:t>左右达到最低的</a:t>
            </a:r>
            <a:r>
              <a:rPr dirty="0"/>
              <a:t> 0.5892，说明训练过程是有效的；但后期验证损失改善有限，也表明当前微调效果还没有完全稳定。</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综合来看，目前存在四个比较突出的短板。第一</a:t>
            </a:r>
            <a:r>
              <a:rPr dirty="0"/>
              <a:t>，</a:t>
            </a:r>
            <a:r>
              <a:rPr lang="zh-CN" altLang="en-US" dirty="0"/>
              <a:t>在检索器和生成器评估中</a:t>
            </a:r>
            <a:r>
              <a:rPr dirty="0"/>
              <a:t>OCR </a:t>
            </a:r>
            <a:r>
              <a:rPr dirty="0" err="1"/>
              <a:t>基线索引构建不完整，导致相关指标失真</a:t>
            </a:r>
            <a:r>
              <a:rPr lang="zh-CN" altLang="en-US" dirty="0"/>
              <a:t>，故前面并没有参与对比</a:t>
            </a:r>
            <a:r>
              <a:rPr dirty="0"/>
              <a:t>；第二，模型微调效果还不够稳定，与预期目标仍有差距；第三，系统在响应速度方面还有优化空间；第四，在异常处理、恢复机制和工程化规范方面仍需继续完善。这些问题基本对应了当前系统从实验到工程落地两条线上的主要不足。</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下一阶段的工作计划主要围绕五个方向展开。首先是修复</a:t>
            </a:r>
            <a:r>
              <a:rPr dirty="0"/>
              <a:t> OCR </a:t>
            </a:r>
            <a:r>
              <a:rPr dirty="0" err="1"/>
              <a:t>基线问题并重跑相关实验，保证实验对照完整；其次是继续优化模型微调和图像描述能力；第三是完善多模态</a:t>
            </a:r>
            <a:r>
              <a:rPr dirty="0"/>
              <a:t> RAG </a:t>
            </a:r>
            <a:r>
              <a:rPr dirty="0" err="1"/>
              <a:t>链路并降低系统延迟；第四是加强测试和系统体验优化；最后是同步推进论文初稿撰写和材料整理，为后续论文定稿和答辩做好准备</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我的汇报到这里结束。整体来看，前一阶段我已经完成了文献调研、系统原型开发、检索与生成实验以及模型微调探索等工作，系统已经具备了较完整的运行框架。接下来我会继续围绕实验完善、性能优化和论文写作三个方向推进。请各位老师批评指正。</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6DA0B-1D1F-FBCC-27DC-AC4E8D3605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ABE39-E1B1-92A9-5766-C30A84FCDA4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D1D4DB5-F410-0952-2399-8868C84F8903}"/>
              </a:ext>
            </a:extLst>
          </p:cNvPr>
          <p:cNvSpPr>
            <a:spLocks noGrp="1"/>
          </p:cNvSpPr>
          <p:nvPr>
            <p:ph type="body" sz="quarter" idx="3"/>
          </p:nvPr>
        </p:nvSpPr>
        <p:spPr/>
        <p:txBody>
          <a:bodyPr/>
          <a:lstStyle/>
          <a:p>
            <a:r>
              <a:rPr dirty="0" err="1"/>
              <a:t>除了看指标本身，我还分析了首个命中结果的排名分布。可以看到，baseline_clip</a:t>
            </a:r>
            <a:r>
              <a:rPr dirty="0"/>
              <a:t> </a:t>
            </a:r>
            <a:r>
              <a:rPr dirty="0" err="1"/>
              <a:t>有更高比例的结果直接命中在第</a:t>
            </a:r>
            <a:r>
              <a:rPr dirty="0"/>
              <a:t> 1 </a:t>
            </a:r>
            <a:r>
              <a:rPr dirty="0" err="1"/>
              <a:t>名，而</a:t>
            </a:r>
            <a:r>
              <a:rPr dirty="0"/>
              <a:t> proposed </a:t>
            </a:r>
            <a:r>
              <a:rPr dirty="0" err="1"/>
              <a:t>更多落在前</a:t>
            </a:r>
            <a:r>
              <a:rPr dirty="0"/>
              <a:t> 2 到 5 名区间。换句话说，当前方法虽然能把正确结果稳定召回到较靠前的位置，但在把最优结果直接顶到第一名这件事上，排序能力还有继续优化的空间。</a:t>
            </a:r>
          </a:p>
        </p:txBody>
      </p:sp>
      <p:sp>
        <p:nvSpPr>
          <p:cNvPr id="4" name="Slide Number Placeholder 3">
            <a:extLst>
              <a:ext uri="{FF2B5EF4-FFF2-40B4-BE49-F238E27FC236}">
                <a16:creationId xmlns:a16="http://schemas.microsoft.com/office/drawing/2014/main" id="{C058CF1E-58DA-3F17-8492-8693360FE089}"/>
              </a:ext>
            </a:extLst>
          </p:cNvPr>
          <p:cNvSpPr>
            <a:spLocks noGrp="1"/>
          </p:cNvSpPr>
          <p:nvPr>
            <p:ph type="sldNum" sz="quarter" idx="5"/>
          </p:nvPr>
        </p:nvSpPr>
        <p:spPr/>
      </p:sp>
    </p:spTree>
    <p:extLst>
      <p:ext uri="{BB962C8B-B14F-4D97-AF65-F5344CB8AC3E}">
        <p14:creationId xmlns:p14="http://schemas.microsoft.com/office/powerpoint/2010/main" val="1579218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901" y="4769032"/>
            <a:ext cx="2057193" cy="273290"/>
          </a:xfrm>
          <a:prstGeom prst="rect">
            <a:avLst/>
          </a:prstGeom>
        </p:spPr>
        <p:txBody>
          <a:bodyPr/>
          <a:lstStyle/>
          <a:p>
            <a:fld id="{32BF82D2-7A68-459D-A996-9BDDA2518FA4}" type="datetimeFigureOut">
              <a:rPr lang="zh-CN" altLang="en-US" smtClean="0"/>
              <a:pPr/>
              <a:t>2026/4/10</a:t>
            </a:fld>
            <a:endParaRPr lang="zh-CN" altLang="en-US"/>
          </a:p>
        </p:txBody>
      </p:sp>
      <p:sp>
        <p:nvSpPr>
          <p:cNvPr id="3" name="页脚占位符 2"/>
          <p:cNvSpPr>
            <a:spLocks noGrp="1"/>
          </p:cNvSpPr>
          <p:nvPr>
            <p:ph type="ftr" sz="quarter" idx="11"/>
          </p:nvPr>
        </p:nvSpPr>
        <p:spPr>
          <a:xfrm>
            <a:off x="3029336" y="4769032"/>
            <a:ext cx="3086918" cy="273290"/>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9496" y="4769032"/>
            <a:ext cx="2057193" cy="273290"/>
          </a:xfrm>
          <a:prstGeom prst="rect">
            <a:avLst/>
          </a:prstGeom>
        </p:spPr>
        <p:txBody>
          <a:bodyPr/>
          <a:lstStyle/>
          <a:p>
            <a:fld id="{3E01EE5D-26FB-46D5-A381-ECFB35BF1D34}" type="slidenum">
              <a:rPr lang="zh-CN" altLang="en-US" smtClean="0"/>
              <a:pPr/>
              <a:t>‹#›</a:t>
            </a:fld>
            <a:endParaRPr lang="zh-CN" altLang="en-US"/>
          </a:p>
        </p:txBody>
      </p:sp>
      <p:sp>
        <p:nvSpPr>
          <p:cNvPr id="5" name="文本框 32"/>
          <p:cNvSpPr txBox="1"/>
          <p:nvPr userDrawn="1"/>
        </p:nvSpPr>
        <p:spPr>
          <a:xfrm>
            <a:off x="265271" y="257676"/>
            <a:ext cx="2292943" cy="284697"/>
          </a:xfrm>
          <a:prstGeom prst="rect">
            <a:avLst/>
          </a:prstGeom>
          <a:noFill/>
        </p:spPr>
        <p:txBody>
          <a:bodyPr wrap="none" lIns="68584" tIns="34292" rIns="68584" bIns="34292" rtlCol="0">
            <a:spAutoFit/>
          </a:bodyPr>
          <a:lstStyle/>
          <a:p>
            <a:pPr defTabSz="685795"/>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东北大学毕业设计（论文）</a:t>
            </a:r>
          </a:p>
        </p:txBody>
      </p:sp>
    </p:spTree>
    <p:extLst>
      <p:ext uri="{BB962C8B-B14F-4D97-AF65-F5344CB8AC3E}">
        <p14:creationId xmlns:p14="http://schemas.microsoft.com/office/powerpoint/2010/main" val="1933288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901" y="4769032"/>
            <a:ext cx="2057193" cy="273290"/>
          </a:xfrm>
          <a:prstGeom prst="rect">
            <a:avLst/>
          </a:prstGeom>
        </p:spPr>
        <p:txBody>
          <a:bodyPr/>
          <a:lstStyle/>
          <a:p>
            <a:fld id="{32BF82D2-7A68-459D-A996-9BDDA2518FA4}" type="datetimeFigureOut">
              <a:rPr lang="zh-CN" altLang="en-US" smtClean="0"/>
              <a:pPr/>
              <a:t>2026/4/10</a:t>
            </a:fld>
            <a:endParaRPr lang="zh-CN" altLang="en-US"/>
          </a:p>
        </p:txBody>
      </p:sp>
      <p:sp>
        <p:nvSpPr>
          <p:cNvPr id="3" name="页脚占位符 2"/>
          <p:cNvSpPr>
            <a:spLocks noGrp="1"/>
          </p:cNvSpPr>
          <p:nvPr>
            <p:ph type="ftr" sz="quarter" idx="11"/>
          </p:nvPr>
        </p:nvSpPr>
        <p:spPr>
          <a:xfrm>
            <a:off x="3029336" y="4769032"/>
            <a:ext cx="3086918" cy="273290"/>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459496" y="4769032"/>
            <a:ext cx="2057193" cy="273290"/>
          </a:xfrm>
          <a:prstGeom prst="rect">
            <a:avLst/>
          </a:prstGeom>
        </p:spPr>
        <p:txBody>
          <a:bodyPr/>
          <a:lstStyle/>
          <a:p>
            <a:fld id="{3E01EE5D-26FB-46D5-A381-ECFB35BF1D34}" type="slidenum">
              <a:rPr lang="zh-CN" altLang="en-US" smtClean="0"/>
              <a:pPr/>
              <a:t>‹#›</a:t>
            </a:fld>
            <a:endParaRPr lang="zh-CN" altLang="en-US"/>
          </a:p>
        </p:txBody>
      </p:sp>
    </p:spTree>
    <p:extLst>
      <p:ext uri="{BB962C8B-B14F-4D97-AF65-F5344CB8AC3E}">
        <p14:creationId xmlns:p14="http://schemas.microsoft.com/office/powerpoint/2010/main" val="1933288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a:alphaModFix amt="40000"/>
            <a:duotone>
              <a:schemeClr val="accent1">
                <a:shade val="45000"/>
                <a:satMod val="135000"/>
              </a:schemeClr>
              <a:prstClr val="white"/>
            </a:duotone>
            <a:lum/>
          </a:blip>
          <a:srcRect/>
          <a:stretch>
            <a:fillRect t="-39000" b="-3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6335761"/>
      </p:ext>
    </p:extLst>
  </p:cSld>
  <p:clrMapOvr>
    <a:masterClrMapping/>
  </p:clrMapOvr>
  <mc:AlternateContent xmlns:mc="http://schemas.openxmlformats.org/markup-compatibility/2006" xmlns:p14="http://schemas.microsoft.com/office/powerpoint/2010/main">
    <mc:Choice Requires="p14">
      <p:transition spd="med" p14:dur="700" advTm="0">
        <p:fade/>
      </p:transition>
    </mc:Choice>
    <mc:Fallback xmlns="">
      <p:transition spd="med" advTm="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6624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末尾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129752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7">
            <a:alphaModFix amt="50000"/>
            <a:duotone>
              <a:schemeClr val="accent1">
                <a:shade val="45000"/>
                <a:satMod val="135000"/>
              </a:schemeClr>
              <a:prstClr val="white"/>
            </a:duotone>
            <a:lum/>
          </a:blip>
          <a:srcRect/>
          <a:stretch>
            <a:fillRect t="-39000" b="-39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5056897"/>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Lst>
  <p:txStyles>
    <p:titleStyle>
      <a:lvl1pPr algn="l" defTabSz="650321" rtl="0" eaLnBrk="1" latinLnBrk="0" hangingPunct="1">
        <a:lnSpc>
          <a:spcPct val="90000"/>
        </a:lnSpc>
        <a:spcBef>
          <a:spcPct val="0"/>
        </a:spcBef>
        <a:buNone/>
        <a:defRPr sz="3100" kern="1200">
          <a:solidFill>
            <a:schemeClr val="tx1"/>
          </a:solidFill>
          <a:latin typeface="+mj-lt"/>
          <a:ea typeface="+mj-ea"/>
          <a:cs typeface="+mj-cs"/>
        </a:defRPr>
      </a:lvl1pPr>
    </p:titleStyle>
    <p:bodyStyle>
      <a:lvl1pPr marL="162580" indent="-162580" algn="l" defTabSz="650321" rtl="0" eaLnBrk="1" latinLnBrk="0" hangingPunct="1">
        <a:lnSpc>
          <a:spcPct val="90000"/>
        </a:lnSpc>
        <a:spcBef>
          <a:spcPts val="711"/>
        </a:spcBef>
        <a:buFont typeface="Arial" panose="020B0604020202020204" pitchFamily="34" charset="0"/>
        <a:buChar char="•"/>
        <a:defRPr sz="2000" kern="1200">
          <a:solidFill>
            <a:schemeClr val="tx1"/>
          </a:solidFill>
          <a:latin typeface="+mn-lt"/>
          <a:ea typeface="+mn-ea"/>
          <a:cs typeface="+mn-cs"/>
        </a:defRPr>
      </a:lvl1pPr>
      <a:lvl2pPr marL="487741" indent="-162580" algn="l" defTabSz="650321" rtl="0" eaLnBrk="1" latinLnBrk="0" hangingPunct="1">
        <a:lnSpc>
          <a:spcPct val="90000"/>
        </a:lnSpc>
        <a:spcBef>
          <a:spcPts val="356"/>
        </a:spcBef>
        <a:buFont typeface="Arial" panose="020B0604020202020204" pitchFamily="34" charset="0"/>
        <a:buChar char="•"/>
        <a:defRPr sz="1700" kern="1200">
          <a:solidFill>
            <a:schemeClr val="tx1"/>
          </a:solidFill>
          <a:latin typeface="+mn-lt"/>
          <a:ea typeface="+mn-ea"/>
          <a:cs typeface="+mn-cs"/>
        </a:defRPr>
      </a:lvl2pPr>
      <a:lvl3pPr marL="812902" indent="-162580" algn="l" defTabSz="650321" rtl="0" eaLnBrk="1" latinLnBrk="0" hangingPunct="1">
        <a:lnSpc>
          <a:spcPct val="90000"/>
        </a:lnSpc>
        <a:spcBef>
          <a:spcPts val="356"/>
        </a:spcBef>
        <a:buFont typeface="Arial" panose="020B0604020202020204" pitchFamily="34" charset="0"/>
        <a:buChar char="•"/>
        <a:defRPr sz="1400" kern="1200">
          <a:solidFill>
            <a:schemeClr val="tx1"/>
          </a:solidFill>
          <a:latin typeface="+mn-lt"/>
          <a:ea typeface="+mn-ea"/>
          <a:cs typeface="+mn-cs"/>
        </a:defRPr>
      </a:lvl3pPr>
      <a:lvl4pPr marL="1138062"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4pPr>
      <a:lvl5pPr marL="1463223"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5pPr>
      <a:lvl6pPr marL="178838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6pPr>
      <a:lvl7pPr marL="211354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7pPr>
      <a:lvl8pPr marL="243870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8pPr>
      <a:lvl9pPr marL="276386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9pPr>
    </p:bodyStyle>
    <p:otherStyle>
      <a:defPPr>
        <a:defRPr lang="zh-CN"/>
      </a:defPPr>
      <a:lvl1pPr marL="0" algn="l" defTabSz="650321" rtl="0" eaLnBrk="1" latinLnBrk="0" hangingPunct="1">
        <a:defRPr sz="1300" kern="1200">
          <a:solidFill>
            <a:schemeClr val="tx1"/>
          </a:solidFill>
          <a:latin typeface="+mn-lt"/>
          <a:ea typeface="+mn-ea"/>
          <a:cs typeface="+mn-cs"/>
        </a:defRPr>
      </a:lvl1pPr>
      <a:lvl2pPr marL="325161" algn="l" defTabSz="650321" rtl="0" eaLnBrk="1" latinLnBrk="0" hangingPunct="1">
        <a:defRPr sz="1300" kern="1200">
          <a:solidFill>
            <a:schemeClr val="tx1"/>
          </a:solidFill>
          <a:latin typeface="+mn-lt"/>
          <a:ea typeface="+mn-ea"/>
          <a:cs typeface="+mn-cs"/>
        </a:defRPr>
      </a:lvl2pPr>
      <a:lvl3pPr marL="650321" algn="l" defTabSz="650321" rtl="0" eaLnBrk="1" latinLnBrk="0" hangingPunct="1">
        <a:defRPr sz="1300" kern="1200">
          <a:solidFill>
            <a:schemeClr val="tx1"/>
          </a:solidFill>
          <a:latin typeface="+mn-lt"/>
          <a:ea typeface="+mn-ea"/>
          <a:cs typeface="+mn-cs"/>
        </a:defRPr>
      </a:lvl3pPr>
      <a:lvl4pPr marL="975482" algn="l" defTabSz="650321" rtl="0" eaLnBrk="1" latinLnBrk="0" hangingPunct="1">
        <a:defRPr sz="1300" kern="1200">
          <a:solidFill>
            <a:schemeClr val="tx1"/>
          </a:solidFill>
          <a:latin typeface="+mn-lt"/>
          <a:ea typeface="+mn-ea"/>
          <a:cs typeface="+mn-cs"/>
        </a:defRPr>
      </a:lvl4pPr>
      <a:lvl5pPr marL="1300643" algn="l" defTabSz="650321" rtl="0" eaLnBrk="1" latinLnBrk="0" hangingPunct="1">
        <a:defRPr sz="1300" kern="1200">
          <a:solidFill>
            <a:schemeClr val="tx1"/>
          </a:solidFill>
          <a:latin typeface="+mn-lt"/>
          <a:ea typeface="+mn-ea"/>
          <a:cs typeface="+mn-cs"/>
        </a:defRPr>
      </a:lvl5pPr>
      <a:lvl6pPr marL="1625803" algn="l" defTabSz="650321" rtl="0" eaLnBrk="1" latinLnBrk="0" hangingPunct="1">
        <a:defRPr sz="1300" kern="1200">
          <a:solidFill>
            <a:schemeClr val="tx1"/>
          </a:solidFill>
          <a:latin typeface="+mn-lt"/>
          <a:ea typeface="+mn-ea"/>
          <a:cs typeface="+mn-cs"/>
        </a:defRPr>
      </a:lvl6pPr>
      <a:lvl7pPr marL="1950964" algn="l" defTabSz="650321" rtl="0" eaLnBrk="1" latinLnBrk="0" hangingPunct="1">
        <a:defRPr sz="1300" kern="1200">
          <a:solidFill>
            <a:schemeClr val="tx1"/>
          </a:solidFill>
          <a:latin typeface="+mn-lt"/>
          <a:ea typeface="+mn-ea"/>
          <a:cs typeface="+mn-cs"/>
        </a:defRPr>
      </a:lvl7pPr>
      <a:lvl8pPr marL="2276124" algn="l" defTabSz="650321" rtl="0" eaLnBrk="1" latinLnBrk="0" hangingPunct="1">
        <a:defRPr sz="1300" kern="1200">
          <a:solidFill>
            <a:schemeClr val="tx1"/>
          </a:solidFill>
          <a:latin typeface="+mn-lt"/>
          <a:ea typeface="+mn-ea"/>
          <a:cs typeface="+mn-cs"/>
        </a:defRPr>
      </a:lvl8pPr>
      <a:lvl9pPr marL="2601285" algn="l" defTabSz="650321" rtl="0" eaLnBrk="1" latinLnBrk="0" hangingPunct="1">
        <a:defRPr sz="1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960120"/>
            <a:ext cx="7132320" cy="411480"/>
          </a:xfrm>
          <a:prstGeom prst="rect">
            <a:avLst/>
          </a:prstGeom>
          <a:noFill/>
        </p:spPr>
        <p:txBody>
          <a:bodyPr wrap="square" anchor="t">
            <a:spAutoFit/>
          </a:bodyPr>
          <a:lstStyle/>
          <a:p>
            <a:pPr algn="l"/>
            <a:r>
              <a:rPr sz="2000" b="1">
                <a:solidFill>
                  <a:srgbClr val="B72F2F"/>
                </a:solidFill>
                <a:latin typeface="Microsoft YaHei"/>
              </a:rPr>
              <a:t>中期汇报</a:t>
            </a:r>
          </a:p>
        </p:txBody>
      </p:sp>
      <p:sp>
        <p:nvSpPr>
          <p:cNvPr id="3" name="TextBox 2"/>
          <p:cNvSpPr txBox="1"/>
          <p:nvPr/>
        </p:nvSpPr>
        <p:spPr>
          <a:xfrm>
            <a:off x="685800" y="1508760"/>
            <a:ext cx="7847434" cy="523220"/>
          </a:xfrm>
          <a:prstGeom prst="rect">
            <a:avLst/>
          </a:prstGeom>
          <a:noFill/>
        </p:spPr>
        <p:txBody>
          <a:bodyPr wrap="square" anchor="t">
            <a:spAutoFit/>
          </a:bodyPr>
          <a:lstStyle/>
          <a:p>
            <a:pPr algn="l"/>
            <a:r>
              <a:rPr sz="2800" b="1" dirty="0" err="1">
                <a:solidFill>
                  <a:srgbClr val="12376D"/>
                </a:solidFill>
                <a:latin typeface="Microsoft YaHei"/>
              </a:rPr>
              <a:t>基于语义描述桥接的多模态RAG系统设计与实现</a:t>
            </a:r>
            <a:endParaRPr sz="2800" b="1" dirty="0">
              <a:solidFill>
                <a:srgbClr val="12376D"/>
              </a:solidFill>
              <a:latin typeface="Microsoft YaHei"/>
            </a:endParaRPr>
          </a:p>
        </p:txBody>
      </p:sp>
      <p:sp>
        <p:nvSpPr>
          <p:cNvPr id="4" name="TextBox 3"/>
          <p:cNvSpPr txBox="1"/>
          <p:nvPr/>
        </p:nvSpPr>
        <p:spPr>
          <a:xfrm>
            <a:off x="777240" y="2210101"/>
            <a:ext cx="8495506" cy="276999"/>
          </a:xfrm>
          <a:prstGeom prst="rect">
            <a:avLst/>
          </a:prstGeom>
          <a:noFill/>
        </p:spPr>
        <p:txBody>
          <a:bodyPr wrap="square" anchor="t">
            <a:spAutoFit/>
          </a:bodyPr>
          <a:lstStyle/>
          <a:p>
            <a:pPr algn="l"/>
            <a:r>
              <a:rPr lang="en-US" sz="1200" b="0" dirty="0">
                <a:solidFill>
                  <a:srgbClr val="646464"/>
                </a:solidFill>
                <a:latin typeface="Microsoft YaHei"/>
              </a:rPr>
              <a:t>Design and Implementation of a Multimodal RAG System Based on Semantic Description Bridging</a:t>
            </a:r>
          </a:p>
        </p:txBody>
      </p:sp>
      <p:sp>
        <p:nvSpPr>
          <p:cNvPr id="5" name="TextBox 4"/>
          <p:cNvSpPr txBox="1"/>
          <p:nvPr/>
        </p:nvSpPr>
        <p:spPr>
          <a:xfrm>
            <a:off x="805510" y="3738027"/>
            <a:ext cx="4114800" cy="1138773"/>
          </a:xfrm>
          <a:prstGeom prst="rect">
            <a:avLst/>
          </a:prstGeom>
          <a:noFill/>
        </p:spPr>
        <p:txBody>
          <a:bodyPr wrap="square" anchor="t">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rPr>
              <a:t>汇  报  人：张琪
学       号：</a:t>
            </a:r>
            <a:r>
              <a:rPr kumimoji="0" lang="en-US" altLang="zh-CN"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rPr>
              <a:t>20225928
</a:t>
            </a:r>
            <a:r>
              <a:rPr kumimoji="0" lang="zh-CN" altLang="en-US"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rPr>
              <a:t>班       级：计算机</a:t>
            </a:r>
            <a:r>
              <a:rPr kumimoji="0" lang="en-US" altLang="zh-CN"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rPr>
              <a:t>2202</a:t>
            </a:r>
            <a:endParaRPr kumimoji="0" lang="zh-CN" altLang="en-US"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700" b="1" i="0" u="none" strike="noStrike" kern="1200" cap="none" spc="0" normalizeH="0" baseline="0" noProof="0" dirty="0">
                <a:ln>
                  <a:noFill/>
                </a:ln>
                <a:solidFill>
                  <a:srgbClr val="262626"/>
                </a:solidFill>
                <a:effectLst/>
                <a:uLnTx/>
                <a:uFillTx/>
                <a:latin typeface="Microsoft YaHei"/>
                <a:ea typeface="宋体" panose="02010600030101010101" pitchFamily="2" charset="-122"/>
                <a:cs typeface="+mn-cs"/>
              </a:rPr>
              <a:t>指导教师：吴刚 教授</a:t>
            </a:r>
          </a:p>
        </p:txBody>
      </p:sp>
      <p:sp>
        <p:nvSpPr>
          <p:cNvPr id="6" name="TextBox 5"/>
          <p:cNvSpPr txBox="1"/>
          <p:nvPr/>
        </p:nvSpPr>
        <p:spPr>
          <a:xfrm>
            <a:off x="5943600" y="4617720"/>
            <a:ext cx="2103120" cy="548640"/>
          </a:xfrm>
          <a:prstGeom prst="rect">
            <a:avLst/>
          </a:prstGeom>
          <a:noFill/>
        </p:spPr>
        <p:txBody>
          <a:bodyPr wrap="square" anchor="t">
            <a:spAutoFit/>
          </a:bodyPr>
          <a:lstStyle/>
          <a:p>
            <a:pPr algn="r"/>
            <a:r>
              <a:rPr sz="1800" b="1">
                <a:solidFill>
                  <a:srgbClr val="12376D"/>
                </a:solidFill>
                <a:latin typeface="Microsoft YaHei"/>
              </a:rPr>
              <a:t>2026年4月</a:t>
            </a:r>
          </a:p>
        </p:txBody>
      </p:sp>
      <p:sp>
        <p:nvSpPr>
          <p:cNvPr id="7" name="Rectangle 6"/>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东北大学毕业设计（论文）中期汇报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汇报内容</a:t>
            </a:r>
          </a:p>
        </p:txBody>
      </p:sp>
      <p:sp>
        <p:nvSpPr>
          <p:cNvPr id="5" name="Rounded Rectangle 4"/>
          <p:cNvSpPr/>
          <p:nvPr/>
        </p:nvSpPr>
        <p:spPr>
          <a:xfrm>
            <a:off x="640080" y="1143000"/>
            <a:ext cx="2194560" cy="12135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252728"/>
            <a:ext cx="1920240" cy="256032"/>
          </a:xfrm>
          <a:prstGeom prst="rect">
            <a:avLst/>
          </a:prstGeom>
          <a:noFill/>
        </p:spPr>
        <p:txBody>
          <a:bodyPr wrap="square" anchor="t">
            <a:spAutoFit/>
          </a:bodyPr>
          <a:lstStyle/>
          <a:p>
            <a:pPr algn="l"/>
            <a:r>
              <a:rPr sz="1600" b="1">
                <a:solidFill>
                  <a:srgbClr val="12376D"/>
                </a:solidFill>
                <a:latin typeface="Microsoft YaHei"/>
              </a:rPr>
              <a:t>01 前期工作</a:t>
            </a:r>
          </a:p>
        </p:txBody>
      </p:sp>
      <p:sp>
        <p:nvSpPr>
          <p:cNvPr id="7" name="TextBox 6"/>
          <p:cNvSpPr txBox="1"/>
          <p:nvPr/>
        </p:nvSpPr>
        <p:spPr>
          <a:xfrm>
            <a:off x="749808" y="1527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文献阅读与资料学习</a:t>
            </a:r>
          </a:p>
          <a:p>
            <a:pPr>
              <a:spcAft>
                <a:spcPts val="400"/>
              </a:spcAft>
              <a:defRPr sz="1300">
                <a:solidFill>
                  <a:srgbClr val="282828"/>
                </a:solidFill>
                <a:latin typeface="Microsoft YaHei"/>
              </a:defRPr>
            </a:pPr>
            <a:r>
              <a:t>系统设计与开发</a:t>
            </a:r>
          </a:p>
        </p:txBody>
      </p:sp>
      <p:sp>
        <p:nvSpPr>
          <p:cNvPr id="8" name="Rounded Rectangle 7"/>
          <p:cNvSpPr/>
          <p:nvPr/>
        </p:nvSpPr>
        <p:spPr>
          <a:xfrm>
            <a:off x="3246120" y="1143000"/>
            <a:ext cx="2194560" cy="12135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383279" y="1252728"/>
            <a:ext cx="1920240" cy="256032"/>
          </a:xfrm>
          <a:prstGeom prst="rect">
            <a:avLst/>
          </a:prstGeom>
          <a:noFill/>
        </p:spPr>
        <p:txBody>
          <a:bodyPr wrap="square" anchor="t">
            <a:spAutoFit/>
          </a:bodyPr>
          <a:lstStyle/>
          <a:p>
            <a:pPr algn="l"/>
            <a:r>
              <a:rPr sz="1600" b="1">
                <a:solidFill>
                  <a:srgbClr val="12376D"/>
                </a:solidFill>
                <a:latin typeface="Microsoft YaHei"/>
              </a:rPr>
              <a:t>02 系统展示</a:t>
            </a:r>
          </a:p>
        </p:txBody>
      </p:sp>
      <p:sp>
        <p:nvSpPr>
          <p:cNvPr id="10" name="TextBox 9"/>
          <p:cNvSpPr txBox="1"/>
          <p:nvPr/>
        </p:nvSpPr>
        <p:spPr>
          <a:xfrm>
            <a:off x="3355848" y="1527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核心界面</a:t>
            </a:r>
          </a:p>
          <a:p>
            <a:pPr>
              <a:spcAft>
                <a:spcPts val="400"/>
              </a:spcAft>
              <a:defRPr sz="1300">
                <a:solidFill>
                  <a:srgbClr val="282828"/>
                </a:solidFill>
                <a:latin typeface="Microsoft YaHei"/>
              </a:defRPr>
            </a:pPr>
            <a:r>
              <a:t>功能与优化点</a:t>
            </a:r>
          </a:p>
        </p:txBody>
      </p:sp>
      <p:sp>
        <p:nvSpPr>
          <p:cNvPr id="11" name="Rounded Rectangle 10"/>
          <p:cNvSpPr/>
          <p:nvPr/>
        </p:nvSpPr>
        <p:spPr>
          <a:xfrm>
            <a:off x="5852160" y="1143000"/>
            <a:ext cx="2194560" cy="12135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89320" y="1252728"/>
            <a:ext cx="1920240" cy="256032"/>
          </a:xfrm>
          <a:prstGeom prst="rect">
            <a:avLst/>
          </a:prstGeom>
          <a:noFill/>
        </p:spPr>
        <p:txBody>
          <a:bodyPr wrap="square" anchor="t">
            <a:spAutoFit/>
          </a:bodyPr>
          <a:lstStyle/>
          <a:p>
            <a:pPr algn="l"/>
            <a:r>
              <a:rPr sz="1600" b="1">
                <a:solidFill>
                  <a:srgbClr val="12376D"/>
                </a:solidFill>
                <a:latin typeface="Microsoft YaHei"/>
              </a:rPr>
              <a:t>03 实验评估</a:t>
            </a:r>
          </a:p>
        </p:txBody>
      </p:sp>
      <p:sp>
        <p:nvSpPr>
          <p:cNvPr id="13" name="TextBox 12"/>
          <p:cNvSpPr txBox="1"/>
          <p:nvPr/>
        </p:nvSpPr>
        <p:spPr>
          <a:xfrm>
            <a:off x="5961888" y="1527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检索实验</a:t>
            </a:r>
          </a:p>
          <a:p>
            <a:pPr>
              <a:spcAft>
                <a:spcPts val="400"/>
              </a:spcAft>
              <a:defRPr sz="1300">
                <a:solidFill>
                  <a:srgbClr val="282828"/>
                </a:solidFill>
                <a:latin typeface="Microsoft YaHei"/>
              </a:defRPr>
            </a:pPr>
            <a:r>
              <a:t>生成实验</a:t>
            </a:r>
          </a:p>
        </p:txBody>
      </p:sp>
      <p:sp>
        <p:nvSpPr>
          <p:cNvPr id="14" name="Rounded Rectangle 13"/>
          <p:cNvSpPr/>
          <p:nvPr/>
        </p:nvSpPr>
        <p:spPr>
          <a:xfrm>
            <a:off x="640080" y="3429000"/>
            <a:ext cx="2194560" cy="1176944"/>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538728"/>
            <a:ext cx="1920240" cy="256032"/>
          </a:xfrm>
          <a:prstGeom prst="rect">
            <a:avLst/>
          </a:prstGeom>
          <a:noFill/>
        </p:spPr>
        <p:txBody>
          <a:bodyPr wrap="square" anchor="t">
            <a:spAutoFit/>
          </a:bodyPr>
          <a:lstStyle/>
          <a:p>
            <a:pPr algn="l"/>
            <a:r>
              <a:rPr sz="1600" b="1">
                <a:solidFill>
                  <a:srgbClr val="12376D"/>
                </a:solidFill>
                <a:latin typeface="Microsoft YaHei"/>
              </a:rPr>
              <a:t>04 微调工作</a:t>
            </a:r>
          </a:p>
        </p:txBody>
      </p:sp>
      <p:sp>
        <p:nvSpPr>
          <p:cNvPr id="16" name="TextBox 15"/>
          <p:cNvSpPr txBox="1"/>
          <p:nvPr/>
        </p:nvSpPr>
        <p:spPr>
          <a:xfrm>
            <a:off x="749808" y="3813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训练配置</a:t>
            </a:r>
          </a:p>
          <a:p>
            <a:pPr>
              <a:spcAft>
                <a:spcPts val="400"/>
              </a:spcAft>
              <a:defRPr sz="1300">
                <a:solidFill>
                  <a:srgbClr val="282828"/>
                </a:solidFill>
                <a:latin typeface="Microsoft YaHei"/>
              </a:defRPr>
            </a:pPr>
            <a:r>
              <a:t>阶段性结果</a:t>
            </a:r>
          </a:p>
        </p:txBody>
      </p:sp>
      <p:sp>
        <p:nvSpPr>
          <p:cNvPr id="17" name="Rounded Rectangle 16"/>
          <p:cNvSpPr/>
          <p:nvPr/>
        </p:nvSpPr>
        <p:spPr>
          <a:xfrm>
            <a:off x="3246120" y="3429000"/>
            <a:ext cx="2194560" cy="1176944"/>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383279" y="3538728"/>
            <a:ext cx="1920240" cy="338554"/>
          </a:xfrm>
          <a:prstGeom prst="rect">
            <a:avLst/>
          </a:prstGeom>
          <a:noFill/>
        </p:spPr>
        <p:txBody>
          <a:bodyPr wrap="square" anchor="t">
            <a:spAutoFit/>
          </a:bodyPr>
          <a:lstStyle/>
          <a:p>
            <a:pPr algn="l"/>
            <a:r>
              <a:rPr sz="1600" b="1" dirty="0">
                <a:solidFill>
                  <a:srgbClr val="12376D"/>
                </a:solidFill>
                <a:latin typeface="Microsoft YaHei"/>
              </a:rPr>
              <a:t>05 </a:t>
            </a:r>
            <a:r>
              <a:rPr lang="zh-CN" altLang="en-US" sz="1600" b="1" dirty="0">
                <a:solidFill>
                  <a:srgbClr val="12376D"/>
                </a:solidFill>
                <a:latin typeface="Microsoft YaHei"/>
              </a:rPr>
              <a:t>存在</a:t>
            </a:r>
            <a:r>
              <a:rPr sz="1600" b="1" dirty="0" err="1">
                <a:solidFill>
                  <a:srgbClr val="12376D"/>
                </a:solidFill>
                <a:latin typeface="Microsoft YaHei"/>
              </a:rPr>
              <a:t>问题</a:t>
            </a:r>
            <a:endParaRPr sz="1600" b="1" dirty="0">
              <a:solidFill>
                <a:srgbClr val="12376D"/>
              </a:solidFill>
              <a:latin typeface="Microsoft YaHei"/>
            </a:endParaRPr>
          </a:p>
        </p:txBody>
      </p:sp>
      <p:sp>
        <p:nvSpPr>
          <p:cNvPr id="19" name="TextBox 18"/>
          <p:cNvSpPr txBox="1"/>
          <p:nvPr/>
        </p:nvSpPr>
        <p:spPr>
          <a:xfrm>
            <a:off x="3355848" y="3813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当前不足</a:t>
            </a:r>
          </a:p>
          <a:p>
            <a:pPr>
              <a:spcAft>
                <a:spcPts val="400"/>
              </a:spcAft>
              <a:defRPr sz="1300">
                <a:solidFill>
                  <a:srgbClr val="282828"/>
                </a:solidFill>
                <a:latin typeface="Microsoft YaHei"/>
              </a:defRPr>
            </a:pPr>
            <a:r>
              <a:t>原因定位</a:t>
            </a:r>
          </a:p>
        </p:txBody>
      </p:sp>
      <p:sp>
        <p:nvSpPr>
          <p:cNvPr id="20" name="Rounded Rectangle 19"/>
          <p:cNvSpPr/>
          <p:nvPr/>
        </p:nvSpPr>
        <p:spPr>
          <a:xfrm>
            <a:off x="5852160" y="3429000"/>
            <a:ext cx="2194560" cy="1173064"/>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989320" y="3538728"/>
            <a:ext cx="1920240" cy="256032"/>
          </a:xfrm>
          <a:prstGeom prst="rect">
            <a:avLst/>
          </a:prstGeom>
          <a:noFill/>
        </p:spPr>
        <p:txBody>
          <a:bodyPr wrap="square" anchor="t">
            <a:spAutoFit/>
          </a:bodyPr>
          <a:lstStyle/>
          <a:p>
            <a:pPr algn="l"/>
            <a:r>
              <a:rPr sz="1600" b="1">
                <a:solidFill>
                  <a:srgbClr val="12376D"/>
                </a:solidFill>
                <a:latin typeface="Microsoft YaHei"/>
              </a:rPr>
              <a:t>06 后续计划</a:t>
            </a:r>
          </a:p>
        </p:txBody>
      </p:sp>
      <p:sp>
        <p:nvSpPr>
          <p:cNvPr id="22" name="TextBox 21"/>
          <p:cNvSpPr txBox="1"/>
          <p:nvPr/>
        </p:nvSpPr>
        <p:spPr>
          <a:xfrm>
            <a:off x="5961888" y="3813048"/>
            <a:ext cx="1975104" cy="1325880"/>
          </a:xfrm>
          <a:prstGeom prst="rect">
            <a:avLst/>
          </a:prstGeom>
          <a:noFill/>
        </p:spPr>
        <p:txBody>
          <a:bodyPr wrap="square">
            <a:spAutoFit/>
          </a:bodyPr>
          <a:lstStyle/>
          <a:p>
            <a:pPr>
              <a:spcAft>
                <a:spcPts val="400"/>
              </a:spcAft>
              <a:defRPr sz="1300">
                <a:solidFill>
                  <a:srgbClr val="282828"/>
                </a:solidFill>
                <a:latin typeface="Microsoft YaHei"/>
              </a:defRPr>
            </a:pPr>
            <a:r>
              <a:t>下一阶段安排</a:t>
            </a:r>
          </a:p>
          <a:p>
            <a:pPr>
              <a:spcAft>
                <a:spcPts val="400"/>
              </a:spcAft>
              <a:defRPr sz="1300">
                <a:solidFill>
                  <a:srgbClr val="282828"/>
                </a:solidFill>
                <a:latin typeface="Microsoft YaHei"/>
              </a:defRPr>
            </a:pPr>
            <a:r>
              <a:t>论文材料准备</a:t>
            </a:r>
          </a:p>
        </p:txBody>
      </p:sp>
      <p:sp>
        <p:nvSpPr>
          <p:cNvPr id="23" name="Rectangle 22"/>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本版PPT按中期报告原文顺序重新组织，不引入外部实验图表</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前期文献阅读与资料学习</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Literature Review</a:t>
            </a:r>
          </a:p>
        </p:txBody>
      </p:sp>
      <p:sp>
        <p:nvSpPr>
          <p:cNvPr id="5" name="TextBox 4"/>
          <p:cNvSpPr txBox="1"/>
          <p:nvPr/>
        </p:nvSpPr>
        <p:spPr>
          <a:xfrm>
            <a:off x="685800" y="1051560"/>
            <a:ext cx="7726679" cy="2959785"/>
          </a:xfrm>
          <a:prstGeom prst="rect">
            <a:avLst/>
          </a:prstGeom>
          <a:noFill/>
        </p:spPr>
        <p:txBody>
          <a:bodyPr wrap="square">
            <a:spAutoFit/>
          </a:bodyPr>
          <a:lstStyle/>
          <a:p>
            <a:pPr marL="285750" indent="-285750">
              <a:spcAft>
                <a:spcPts val="1000"/>
              </a:spcAft>
              <a:buFont typeface="Arial" panose="020B0604020202020204" pitchFamily="34" charset="0"/>
              <a:buChar char="•"/>
              <a:defRPr sz="1700">
                <a:solidFill>
                  <a:srgbClr val="282828"/>
                </a:solidFill>
                <a:latin typeface="Microsoft YaHei"/>
              </a:defRPr>
            </a:pPr>
            <a:r>
              <a:rPr dirty="0" err="1"/>
              <a:t>围绕</a:t>
            </a:r>
            <a:r>
              <a:rPr b="1" dirty="0" err="1"/>
              <a:t>多模态检索</a:t>
            </a:r>
            <a:r>
              <a:rPr dirty="0" err="1"/>
              <a:t>、</a:t>
            </a:r>
            <a:r>
              <a:rPr b="1" dirty="0" err="1"/>
              <a:t>检索增强生成</a:t>
            </a:r>
            <a:r>
              <a:rPr dirty="0" err="1"/>
              <a:t>、</a:t>
            </a:r>
            <a:r>
              <a:rPr b="1" dirty="0" err="1"/>
              <a:t>多模态大模型</a:t>
            </a:r>
            <a:r>
              <a:rPr dirty="0" err="1"/>
              <a:t>、</a:t>
            </a:r>
            <a:r>
              <a:rPr b="1" dirty="0" err="1"/>
              <a:t>向量数据库</a:t>
            </a:r>
            <a:r>
              <a:rPr dirty="0" err="1"/>
              <a:t>和</a:t>
            </a:r>
            <a:r>
              <a:rPr dirty="0"/>
              <a:t> </a:t>
            </a:r>
            <a:r>
              <a:rPr b="1" dirty="0"/>
              <a:t>RAG </a:t>
            </a:r>
            <a:r>
              <a:rPr b="1" dirty="0" err="1"/>
              <a:t>评测</a:t>
            </a:r>
            <a:r>
              <a:rPr dirty="0" err="1"/>
              <a:t>等方向进行了系统调研</a:t>
            </a:r>
            <a:r>
              <a:rPr dirty="0"/>
              <a:t>。</a:t>
            </a:r>
          </a:p>
          <a:p>
            <a:pPr marL="285750" indent="-285750">
              <a:spcAft>
                <a:spcPts val="1000"/>
              </a:spcAft>
              <a:buFont typeface="Arial" panose="020B0604020202020204" pitchFamily="34" charset="0"/>
              <a:buChar char="•"/>
              <a:defRPr sz="1700">
                <a:solidFill>
                  <a:srgbClr val="282828"/>
                </a:solidFill>
                <a:latin typeface="Microsoft YaHei"/>
              </a:defRPr>
            </a:pPr>
            <a:r>
              <a:rPr dirty="0" err="1"/>
              <a:t>重点学习了</a:t>
            </a:r>
            <a:r>
              <a:rPr dirty="0"/>
              <a:t> CLIP、BLIP-2、LLaVA、Qwen-VL、MuRAG </a:t>
            </a:r>
            <a:r>
              <a:rPr dirty="0" err="1"/>
              <a:t>以及多模态</a:t>
            </a:r>
            <a:r>
              <a:rPr dirty="0"/>
              <a:t> RAG </a:t>
            </a:r>
            <a:r>
              <a:rPr dirty="0" err="1"/>
              <a:t>综述与基准研究等代表性工作</a:t>
            </a:r>
            <a:r>
              <a:rPr dirty="0"/>
              <a:t>。</a:t>
            </a:r>
          </a:p>
          <a:p>
            <a:pPr marL="285750" indent="-285750">
              <a:spcAft>
                <a:spcPts val="1000"/>
              </a:spcAft>
              <a:buFont typeface="Arial" panose="020B0604020202020204" pitchFamily="34" charset="0"/>
              <a:buChar char="•"/>
              <a:defRPr sz="1700">
                <a:solidFill>
                  <a:srgbClr val="282828"/>
                </a:solidFill>
                <a:latin typeface="Microsoft YaHei"/>
              </a:defRPr>
            </a:pPr>
            <a:r>
              <a:rPr dirty="0" err="1"/>
              <a:t>同步查阅了</a:t>
            </a:r>
            <a:r>
              <a:rPr dirty="0"/>
              <a:t> </a:t>
            </a:r>
            <a:r>
              <a:rPr b="1" dirty="0"/>
              <a:t>RAGAs </a:t>
            </a:r>
            <a:r>
              <a:rPr b="1" dirty="0" err="1"/>
              <a:t>等自动评测方法</a:t>
            </a:r>
            <a:r>
              <a:rPr dirty="0" err="1"/>
              <a:t>，以及</a:t>
            </a:r>
            <a:r>
              <a:rPr b="1" dirty="0" err="1"/>
              <a:t>文本嵌入模型</a:t>
            </a:r>
            <a:r>
              <a:rPr dirty="0" err="1"/>
              <a:t>和</a:t>
            </a:r>
            <a:r>
              <a:rPr b="1" dirty="0" err="1"/>
              <a:t>检索系统</a:t>
            </a:r>
            <a:r>
              <a:rPr dirty="0" err="1"/>
              <a:t>实现相关资料</a:t>
            </a:r>
            <a:r>
              <a:rPr dirty="0"/>
              <a:t>。</a:t>
            </a:r>
          </a:p>
          <a:p>
            <a:pPr marL="285750" indent="-285750">
              <a:spcAft>
                <a:spcPts val="1000"/>
              </a:spcAft>
              <a:buFont typeface="Arial" panose="020B0604020202020204" pitchFamily="34" charset="0"/>
              <a:buChar char="•"/>
              <a:defRPr sz="1700">
                <a:solidFill>
                  <a:srgbClr val="282828"/>
                </a:solidFill>
                <a:latin typeface="Microsoft YaHei"/>
              </a:defRPr>
            </a:pPr>
            <a:r>
              <a:rPr dirty="0" err="1"/>
              <a:t>通过文献和技术资料学习，对</a:t>
            </a:r>
            <a:r>
              <a:rPr b="1" dirty="0" err="1"/>
              <a:t>检索相关性</a:t>
            </a:r>
            <a:r>
              <a:rPr dirty="0" err="1"/>
              <a:t>、</a:t>
            </a:r>
            <a:r>
              <a:rPr b="1" dirty="0" err="1"/>
              <a:t>答案忠实性</a:t>
            </a:r>
            <a:r>
              <a:rPr dirty="0" err="1"/>
              <a:t>、</a:t>
            </a:r>
            <a:r>
              <a:rPr b="1" dirty="0" err="1"/>
              <a:t>上下文利用</a:t>
            </a:r>
            <a:r>
              <a:rPr dirty="0" err="1"/>
              <a:t>和</a:t>
            </a:r>
            <a:r>
              <a:rPr b="1" dirty="0" err="1"/>
              <a:t>向量召回机制</a:t>
            </a:r>
            <a:r>
              <a:rPr dirty="0" err="1"/>
              <a:t>形成了初步认识</a:t>
            </a:r>
            <a:r>
              <a:rPr dirty="0"/>
              <a:t>。</a:t>
            </a:r>
          </a:p>
          <a:p>
            <a:pPr>
              <a:spcAft>
                <a:spcPts val="1000"/>
              </a:spcAft>
              <a:defRPr sz="1700">
                <a:solidFill>
                  <a:srgbClr val="282828"/>
                </a:solidFill>
                <a:latin typeface="Microsoft YaHei"/>
              </a:defRPr>
            </a:pPr>
            <a:r>
              <a:rPr dirty="0" err="1"/>
              <a:t>这些工作为后续系统设计、原型开发和实验评估提供了理论基础</a:t>
            </a:r>
            <a:r>
              <a:rPr dirty="0"/>
              <a:t>。</a:t>
            </a:r>
          </a:p>
        </p:txBody>
      </p:sp>
      <p:sp>
        <p:nvSpPr>
          <p:cNvPr id="6" name="Rectangle 5"/>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内容依据：中期报告“1.前期文献阅读与资料学习”</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系统设计与开发</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Design &amp; Development</a:t>
            </a:r>
          </a:p>
        </p:txBody>
      </p:sp>
      <p:sp>
        <p:nvSpPr>
          <p:cNvPr id="5" name="Rounded Rectangle 4"/>
          <p:cNvSpPr/>
          <p:nvPr/>
        </p:nvSpPr>
        <p:spPr>
          <a:xfrm>
            <a:off x="640080" y="1097280"/>
            <a:ext cx="2468880" cy="17373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207007"/>
            <a:ext cx="2194560" cy="256032"/>
          </a:xfrm>
          <a:prstGeom prst="rect">
            <a:avLst/>
          </a:prstGeom>
          <a:noFill/>
        </p:spPr>
        <p:txBody>
          <a:bodyPr wrap="square" anchor="t">
            <a:spAutoFit/>
          </a:bodyPr>
          <a:lstStyle/>
          <a:p>
            <a:pPr algn="l"/>
            <a:r>
              <a:rPr sz="1600" b="1">
                <a:solidFill>
                  <a:srgbClr val="12376D"/>
                </a:solidFill>
                <a:latin typeface="Microsoft YaHei"/>
              </a:rPr>
              <a:t>总体设计</a:t>
            </a:r>
          </a:p>
        </p:txBody>
      </p:sp>
      <p:sp>
        <p:nvSpPr>
          <p:cNvPr id="7" name="TextBox 6"/>
          <p:cNvSpPr txBox="1"/>
          <p:nvPr/>
        </p:nvSpPr>
        <p:spPr>
          <a:xfrm>
            <a:off x="749808" y="1481328"/>
            <a:ext cx="2249424" cy="1280160"/>
          </a:xfrm>
          <a:prstGeom prst="rect">
            <a:avLst/>
          </a:prstGeom>
          <a:noFill/>
        </p:spPr>
        <p:txBody>
          <a:bodyPr wrap="square">
            <a:spAutoFit/>
          </a:bodyPr>
          <a:lstStyle/>
          <a:p>
            <a:pPr>
              <a:spcAft>
                <a:spcPts val="400"/>
              </a:spcAft>
              <a:defRPr sz="1300">
                <a:solidFill>
                  <a:srgbClr val="282828"/>
                </a:solidFill>
                <a:latin typeface="Microsoft YaHei"/>
              </a:defRPr>
            </a:pPr>
            <a:r>
              <a:t>建立了业务模型、功能模型和数据模型。</a:t>
            </a:r>
          </a:p>
          <a:p>
            <a:pPr>
              <a:spcAft>
                <a:spcPts val="400"/>
              </a:spcAft>
              <a:defRPr sz="1300">
                <a:solidFill>
                  <a:srgbClr val="282828"/>
                </a:solidFill>
                <a:latin typeface="Microsoft YaHei"/>
              </a:defRPr>
            </a:pPr>
            <a:r>
              <a:t>完成了功能设计、数据库设计和模块设计。</a:t>
            </a:r>
          </a:p>
        </p:txBody>
      </p:sp>
      <p:sp>
        <p:nvSpPr>
          <p:cNvPr id="8" name="Rounded Rectangle 7"/>
          <p:cNvSpPr/>
          <p:nvPr/>
        </p:nvSpPr>
        <p:spPr>
          <a:xfrm>
            <a:off x="3337560" y="1097280"/>
            <a:ext cx="2468880" cy="17373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74720" y="1207007"/>
            <a:ext cx="2194560" cy="256032"/>
          </a:xfrm>
          <a:prstGeom prst="rect">
            <a:avLst/>
          </a:prstGeom>
          <a:noFill/>
        </p:spPr>
        <p:txBody>
          <a:bodyPr wrap="square" anchor="t">
            <a:spAutoFit/>
          </a:bodyPr>
          <a:lstStyle/>
          <a:p>
            <a:pPr algn="l"/>
            <a:r>
              <a:rPr sz="1600" b="1">
                <a:solidFill>
                  <a:srgbClr val="12376D"/>
                </a:solidFill>
                <a:latin typeface="Microsoft YaHei"/>
              </a:rPr>
              <a:t>后端技术栈</a:t>
            </a:r>
          </a:p>
        </p:txBody>
      </p:sp>
      <p:sp>
        <p:nvSpPr>
          <p:cNvPr id="10" name="TextBox 9"/>
          <p:cNvSpPr txBox="1"/>
          <p:nvPr/>
        </p:nvSpPr>
        <p:spPr>
          <a:xfrm>
            <a:off x="3447288" y="1481328"/>
            <a:ext cx="2249424" cy="1280160"/>
          </a:xfrm>
          <a:prstGeom prst="rect">
            <a:avLst/>
          </a:prstGeom>
          <a:noFill/>
        </p:spPr>
        <p:txBody>
          <a:bodyPr wrap="square">
            <a:spAutoFit/>
          </a:bodyPr>
          <a:lstStyle/>
          <a:p>
            <a:pPr>
              <a:spcAft>
                <a:spcPts val="400"/>
              </a:spcAft>
              <a:defRPr sz="1300">
                <a:solidFill>
                  <a:srgbClr val="282828"/>
                </a:solidFill>
                <a:latin typeface="Microsoft YaHei"/>
              </a:defRPr>
            </a:pPr>
            <a:r>
              <a:t>后端采用 FastAPI。</a:t>
            </a:r>
          </a:p>
          <a:p>
            <a:pPr>
              <a:spcAft>
                <a:spcPts val="400"/>
              </a:spcAft>
              <a:defRPr sz="1300">
                <a:solidFill>
                  <a:srgbClr val="282828"/>
                </a:solidFill>
                <a:latin typeface="Microsoft YaHei"/>
              </a:defRPr>
            </a:pPr>
            <a:r>
              <a:t>围绕多模态 RAG 业务流程组织系统能力。</a:t>
            </a:r>
          </a:p>
        </p:txBody>
      </p:sp>
      <p:sp>
        <p:nvSpPr>
          <p:cNvPr id="11" name="Rounded Rectangle 10"/>
          <p:cNvSpPr/>
          <p:nvPr/>
        </p:nvSpPr>
        <p:spPr>
          <a:xfrm>
            <a:off x="6035040" y="1097280"/>
            <a:ext cx="2468880" cy="173736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172200" y="1207007"/>
            <a:ext cx="2194560" cy="256032"/>
          </a:xfrm>
          <a:prstGeom prst="rect">
            <a:avLst/>
          </a:prstGeom>
          <a:noFill/>
        </p:spPr>
        <p:txBody>
          <a:bodyPr wrap="square" anchor="t">
            <a:spAutoFit/>
          </a:bodyPr>
          <a:lstStyle/>
          <a:p>
            <a:pPr algn="l"/>
            <a:r>
              <a:rPr sz="1600" b="1">
                <a:solidFill>
                  <a:srgbClr val="12376D"/>
                </a:solidFill>
                <a:latin typeface="Microsoft YaHei"/>
              </a:rPr>
              <a:t>前端技术栈</a:t>
            </a:r>
          </a:p>
        </p:txBody>
      </p:sp>
      <p:sp>
        <p:nvSpPr>
          <p:cNvPr id="13" name="TextBox 12"/>
          <p:cNvSpPr txBox="1"/>
          <p:nvPr/>
        </p:nvSpPr>
        <p:spPr>
          <a:xfrm>
            <a:off x="6144768" y="1481328"/>
            <a:ext cx="2249424" cy="1280160"/>
          </a:xfrm>
          <a:prstGeom prst="rect">
            <a:avLst/>
          </a:prstGeom>
          <a:noFill/>
        </p:spPr>
        <p:txBody>
          <a:bodyPr wrap="square">
            <a:spAutoFit/>
          </a:bodyPr>
          <a:lstStyle/>
          <a:p>
            <a:pPr>
              <a:spcAft>
                <a:spcPts val="400"/>
              </a:spcAft>
              <a:defRPr sz="1300">
                <a:solidFill>
                  <a:srgbClr val="282828"/>
                </a:solidFill>
                <a:latin typeface="Microsoft YaHei"/>
              </a:defRPr>
            </a:pPr>
            <a:r>
              <a:t>前端采用 Vue3 + TypeScript + Vite。</a:t>
            </a:r>
          </a:p>
          <a:p>
            <a:pPr>
              <a:spcAft>
                <a:spcPts val="400"/>
              </a:spcAft>
              <a:defRPr sz="1300">
                <a:solidFill>
                  <a:srgbClr val="282828"/>
                </a:solidFill>
                <a:latin typeface="Microsoft YaHei"/>
              </a:defRPr>
            </a:pPr>
            <a:r>
              <a:t>形成可交互的演示型系统页面。</a:t>
            </a:r>
          </a:p>
        </p:txBody>
      </p:sp>
      <p:sp>
        <p:nvSpPr>
          <p:cNvPr id="14" name="TextBox 13"/>
          <p:cNvSpPr txBox="1"/>
          <p:nvPr/>
        </p:nvSpPr>
        <p:spPr>
          <a:xfrm>
            <a:off x="731520" y="3337560"/>
            <a:ext cx="7589520" cy="1267014"/>
          </a:xfrm>
          <a:prstGeom prst="rect">
            <a:avLst/>
          </a:prstGeom>
          <a:noFill/>
        </p:spPr>
        <p:txBody>
          <a:bodyPr wrap="square">
            <a:spAutoFit/>
          </a:bodyPr>
          <a:lstStyle/>
          <a:p>
            <a:pPr>
              <a:spcAft>
                <a:spcPts val="1000"/>
              </a:spcAft>
              <a:defRPr sz="1700">
                <a:solidFill>
                  <a:srgbClr val="282828"/>
                </a:solidFill>
                <a:latin typeface="Microsoft YaHei"/>
              </a:defRPr>
            </a:pPr>
            <a:r>
              <a:rPr dirty="0" err="1"/>
              <a:t>已完成</a:t>
            </a:r>
            <a:r>
              <a:rPr b="1" dirty="0" err="1"/>
              <a:t>图片知识库</a:t>
            </a:r>
            <a:r>
              <a:rPr dirty="0" err="1"/>
              <a:t>、</a:t>
            </a:r>
            <a:r>
              <a:rPr b="1" dirty="0" err="1"/>
              <a:t>文档知识库</a:t>
            </a:r>
            <a:r>
              <a:rPr dirty="0" err="1"/>
              <a:t>、</a:t>
            </a:r>
            <a:r>
              <a:rPr b="1" dirty="0" err="1"/>
              <a:t>图文检索服务</a:t>
            </a:r>
            <a:r>
              <a:rPr dirty="0" err="1"/>
              <a:t>、</a:t>
            </a:r>
            <a:r>
              <a:rPr b="1" dirty="0" err="1"/>
              <a:t>RAG</a:t>
            </a:r>
            <a:r>
              <a:rPr b="1" dirty="0"/>
              <a:t> </a:t>
            </a:r>
            <a:r>
              <a:rPr b="1" dirty="0" err="1"/>
              <a:t>问答服务</a:t>
            </a:r>
            <a:r>
              <a:rPr dirty="0" err="1"/>
              <a:t>及基础管理功能开发</a:t>
            </a:r>
            <a:r>
              <a:rPr dirty="0"/>
              <a:t>。</a:t>
            </a:r>
          </a:p>
          <a:p>
            <a:pPr>
              <a:spcAft>
                <a:spcPts val="1000"/>
              </a:spcAft>
              <a:defRPr sz="1700">
                <a:solidFill>
                  <a:srgbClr val="282828"/>
                </a:solidFill>
                <a:latin typeface="Microsoft YaHei"/>
              </a:defRPr>
            </a:pPr>
            <a:r>
              <a:rPr dirty="0" err="1"/>
              <a:t>系统当前已经具备较完整的运行框架，可作为后续实验和论文撰写的核心原型</a:t>
            </a:r>
            <a:r>
              <a:rPr dirty="0"/>
              <a:t>。</a:t>
            </a:r>
          </a:p>
        </p:txBody>
      </p:sp>
      <p:sp>
        <p:nvSpPr>
          <p:cNvPr id="15" name="Rectangle 14"/>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内容依据：中期报告“2.系统设计与开发”</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系统界面展示（一）</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UI Screens</a:t>
            </a:r>
          </a:p>
        </p:txBody>
      </p:sp>
      <p:sp>
        <p:nvSpPr>
          <p:cNvPr id="5" name="Rectangle 4"/>
          <p:cNvSpPr/>
          <p:nvPr/>
        </p:nvSpPr>
        <p:spPr>
          <a:xfrm>
            <a:off x="500226" y="874008"/>
            <a:ext cx="8321040" cy="3930784"/>
          </a:xfrm>
          <a:prstGeom prst="rect">
            <a:avLst/>
          </a:prstGeom>
          <a:solidFill>
            <a:srgbClr val="12376D"/>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83992" y="4801360"/>
            <a:ext cx="3657600" cy="246221"/>
          </a:xfrm>
          <a:prstGeom prst="rect">
            <a:avLst/>
          </a:prstGeom>
          <a:noFill/>
        </p:spPr>
        <p:txBody>
          <a:bodyPr wrap="square" anchor="t">
            <a:spAutoFit/>
          </a:bodyPr>
          <a:lstStyle/>
          <a:p>
            <a:pPr algn="ctr"/>
            <a:r>
              <a:rPr sz="1000" b="1" dirty="0" err="1">
                <a:solidFill>
                  <a:srgbClr val="646464"/>
                </a:solidFill>
                <a:latin typeface="Microsoft YaHei"/>
              </a:rPr>
              <a:t>图表</a:t>
            </a:r>
            <a:r>
              <a:rPr sz="1000" b="1" dirty="0">
                <a:solidFill>
                  <a:srgbClr val="646464"/>
                </a:solidFill>
                <a:latin typeface="Microsoft YaHei"/>
              </a:rPr>
              <a:t> 1 </a:t>
            </a:r>
            <a:r>
              <a:rPr sz="1000" b="1" dirty="0" err="1">
                <a:solidFill>
                  <a:srgbClr val="646464"/>
                </a:solidFill>
                <a:latin typeface="Microsoft YaHei"/>
              </a:rPr>
              <a:t>图片知识库界面</a:t>
            </a:r>
            <a:endParaRPr sz="1000" b="1" dirty="0">
              <a:solidFill>
                <a:srgbClr val="646464"/>
              </a:solidFill>
              <a:latin typeface="Microsoft YaHei"/>
            </a:endParaRPr>
          </a:p>
        </p:txBody>
      </p:sp>
      <p:sp>
        <p:nvSpPr>
          <p:cNvPr id="11" name="Rectangle 10"/>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图片与标题均来自中期报告内嵌图表 1-2</a:t>
            </a:r>
          </a:p>
        </p:txBody>
      </p:sp>
      <p:pic>
        <p:nvPicPr>
          <p:cNvPr id="15" name="图片 14">
            <a:extLst>
              <a:ext uri="{FF2B5EF4-FFF2-40B4-BE49-F238E27FC236}">
                <a16:creationId xmlns:a16="http://schemas.microsoft.com/office/drawing/2014/main" id="{0C26C591-4FD8-6B88-6785-F77665C10B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276" y="926215"/>
            <a:ext cx="8152939" cy="38263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0FF7-06C9-E960-670D-BC06053811C2}"/>
            </a:ext>
          </a:extLst>
        </p:cNvPr>
        <p:cNvGrpSpPr/>
        <p:nvPr/>
      </p:nvGrpSpPr>
      <p:grpSpPr>
        <a:xfrm>
          <a:off x="0" y="0"/>
          <a:ext cx="0" cy="0"/>
          <a:chOff x="0" y="0"/>
          <a:chExt cx="0" cy="0"/>
        </a:xfrm>
      </p:grpSpPr>
      <p:sp>
        <p:nvSpPr>
          <p:cNvPr id="15" name="Rectangle 4">
            <a:extLst>
              <a:ext uri="{FF2B5EF4-FFF2-40B4-BE49-F238E27FC236}">
                <a16:creationId xmlns:a16="http://schemas.microsoft.com/office/drawing/2014/main" id="{94D96FD7-0C19-CA46-1D54-6633E9E9E1BF}"/>
              </a:ext>
            </a:extLst>
          </p:cNvPr>
          <p:cNvSpPr/>
          <p:nvPr/>
        </p:nvSpPr>
        <p:spPr>
          <a:xfrm>
            <a:off x="500226" y="874008"/>
            <a:ext cx="8321040" cy="3930784"/>
          </a:xfrm>
          <a:prstGeom prst="rect">
            <a:avLst/>
          </a:prstGeom>
          <a:solidFill>
            <a:srgbClr val="12376D"/>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CFAC4F3B-68A7-C60C-4003-434D99E78CB7}"/>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91C8282-0085-9C4F-A92C-25E0DC4EC7F2}"/>
              </a:ext>
            </a:extLst>
          </p:cNvPr>
          <p:cNvSpPr txBox="1"/>
          <p:nvPr/>
        </p:nvSpPr>
        <p:spPr>
          <a:xfrm>
            <a:off x="502920" y="128016"/>
            <a:ext cx="2969083" cy="461665"/>
          </a:xfrm>
          <a:prstGeom prst="rect">
            <a:avLst/>
          </a:prstGeom>
          <a:noFill/>
        </p:spPr>
        <p:txBody>
          <a:bodyPr wrap="none">
            <a:spAutoFit/>
          </a:bodyPr>
          <a:lstStyle/>
          <a:p>
            <a:r>
              <a:rPr sz="2400" b="1" dirty="0" err="1">
                <a:solidFill>
                  <a:srgbClr val="FFFFFF"/>
                </a:solidFill>
                <a:latin typeface="Microsoft YaHei"/>
              </a:rPr>
              <a:t>系统界面展示</a:t>
            </a:r>
            <a:r>
              <a:rPr sz="2400" b="1" dirty="0">
                <a:solidFill>
                  <a:srgbClr val="FFFFFF"/>
                </a:solidFill>
                <a:latin typeface="Microsoft YaHei"/>
              </a:rPr>
              <a:t>（</a:t>
            </a:r>
            <a:r>
              <a:rPr lang="zh-CN" altLang="en-US" sz="2400" b="1" dirty="0">
                <a:solidFill>
                  <a:srgbClr val="FFFFFF"/>
                </a:solidFill>
                <a:latin typeface="Microsoft YaHei"/>
              </a:rPr>
              <a:t>二</a:t>
            </a:r>
            <a:r>
              <a:rPr sz="2400" b="1" dirty="0">
                <a:solidFill>
                  <a:srgbClr val="FFFFFF"/>
                </a:solidFill>
                <a:latin typeface="Microsoft YaHei"/>
              </a:rPr>
              <a:t>）</a:t>
            </a:r>
          </a:p>
        </p:txBody>
      </p:sp>
      <p:sp>
        <p:nvSpPr>
          <p:cNvPr id="4" name="TextBox 3">
            <a:extLst>
              <a:ext uri="{FF2B5EF4-FFF2-40B4-BE49-F238E27FC236}">
                <a16:creationId xmlns:a16="http://schemas.microsoft.com/office/drawing/2014/main" id="{6FEC45A0-4689-8CA8-2CC8-BCAAB6F5E504}"/>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UI Screens</a:t>
            </a:r>
          </a:p>
        </p:txBody>
      </p:sp>
      <p:sp>
        <p:nvSpPr>
          <p:cNvPr id="10" name="TextBox 9">
            <a:extLst>
              <a:ext uri="{FF2B5EF4-FFF2-40B4-BE49-F238E27FC236}">
                <a16:creationId xmlns:a16="http://schemas.microsoft.com/office/drawing/2014/main" id="{41EC06E9-6C82-E401-9861-B0CB523D1CA1}"/>
              </a:ext>
            </a:extLst>
          </p:cNvPr>
          <p:cNvSpPr txBox="1"/>
          <p:nvPr/>
        </p:nvSpPr>
        <p:spPr>
          <a:xfrm>
            <a:off x="2769086" y="4774159"/>
            <a:ext cx="3657600" cy="246221"/>
          </a:xfrm>
          <a:prstGeom prst="rect">
            <a:avLst/>
          </a:prstGeom>
          <a:noFill/>
        </p:spPr>
        <p:txBody>
          <a:bodyPr wrap="square" anchor="t">
            <a:spAutoFit/>
          </a:bodyPr>
          <a:lstStyle/>
          <a:p>
            <a:pPr algn="ctr"/>
            <a:r>
              <a:rPr sz="1000" b="1" dirty="0" err="1">
                <a:solidFill>
                  <a:srgbClr val="646464"/>
                </a:solidFill>
                <a:latin typeface="Microsoft YaHei"/>
              </a:rPr>
              <a:t>图表</a:t>
            </a:r>
            <a:r>
              <a:rPr sz="1000" b="1" dirty="0">
                <a:solidFill>
                  <a:srgbClr val="646464"/>
                </a:solidFill>
                <a:latin typeface="Microsoft YaHei"/>
              </a:rPr>
              <a:t> 2 </a:t>
            </a:r>
            <a:r>
              <a:rPr sz="1000" b="1" dirty="0" err="1">
                <a:solidFill>
                  <a:srgbClr val="646464"/>
                </a:solidFill>
                <a:latin typeface="Microsoft YaHei"/>
              </a:rPr>
              <a:t>文档知识库界面</a:t>
            </a:r>
            <a:endParaRPr sz="1000" b="1" dirty="0">
              <a:solidFill>
                <a:srgbClr val="646464"/>
              </a:solidFill>
              <a:latin typeface="Microsoft YaHei"/>
            </a:endParaRPr>
          </a:p>
        </p:txBody>
      </p:sp>
      <p:sp>
        <p:nvSpPr>
          <p:cNvPr id="11" name="Rectangle 10">
            <a:extLst>
              <a:ext uri="{FF2B5EF4-FFF2-40B4-BE49-F238E27FC236}">
                <a16:creationId xmlns:a16="http://schemas.microsoft.com/office/drawing/2014/main" id="{032B1DDD-9BFE-13E1-C01B-7101D047AA42}"/>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E58DC21C-E94A-AE7E-3334-8676E7EFFF60}"/>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图片与标题均来自中期报告内嵌图表 1-2</a:t>
            </a:r>
          </a:p>
        </p:txBody>
      </p:sp>
      <p:pic>
        <p:nvPicPr>
          <p:cNvPr id="14" name="图片 13">
            <a:extLst>
              <a:ext uri="{FF2B5EF4-FFF2-40B4-BE49-F238E27FC236}">
                <a16:creationId xmlns:a16="http://schemas.microsoft.com/office/drawing/2014/main" id="{8149D05A-1322-D47F-70ED-8BF7FF8CDD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2354" y="933189"/>
            <a:ext cx="8057949" cy="3781789"/>
          </a:xfrm>
          <a:prstGeom prst="rect">
            <a:avLst/>
          </a:prstGeom>
        </p:spPr>
      </p:pic>
    </p:spTree>
    <p:extLst>
      <p:ext uri="{BB962C8B-B14F-4D97-AF65-F5344CB8AC3E}">
        <p14:creationId xmlns:p14="http://schemas.microsoft.com/office/powerpoint/2010/main" val="31440661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4">
            <a:extLst>
              <a:ext uri="{FF2B5EF4-FFF2-40B4-BE49-F238E27FC236}">
                <a16:creationId xmlns:a16="http://schemas.microsoft.com/office/drawing/2014/main" id="{6AC2C414-7022-C1AB-A388-D8D9338FBDFD}"/>
              </a:ext>
            </a:extLst>
          </p:cNvPr>
          <p:cNvSpPr/>
          <p:nvPr/>
        </p:nvSpPr>
        <p:spPr>
          <a:xfrm>
            <a:off x="500226" y="874008"/>
            <a:ext cx="8321040" cy="3930784"/>
          </a:xfrm>
          <a:prstGeom prst="rect">
            <a:avLst/>
          </a:prstGeom>
          <a:solidFill>
            <a:srgbClr val="12376D"/>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2969083" cy="461665"/>
          </a:xfrm>
          <a:prstGeom prst="rect">
            <a:avLst/>
          </a:prstGeom>
          <a:noFill/>
        </p:spPr>
        <p:txBody>
          <a:bodyPr wrap="none">
            <a:spAutoFit/>
          </a:bodyPr>
          <a:lstStyle/>
          <a:p>
            <a:r>
              <a:rPr sz="2400" b="1" dirty="0" err="1">
                <a:solidFill>
                  <a:srgbClr val="FFFFFF"/>
                </a:solidFill>
                <a:latin typeface="Microsoft YaHei"/>
              </a:rPr>
              <a:t>系统界面展示</a:t>
            </a:r>
            <a:r>
              <a:rPr sz="2400" b="1" dirty="0">
                <a:solidFill>
                  <a:srgbClr val="FFFFFF"/>
                </a:solidFill>
                <a:latin typeface="Microsoft YaHei"/>
              </a:rPr>
              <a:t>（</a:t>
            </a:r>
            <a:r>
              <a:rPr lang="zh-CN" altLang="en-US" sz="2400" b="1" dirty="0">
                <a:solidFill>
                  <a:srgbClr val="FFFFFF"/>
                </a:solidFill>
                <a:latin typeface="Microsoft YaHei"/>
              </a:rPr>
              <a:t>三</a:t>
            </a:r>
            <a:r>
              <a:rPr sz="2400" b="1" dirty="0">
                <a:solidFill>
                  <a:srgbClr val="FFFFFF"/>
                </a:solidFill>
                <a:latin typeface="Microsoft YaHei"/>
              </a:rPr>
              <a:t>）</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UI Screens</a:t>
            </a:r>
          </a:p>
        </p:txBody>
      </p:sp>
      <p:sp>
        <p:nvSpPr>
          <p:cNvPr id="7" name="TextBox 6"/>
          <p:cNvSpPr txBox="1"/>
          <p:nvPr/>
        </p:nvSpPr>
        <p:spPr>
          <a:xfrm>
            <a:off x="2743200" y="4832224"/>
            <a:ext cx="3657600" cy="246221"/>
          </a:xfrm>
          <a:prstGeom prst="rect">
            <a:avLst/>
          </a:prstGeom>
          <a:noFill/>
        </p:spPr>
        <p:txBody>
          <a:bodyPr wrap="square" anchor="t">
            <a:spAutoFit/>
          </a:bodyPr>
          <a:lstStyle/>
          <a:p>
            <a:pPr algn="ctr"/>
            <a:r>
              <a:rPr sz="1000" b="1" dirty="0" err="1">
                <a:solidFill>
                  <a:srgbClr val="646464"/>
                </a:solidFill>
                <a:latin typeface="Microsoft YaHei"/>
              </a:rPr>
              <a:t>图表</a:t>
            </a:r>
            <a:r>
              <a:rPr sz="1000" b="1" dirty="0">
                <a:solidFill>
                  <a:srgbClr val="646464"/>
                </a:solidFill>
                <a:latin typeface="Microsoft YaHei"/>
              </a:rPr>
              <a:t> 3 </a:t>
            </a:r>
            <a:r>
              <a:rPr sz="1000" b="1" dirty="0" err="1">
                <a:solidFill>
                  <a:srgbClr val="646464"/>
                </a:solidFill>
                <a:latin typeface="Microsoft YaHei"/>
              </a:rPr>
              <a:t>图文检索服务界面</a:t>
            </a:r>
            <a:endParaRPr sz="1000" b="1" dirty="0">
              <a:solidFill>
                <a:srgbClr val="646464"/>
              </a:solidFill>
              <a:latin typeface="Microsoft YaHei"/>
            </a:endParaRPr>
          </a:p>
        </p:txBody>
      </p:sp>
      <p:sp>
        <p:nvSpPr>
          <p:cNvPr id="11" name="Rectangle 10"/>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图片与标题均来自中期报告内嵌图表 3-4</a:t>
            </a:r>
          </a:p>
        </p:txBody>
      </p:sp>
      <p:pic>
        <p:nvPicPr>
          <p:cNvPr id="15" name="图片 14">
            <a:extLst>
              <a:ext uri="{FF2B5EF4-FFF2-40B4-BE49-F238E27FC236}">
                <a16:creationId xmlns:a16="http://schemas.microsoft.com/office/drawing/2014/main" id="{2030C5A8-F49E-33EA-E205-028A90A8F9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072" y="956826"/>
            <a:ext cx="8029178" cy="37651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45B06-F275-EFDF-FF3C-718F3B9315FA}"/>
            </a:ext>
          </a:extLst>
        </p:cNvPr>
        <p:cNvGrpSpPr/>
        <p:nvPr/>
      </p:nvGrpSpPr>
      <p:grpSpPr>
        <a:xfrm>
          <a:off x="0" y="0"/>
          <a:ext cx="0" cy="0"/>
          <a:chOff x="0" y="0"/>
          <a:chExt cx="0" cy="0"/>
        </a:xfrm>
      </p:grpSpPr>
      <p:sp>
        <p:nvSpPr>
          <p:cNvPr id="13" name="Rectangle 4">
            <a:extLst>
              <a:ext uri="{FF2B5EF4-FFF2-40B4-BE49-F238E27FC236}">
                <a16:creationId xmlns:a16="http://schemas.microsoft.com/office/drawing/2014/main" id="{CAAB957F-6648-DAD9-BAB6-2B8F88CF4600}"/>
              </a:ext>
            </a:extLst>
          </p:cNvPr>
          <p:cNvSpPr/>
          <p:nvPr/>
        </p:nvSpPr>
        <p:spPr>
          <a:xfrm>
            <a:off x="500226" y="874008"/>
            <a:ext cx="8321040" cy="3930784"/>
          </a:xfrm>
          <a:prstGeom prst="rect">
            <a:avLst/>
          </a:prstGeom>
          <a:solidFill>
            <a:srgbClr val="12376D"/>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223659A4-B4C6-81C5-21A0-C87514664168}"/>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D9FC8C9-F339-BCDE-32C7-3553B293AD87}"/>
              </a:ext>
            </a:extLst>
          </p:cNvPr>
          <p:cNvSpPr txBox="1"/>
          <p:nvPr/>
        </p:nvSpPr>
        <p:spPr>
          <a:xfrm>
            <a:off x="502920" y="128016"/>
            <a:ext cx="2969083" cy="461665"/>
          </a:xfrm>
          <a:prstGeom prst="rect">
            <a:avLst/>
          </a:prstGeom>
          <a:noFill/>
        </p:spPr>
        <p:txBody>
          <a:bodyPr wrap="none">
            <a:spAutoFit/>
          </a:bodyPr>
          <a:lstStyle/>
          <a:p>
            <a:r>
              <a:rPr sz="2400" b="1" dirty="0" err="1">
                <a:solidFill>
                  <a:srgbClr val="FFFFFF"/>
                </a:solidFill>
                <a:latin typeface="Microsoft YaHei"/>
              </a:rPr>
              <a:t>系统界面展示</a:t>
            </a:r>
            <a:r>
              <a:rPr sz="2400" b="1" dirty="0">
                <a:solidFill>
                  <a:srgbClr val="FFFFFF"/>
                </a:solidFill>
                <a:latin typeface="Microsoft YaHei"/>
              </a:rPr>
              <a:t>（</a:t>
            </a:r>
            <a:r>
              <a:rPr lang="zh-CN" altLang="en-US" sz="2400" b="1" dirty="0">
                <a:solidFill>
                  <a:srgbClr val="FFFFFF"/>
                </a:solidFill>
                <a:latin typeface="Microsoft YaHei"/>
              </a:rPr>
              <a:t>四</a:t>
            </a:r>
            <a:r>
              <a:rPr sz="2400" b="1" dirty="0">
                <a:solidFill>
                  <a:srgbClr val="FFFFFF"/>
                </a:solidFill>
                <a:latin typeface="Microsoft YaHei"/>
              </a:rPr>
              <a:t>）</a:t>
            </a:r>
          </a:p>
        </p:txBody>
      </p:sp>
      <p:sp>
        <p:nvSpPr>
          <p:cNvPr id="4" name="TextBox 3">
            <a:extLst>
              <a:ext uri="{FF2B5EF4-FFF2-40B4-BE49-F238E27FC236}">
                <a16:creationId xmlns:a16="http://schemas.microsoft.com/office/drawing/2014/main" id="{D7487C15-BF50-C701-B592-56701FDC798F}"/>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UI Screens</a:t>
            </a:r>
          </a:p>
        </p:txBody>
      </p:sp>
      <p:sp>
        <p:nvSpPr>
          <p:cNvPr id="10" name="TextBox 9">
            <a:extLst>
              <a:ext uri="{FF2B5EF4-FFF2-40B4-BE49-F238E27FC236}">
                <a16:creationId xmlns:a16="http://schemas.microsoft.com/office/drawing/2014/main" id="{2B157172-25C4-020A-967E-9F0DC34F42CD}"/>
              </a:ext>
            </a:extLst>
          </p:cNvPr>
          <p:cNvSpPr txBox="1"/>
          <p:nvPr/>
        </p:nvSpPr>
        <p:spPr>
          <a:xfrm>
            <a:off x="2628578" y="4828223"/>
            <a:ext cx="3657600" cy="246221"/>
          </a:xfrm>
          <a:prstGeom prst="rect">
            <a:avLst/>
          </a:prstGeom>
          <a:noFill/>
        </p:spPr>
        <p:txBody>
          <a:bodyPr wrap="square" anchor="t">
            <a:spAutoFit/>
          </a:bodyPr>
          <a:lstStyle/>
          <a:p>
            <a:pPr algn="ctr"/>
            <a:r>
              <a:rPr sz="1000" b="1" dirty="0" err="1">
                <a:solidFill>
                  <a:srgbClr val="646464"/>
                </a:solidFill>
                <a:latin typeface="Microsoft YaHei"/>
              </a:rPr>
              <a:t>图表</a:t>
            </a:r>
            <a:r>
              <a:rPr sz="1000" b="1" dirty="0">
                <a:solidFill>
                  <a:srgbClr val="646464"/>
                </a:solidFill>
                <a:latin typeface="Microsoft YaHei"/>
              </a:rPr>
              <a:t> 4 RAG </a:t>
            </a:r>
            <a:r>
              <a:rPr sz="1000" b="1" dirty="0" err="1">
                <a:solidFill>
                  <a:srgbClr val="646464"/>
                </a:solidFill>
                <a:latin typeface="Microsoft YaHei"/>
              </a:rPr>
              <a:t>问答服务</a:t>
            </a:r>
            <a:endParaRPr sz="1000" b="1" dirty="0">
              <a:solidFill>
                <a:srgbClr val="646464"/>
              </a:solidFill>
              <a:latin typeface="Microsoft YaHei"/>
            </a:endParaRPr>
          </a:p>
        </p:txBody>
      </p:sp>
      <p:sp>
        <p:nvSpPr>
          <p:cNvPr id="11" name="Rectangle 10">
            <a:extLst>
              <a:ext uri="{FF2B5EF4-FFF2-40B4-BE49-F238E27FC236}">
                <a16:creationId xmlns:a16="http://schemas.microsoft.com/office/drawing/2014/main" id="{8BE19E0C-3302-CC5E-ABAE-9E442F3DA706}"/>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B8BC3B1C-3BDF-5FF4-C49F-DBA2FD3831A9}"/>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图片与标题均来自中期报告内嵌图表 3-4</a:t>
            </a:r>
          </a:p>
        </p:txBody>
      </p:sp>
      <p:pic>
        <p:nvPicPr>
          <p:cNvPr id="15" name="图片 14">
            <a:extLst>
              <a:ext uri="{FF2B5EF4-FFF2-40B4-BE49-F238E27FC236}">
                <a16:creationId xmlns:a16="http://schemas.microsoft.com/office/drawing/2014/main" id="{F110CEBB-3077-85D0-4C28-61F6B070D60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4209" y="927325"/>
            <a:ext cx="8118311" cy="3805459"/>
          </a:xfrm>
          <a:prstGeom prst="rect">
            <a:avLst/>
          </a:prstGeom>
        </p:spPr>
      </p:pic>
    </p:spTree>
    <p:extLst>
      <p:ext uri="{BB962C8B-B14F-4D97-AF65-F5344CB8AC3E}">
        <p14:creationId xmlns:p14="http://schemas.microsoft.com/office/powerpoint/2010/main" val="1141580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dirty="0" err="1">
                <a:solidFill>
                  <a:srgbClr val="FFFFFF"/>
                </a:solidFill>
                <a:latin typeface="Microsoft YaHei"/>
              </a:rPr>
              <a:t>核心功能实现与优化</a:t>
            </a:r>
            <a:endParaRPr sz="2400" b="1" dirty="0">
              <a:solidFill>
                <a:srgbClr val="FFFFFF"/>
              </a:solidFill>
              <a:latin typeface="Microsoft YaHei"/>
            </a:endParaRP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Core Functions</a:t>
            </a:r>
          </a:p>
        </p:txBody>
      </p:sp>
      <p:sp>
        <p:nvSpPr>
          <p:cNvPr id="5" name="Rounded Rectangle 4"/>
          <p:cNvSpPr/>
          <p:nvPr/>
        </p:nvSpPr>
        <p:spPr>
          <a:xfrm>
            <a:off x="640080" y="1097280"/>
            <a:ext cx="2468880" cy="146304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207007"/>
            <a:ext cx="2194560" cy="256032"/>
          </a:xfrm>
          <a:prstGeom prst="rect">
            <a:avLst/>
          </a:prstGeom>
          <a:noFill/>
        </p:spPr>
        <p:txBody>
          <a:bodyPr wrap="square" anchor="t">
            <a:spAutoFit/>
          </a:bodyPr>
          <a:lstStyle/>
          <a:p>
            <a:pPr algn="l"/>
            <a:r>
              <a:rPr sz="1600" b="1" dirty="0" err="1">
                <a:solidFill>
                  <a:srgbClr val="12376D"/>
                </a:solidFill>
                <a:latin typeface="Microsoft YaHei"/>
              </a:rPr>
              <a:t>图像语义化</a:t>
            </a:r>
            <a:endParaRPr sz="1600" b="1" dirty="0">
              <a:solidFill>
                <a:srgbClr val="12376D"/>
              </a:solidFill>
              <a:latin typeface="Microsoft YaHei"/>
            </a:endParaRPr>
          </a:p>
        </p:txBody>
      </p:sp>
      <p:sp>
        <p:nvSpPr>
          <p:cNvPr id="7" name="TextBox 6"/>
          <p:cNvSpPr txBox="1"/>
          <p:nvPr/>
        </p:nvSpPr>
        <p:spPr>
          <a:xfrm>
            <a:off x="749808" y="1481328"/>
            <a:ext cx="2249424" cy="1005840"/>
          </a:xfrm>
          <a:prstGeom prst="rect">
            <a:avLst/>
          </a:prstGeom>
          <a:noFill/>
        </p:spPr>
        <p:txBody>
          <a:bodyPr wrap="square">
            <a:spAutoFit/>
          </a:bodyPr>
          <a:lstStyle/>
          <a:p>
            <a:pPr>
              <a:spcAft>
                <a:spcPts val="400"/>
              </a:spcAft>
              <a:defRPr sz="1300">
                <a:solidFill>
                  <a:srgbClr val="282828"/>
                </a:solidFill>
                <a:latin typeface="Microsoft YaHei"/>
              </a:defRPr>
            </a:pPr>
            <a:r>
              <a:t>实现图像描述生成、结构化信息入库和向量化存储。</a:t>
            </a:r>
          </a:p>
        </p:txBody>
      </p:sp>
      <p:sp>
        <p:nvSpPr>
          <p:cNvPr id="8" name="Rounded Rectangle 7"/>
          <p:cNvSpPr/>
          <p:nvPr/>
        </p:nvSpPr>
        <p:spPr>
          <a:xfrm>
            <a:off x="3291840" y="1097280"/>
            <a:ext cx="2468880" cy="146304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29000" y="1207007"/>
            <a:ext cx="2194560" cy="256032"/>
          </a:xfrm>
          <a:prstGeom prst="rect">
            <a:avLst/>
          </a:prstGeom>
          <a:noFill/>
        </p:spPr>
        <p:txBody>
          <a:bodyPr wrap="square" anchor="t">
            <a:spAutoFit/>
          </a:bodyPr>
          <a:lstStyle/>
          <a:p>
            <a:pPr algn="l"/>
            <a:r>
              <a:rPr sz="1600" b="1" dirty="0" err="1">
                <a:solidFill>
                  <a:srgbClr val="12376D"/>
                </a:solidFill>
                <a:latin typeface="Microsoft YaHei"/>
              </a:rPr>
              <a:t>双路检索</a:t>
            </a:r>
            <a:endParaRPr sz="1600" b="1" dirty="0">
              <a:solidFill>
                <a:srgbClr val="12376D"/>
              </a:solidFill>
              <a:latin typeface="Microsoft YaHei"/>
            </a:endParaRPr>
          </a:p>
        </p:txBody>
      </p:sp>
      <p:sp>
        <p:nvSpPr>
          <p:cNvPr id="10" name="TextBox 9"/>
          <p:cNvSpPr txBox="1"/>
          <p:nvPr/>
        </p:nvSpPr>
        <p:spPr>
          <a:xfrm>
            <a:off x="3401568" y="1481328"/>
            <a:ext cx="2249424" cy="1005840"/>
          </a:xfrm>
          <a:prstGeom prst="rect">
            <a:avLst/>
          </a:prstGeom>
          <a:noFill/>
        </p:spPr>
        <p:txBody>
          <a:bodyPr wrap="square">
            <a:spAutoFit/>
          </a:bodyPr>
          <a:lstStyle/>
          <a:p>
            <a:pPr>
              <a:spcAft>
                <a:spcPts val="400"/>
              </a:spcAft>
              <a:defRPr sz="1300">
                <a:solidFill>
                  <a:srgbClr val="282828"/>
                </a:solidFill>
                <a:latin typeface="Microsoft YaHei"/>
              </a:defRPr>
            </a:pPr>
            <a:r>
              <a:rPr dirty="0" err="1"/>
              <a:t>实现文本检索图片和以图搜图两类检索机制</a:t>
            </a:r>
            <a:r>
              <a:rPr dirty="0"/>
              <a:t>。</a:t>
            </a:r>
          </a:p>
        </p:txBody>
      </p:sp>
      <p:sp>
        <p:nvSpPr>
          <p:cNvPr id="11" name="Rounded Rectangle 10"/>
          <p:cNvSpPr/>
          <p:nvPr/>
        </p:nvSpPr>
        <p:spPr>
          <a:xfrm>
            <a:off x="5943600" y="1097280"/>
            <a:ext cx="2468880" cy="146304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80760" y="1207007"/>
            <a:ext cx="2194560" cy="256032"/>
          </a:xfrm>
          <a:prstGeom prst="rect">
            <a:avLst/>
          </a:prstGeom>
          <a:noFill/>
        </p:spPr>
        <p:txBody>
          <a:bodyPr wrap="square" anchor="t">
            <a:spAutoFit/>
          </a:bodyPr>
          <a:lstStyle/>
          <a:p>
            <a:pPr algn="l"/>
            <a:r>
              <a:rPr sz="1600" b="1" dirty="0" err="1">
                <a:solidFill>
                  <a:srgbClr val="12376D"/>
                </a:solidFill>
                <a:latin typeface="Microsoft YaHei"/>
              </a:rPr>
              <a:t>多模态问答</a:t>
            </a:r>
            <a:endParaRPr sz="1600" b="1" dirty="0">
              <a:solidFill>
                <a:srgbClr val="12376D"/>
              </a:solidFill>
              <a:latin typeface="Microsoft YaHei"/>
            </a:endParaRPr>
          </a:p>
        </p:txBody>
      </p:sp>
      <p:sp>
        <p:nvSpPr>
          <p:cNvPr id="13" name="TextBox 12"/>
          <p:cNvSpPr txBox="1"/>
          <p:nvPr/>
        </p:nvSpPr>
        <p:spPr>
          <a:xfrm>
            <a:off x="6053328" y="1481328"/>
            <a:ext cx="2249424" cy="1005840"/>
          </a:xfrm>
          <a:prstGeom prst="rect">
            <a:avLst/>
          </a:prstGeom>
          <a:noFill/>
        </p:spPr>
        <p:txBody>
          <a:bodyPr wrap="square">
            <a:spAutoFit/>
          </a:bodyPr>
          <a:lstStyle/>
          <a:p>
            <a:pPr>
              <a:spcAft>
                <a:spcPts val="400"/>
              </a:spcAft>
              <a:defRPr sz="1300">
                <a:solidFill>
                  <a:srgbClr val="282828"/>
                </a:solidFill>
                <a:latin typeface="Microsoft YaHei"/>
              </a:defRPr>
            </a:pPr>
            <a:r>
              <a:t>完成基于 RAG 的问答能力，可返回回答、来源和检索过程信息。</a:t>
            </a:r>
          </a:p>
        </p:txBody>
      </p:sp>
      <p:sp>
        <p:nvSpPr>
          <p:cNvPr id="14" name="Rounded Rectangle 13"/>
          <p:cNvSpPr/>
          <p:nvPr/>
        </p:nvSpPr>
        <p:spPr>
          <a:xfrm>
            <a:off x="1815882" y="2880360"/>
            <a:ext cx="2468880" cy="16459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53042" y="2990088"/>
            <a:ext cx="2194560" cy="338554"/>
          </a:xfrm>
          <a:prstGeom prst="rect">
            <a:avLst/>
          </a:prstGeom>
          <a:noFill/>
        </p:spPr>
        <p:txBody>
          <a:bodyPr wrap="square" anchor="t">
            <a:spAutoFit/>
          </a:bodyPr>
          <a:lstStyle/>
          <a:p>
            <a:pPr algn="l"/>
            <a:r>
              <a:rPr sz="1600" b="1" dirty="0" err="1">
                <a:solidFill>
                  <a:srgbClr val="12376D"/>
                </a:solidFill>
                <a:latin typeface="Microsoft YaHei"/>
              </a:rPr>
              <a:t>检索增强</a:t>
            </a:r>
            <a:r>
              <a:rPr lang="zh-CN" altLang="en-US" sz="1600" b="1" dirty="0">
                <a:solidFill>
                  <a:srgbClr val="12376D"/>
                </a:solidFill>
                <a:latin typeface="Microsoft YaHei"/>
              </a:rPr>
              <a:t>优化</a:t>
            </a:r>
            <a:endParaRPr sz="1600" b="1" dirty="0">
              <a:solidFill>
                <a:srgbClr val="12376D"/>
              </a:solidFill>
              <a:latin typeface="Microsoft YaHei"/>
            </a:endParaRPr>
          </a:p>
        </p:txBody>
      </p:sp>
      <p:sp>
        <p:nvSpPr>
          <p:cNvPr id="16" name="TextBox 15"/>
          <p:cNvSpPr txBox="1"/>
          <p:nvPr/>
        </p:nvSpPr>
        <p:spPr>
          <a:xfrm>
            <a:off x="1925610" y="3264408"/>
            <a:ext cx="2249424" cy="692497"/>
          </a:xfrm>
          <a:prstGeom prst="rect">
            <a:avLst/>
          </a:prstGeom>
          <a:noFill/>
        </p:spPr>
        <p:txBody>
          <a:bodyPr wrap="square">
            <a:spAutoFit/>
          </a:bodyPr>
          <a:lstStyle/>
          <a:p>
            <a:pPr>
              <a:spcAft>
                <a:spcPts val="400"/>
              </a:spcAft>
              <a:defRPr sz="1300">
                <a:solidFill>
                  <a:srgbClr val="282828"/>
                </a:solidFill>
                <a:latin typeface="Microsoft YaHei"/>
              </a:defRPr>
            </a:pPr>
            <a:r>
              <a:rPr dirty="0" err="1"/>
              <a:t>集成查询改写、多查询扩展、混合检索和重排序</a:t>
            </a:r>
            <a:r>
              <a:rPr lang="zh-CN" altLang="en-US" dirty="0"/>
              <a:t>，上下文压缩的集成</a:t>
            </a:r>
            <a:r>
              <a:rPr dirty="0"/>
              <a:t>。</a:t>
            </a:r>
          </a:p>
        </p:txBody>
      </p:sp>
      <p:sp>
        <p:nvSpPr>
          <p:cNvPr id="20" name="Rounded Rectangle 19"/>
          <p:cNvSpPr/>
          <p:nvPr/>
        </p:nvSpPr>
        <p:spPr>
          <a:xfrm>
            <a:off x="4768210" y="2880360"/>
            <a:ext cx="2468880" cy="164592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905370" y="2990088"/>
            <a:ext cx="2194560" cy="338554"/>
          </a:xfrm>
          <a:prstGeom prst="rect">
            <a:avLst/>
          </a:prstGeom>
          <a:noFill/>
        </p:spPr>
        <p:txBody>
          <a:bodyPr wrap="square" anchor="t">
            <a:spAutoFit/>
          </a:bodyPr>
          <a:lstStyle/>
          <a:p>
            <a:r>
              <a:rPr lang="en-US" altLang="zh-CN" sz="1600" b="1" dirty="0">
                <a:solidFill>
                  <a:srgbClr val="12376D"/>
                </a:solidFill>
                <a:latin typeface="微软雅黑" panose="020B0503020204020204" pitchFamily="34" charset="-122"/>
                <a:ea typeface="微软雅黑" panose="020B0503020204020204" pitchFamily="34" charset="-122"/>
              </a:rPr>
              <a:t>RAG</a:t>
            </a:r>
            <a:r>
              <a:rPr lang="zh-CN" altLang="en-US" sz="1600" b="1" dirty="0">
                <a:solidFill>
                  <a:srgbClr val="12376D"/>
                </a:solidFill>
                <a:latin typeface="微软雅黑" panose="020B0503020204020204" pitchFamily="34" charset="-122"/>
                <a:ea typeface="微软雅黑" panose="020B0503020204020204" pitchFamily="34" charset="-122"/>
              </a:rPr>
              <a:t>过程可观测</a:t>
            </a:r>
            <a:endParaRPr sz="1600" b="1" dirty="0">
              <a:solidFill>
                <a:srgbClr val="12376D"/>
              </a:solidFill>
              <a:latin typeface="微软雅黑" panose="020B0503020204020204" pitchFamily="34" charset="-122"/>
              <a:ea typeface="微软雅黑" panose="020B0503020204020204" pitchFamily="34" charset="-122"/>
            </a:endParaRPr>
          </a:p>
        </p:txBody>
      </p:sp>
      <p:sp>
        <p:nvSpPr>
          <p:cNvPr id="22" name="TextBox 21"/>
          <p:cNvSpPr txBox="1"/>
          <p:nvPr/>
        </p:nvSpPr>
        <p:spPr>
          <a:xfrm>
            <a:off x="4877938" y="3264408"/>
            <a:ext cx="2249424" cy="892552"/>
          </a:xfrm>
          <a:prstGeom prst="rect">
            <a:avLst/>
          </a:prstGeom>
          <a:noFill/>
        </p:spPr>
        <p:txBody>
          <a:bodyPr wrap="square">
            <a:spAutoFit/>
          </a:bodyPr>
          <a:lstStyle/>
          <a:p>
            <a:pPr>
              <a:spcAft>
                <a:spcPts val="400"/>
              </a:spcAft>
              <a:defRPr sz="1300">
                <a:solidFill>
                  <a:srgbClr val="282828"/>
                </a:solidFill>
                <a:latin typeface="Microsoft YaHei"/>
              </a:defRPr>
            </a:pPr>
            <a:r>
              <a:rPr lang="zh-CN" altLang="en-US" sz="1300" dirty="0">
                <a:solidFill>
                  <a:srgbClr val="282828"/>
                </a:solidFill>
                <a:latin typeface="Microsoft YaHei"/>
              </a:rPr>
              <a:t>记录检索、评分、重写来源信息，前端可展开查看，具备了结果可追溯、过程可查看的能力。</a:t>
            </a:r>
            <a:endParaRPr sz="1300" dirty="0">
              <a:solidFill>
                <a:srgbClr val="282828"/>
              </a:solidFill>
              <a:latin typeface="Microsoft YaHei"/>
            </a:endParaRPr>
          </a:p>
        </p:txBody>
      </p:sp>
      <p:sp>
        <p:nvSpPr>
          <p:cNvPr id="23" name="Rectangle 22"/>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内容依据：中期报告“3.核心功能实现与优化”</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2CD10-E067-415F-9815-CEBFF2E955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E4FEECE-FD67-7B9E-0599-07D44D0DF09C}"/>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8E6CC36E-D0C0-67D3-4CEC-1CAAB13A9B73}"/>
              </a:ext>
            </a:extLst>
          </p:cNvPr>
          <p:cNvSpPr txBox="1"/>
          <p:nvPr/>
        </p:nvSpPr>
        <p:spPr>
          <a:xfrm>
            <a:off x="502920" y="128016"/>
            <a:ext cx="7223760" cy="320040"/>
          </a:xfrm>
          <a:prstGeom prst="rect">
            <a:avLst/>
          </a:prstGeom>
          <a:noFill/>
        </p:spPr>
        <p:txBody>
          <a:bodyPr wrap="none">
            <a:spAutoFit/>
          </a:bodyPr>
          <a:lstStyle/>
          <a:p>
            <a:r>
              <a:rPr sz="2400" b="1" dirty="0" err="1">
                <a:solidFill>
                  <a:srgbClr val="FFFFFF"/>
                </a:solidFill>
                <a:latin typeface="Microsoft YaHei"/>
              </a:rPr>
              <a:t>核心功能实现与优化</a:t>
            </a:r>
            <a:endParaRPr sz="2400" b="1" dirty="0">
              <a:solidFill>
                <a:srgbClr val="FFFFFF"/>
              </a:solidFill>
              <a:latin typeface="Microsoft YaHei"/>
            </a:endParaRPr>
          </a:p>
        </p:txBody>
      </p:sp>
      <p:sp>
        <p:nvSpPr>
          <p:cNvPr id="4" name="TextBox 3">
            <a:extLst>
              <a:ext uri="{FF2B5EF4-FFF2-40B4-BE49-F238E27FC236}">
                <a16:creationId xmlns:a16="http://schemas.microsoft.com/office/drawing/2014/main" id="{7875FC22-8639-B4C8-2ABC-BFED7D6463EE}"/>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Core Functions</a:t>
            </a:r>
          </a:p>
        </p:txBody>
      </p:sp>
      <p:sp>
        <p:nvSpPr>
          <p:cNvPr id="5" name="Rounded Rectangle 4">
            <a:extLst>
              <a:ext uri="{FF2B5EF4-FFF2-40B4-BE49-F238E27FC236}">
                <a16:creationId xmlns:a16="http://schemas.microsoft.com/office/drawing/2014/main" id="{5594729D-C273-800A-F763-472C611BB21B}"/>
              </a:ext>
            </a:extLst>
          </p:cNvPr>
          <p:cNvSpPr/>
          <p:nvPr/>
        </p:nvSpPr>
        <p:spPr>
          <a:xfrm>
            <a:off x="2124522" y="700336"/>
            <a:ext cx="5040560" cy="381723"/>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00BDC63-45CE-9095-BE66-407EBEA51485}"/>
              </a:ext>
            </a:extLst>
          </p:cNvPr>
          <p:cNvSpPr txBox="1"/>
          <p:nvPr/>
        </p:nvSpPr>
        <p:spPr>
          <a:xfrm>
            <a:off x="2172856" y="722020"/>
            <a:ext cx="1069848" cy="338554"/>
          </a:xfrm>
          <a:prstGeom prst="rect">
            <a:avLst/>
          </a:prstGeom>
          <a:noFill/>
        </p:spPr>
        <p:txBody>
          <a:bodyPr wrap="square" anchor="t">
            <a:spAutoFit/>
          </a:bodyPr>
          <a:lstStyle/>
          <a:p>
            <a:pPr algn="l"/>
            <a:r>
              <a:rPr lang="zh-CN" altLang="en-US" sz="1600" b="1" dirty="0">
                <a:solidFill>
                  <a:srgbClr val="12376D"/>
                </a:solidFill>
                <a:latin typeface="Microsoft YaHei"/>
              </a:rPr>
              <a:t>意图识别</a:t>
            </a:r>
            <a:endParaRPr sz="1600" b="1" dirty="0">
              <a:solidFill>
                <a:srgbClr val="12376D"/>
              </a:solidFill>
              <a:latin typeface="Microsoft YaHei"/>
            </a:endParaRPr>
          </a:p>
        </p:txBody>
      </p:sp>
      <p:sp>
        <p:nvSpPr>
          <p:cNvPr id="7" name="TextBox 6">
            <a:extLst>
              <a:ext uri="{FF2B5EF4-FFF2-40B4-BE49-F238E27FC236}">
                <a16:creationId xmlns:a16="http://schemas.microsoft.com/office/drawing/2014/main" id="{5C692723-5041-00DF-8DC0-4AA147B6A4F0}"/>
              </a:ext>
            </a:extLst>
          </p:cNvPr>
          <p:cNvSpPr txBox="1"/>
          <p:nvPr/>
        </p:nvSpPr>
        <p:spPr>
          <a:xfrm>
            <a:off x="3242704" y="722020"/>
            <a:ext cx="3706354" cy="292388"/>
          </a:xfrm>
          <a:prstGeom prst="rect">
            <a:avLst/>
          </a:prstGeom>
          <a:noFill/>
        </p:spPr>
        <p:txBody>
          <a:bodyPr wrap="square">
            <a:spAutoFit/>
          </a:bodyPr>
          <a:lstStyle/>
          <a:p>
            <a:pPr>
              <a:spcAft>
                <a:spcPts val="400"/>
              </a:spcAft>
              <a:defRPr sz="1300">
                <a:solidFill>
                  <a:srgbClr val="282828"/>
                </a:solidFill>
                <a:latin typeface="Microsoft YaHei"/>
              </a:defRPr>
            </a:pPr>
            <a:r>
              <a:rPr lang="zh-CN" altLang="en-US" dirty="0"/>
              <a:t>根据用户问题进行意图识别自动切换执行模式</a:t>
            </a:r>
            <a:endParaRPr dirty="0"/>
          </a:p>
        </p:txBody>
      </p:sp>
      <p:sp>
        <p:nvSpPr>
          <p:cNvPr id="23" name="Rectangle 22">
            <a:extLst>
              <a:ext uri="{FF2B5EF4-FFF2-40B4-BE49-F238E27FC236}">
                <a16:creationId xmlns:a16="http://schemas.microsoft.com/office/drawing/2014/main" id="{DFFA0869-7972-A5D8-E308-1FDA734E4320}"/>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5FAA117E-477A-5743-0F21-FB2FBB4B3C27}"/>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内容依据：中期报告“3.核心功能实现与优化”</a:t>
            </a:r>
          </a:p>
        </p:txBody>
      </p:sp>
      <p:graphicFrame>
        <p:nvGraphicFramePr>
          <p:cNvPr id="11" name="表格 10">
            <a:extLst>
              <a:ext uri="{FF2B5EF4-FFF2-40B4-BE49-F238E27FC236}">
                <a16:creationId xmlns:a16="http://schemas.microsoft.com/office/drawing/2014/main" id="{CED68577-731E-174D-8DC8-2DA9C0097A80}"/>
              </a:ext>
            </a:extLst>
          </p:cNvPr>
          <p:cNvGraphicFramePr>
            <a:graphicFrameLocks noGrp="1"/>
          </p:cNvGraphicFramePr>
          <p:nvPr>
            <p:extLst>
              <p:ext uri="{D42A27DB-BD31-4B8C-83A1-F6EECF244321}">
                <p14:modId xmlns:p14="http://schemas.microsoft.com/office/powerpoint/2010/main" val="2901797424"/>
              </p:ext>
            </p:extLst>
          </p:nvPr>
        </p:nvGraphicFramePr>
        <p:xfrm>
          <a:off x="324322" y="1276400"/>
          <a:ext cx="8545358" cy="3536434"/>
        </p:xfrm>
        <a:graphic>
          <a:graphicData uri="http://schemas.openxmlformats.org/drawingml/2006/table">
            <a:tbl>
              <a:tblPr/>
              <a:tblGrid>
                <a:gridCol w="3672408">
                  <a:extLst>
                    <a:ext uri="{9D8B030D-6E8A-4147-A177-3AD203B41FA5}">
                      <a16:colId xmlns:a16="http://schemas.microsoft.com/office/drawing/2014/main" val="3214914827"/>
                    </a:ext>
                  </a:extLst>
                </a:gridCol>
                <a:gridCol w="1368152">
                  <a:extLst>
                    <a:ext uri="{9D8B030D-6E8A-4147-A177-3AD203B41FA5}">
                      <a16:colId xmlns:a16="http://schemas.microsoft.com/office/drawing/2014/main" val="2657584841"/>
                    </a:ext>
                  </a:extLst>
                </a:gridCol>
                <a:gridCol w="1440160">
                  <a:extLst>
                    <a:ext uri="{9D8B030D-6E8A-4147-A177-3AD203B41FA5}">
                      <a16:colId xmlns:a16="http://schemas.microsoft.com/office/drawing/2014/main" val="3442385442"/>
                    </a:ext>
                  </a:extLst>
                </a:gridCol>
                <a:gridCol w="720080">
                  <a:extLst>
                    <a:ext uri="{9D8B030D-6E8A-4147-A177-3AD203B41FA5}">
                      <a16:colId xmlns:a16="http://schemas.microsoft.com/office/drawing/2014/main" val="4294193382"/>
                    </a:ext>
                  </a:extLst>
                </a:gridCol>
                <a:gridCol w="1344558">
                  <a:extLst>
                    <a:ext uri="{9D8B030D-6E8A-4147-A177-3AD203B41FA5}">
                      <a16:colId xmlns:a16="http://schemas.microsoft.com/office/drawing/2014/main" val="338856304"/>
                    </a:ext>
                  </a:extLst>
                </a:gridCol>
              </a:tblGrid>
              <a:tr h="221026">
                <a:tc>
                  <a:txBody>
                    <a:bodyPr/>
                    <a:lstStyle/>
                    <a:p>
                      <a:pPr>
                        <a:buNone/>
                      </a:pPr>
                      <a:r>
                        <a:rPr lang="zh-CN" altLang="en-US" sz="800" b="1" dirty="0">
                          <a:effectLst/>
                        </a:rPr>
                        <a:t>用户问题样例</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en-US" sz="800" b="1" dirty="0" err="1">
                          <a:effectLst/>
                          <a:latin typeface="微软雅黑" panose="020B0503020204020204" pitchFamily="34" charset="-122"/>
                          <a:ea typeface="微软雅黑" panose="020B0503020204020204" pitchFamily="34" charset="-122"/>
                        </a:rPr>
                        <a:t>execution_mode</a:t>
                      </a:r>
                      <a:endParaRPr lang="en-US" sz="800" b="1" dirty="0">
                        <a:effectLst/>
                        <a:latin typeface="微软雅黑" panose="020B0503020204020204" pitchFamily="34" charset="-122"/>
                        <a:ea typeface="微软雅黑" panose="020B0503020204020204" pitchFamily="34" charset="-122"/>
                      </a:endParaRP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中文名称</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要求上传图片</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a:effectLst/>
                        </a:rPr>
                        <a:t>典型触发条件</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320065006"/>
                  </a:ext>
                </a:extLst>
              </a:tr>
              <a:tr h="446134">
                <a:tc>
                  <a:txBody>
                    <a:bodyPr/>
                    <a:lstStyle/>
                    <a:p>
                      <a:pPr>
                        <a:buNone/>
                      </a:pPr>
                      <a:r>
                        <a:rPr lang="zh-CN" altLang="en-US" sz="800" b="1" dirty="0">
                          <a:effectLst/>
                        </a:rPr>
                        <a:t>长城位于哪个国家？</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en-US" sz="800" b="1" dirty="0" err="1">
                          <a:effectLst/>
                          <a:latin typeface="微软雅黑" panose="020B0503020204020204" pitchFamily="34" charset="-122"/>
                          <a:ea typeface="微软雅黑" panose="020B0503020204020204" pitchFamily="34" charset="-122"/>
                        </a:rPr>
                        <a:t>direct_llm</a:t>
                      </a:r>
                      <a:endParaRPr lang="en-US" sz="800" b="1" dirty="0">
                        <a:effectLst/>
                        <a:latin typeface="微软雅黑" panose="020B0503020204020204" pitchFamily="34" charset="-122"/>
                        <a:ea typeface="微软雅黑" panose="020B0503020204020204" pitchFamily="34" charset="-122"/>
                      </a:endParaRP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直接回答</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否</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a:effectLst/>
                        </a:rPr>
                        <a:t>用户问题属于常识、公开事实、通用知识，不依赖内部知识库</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932265738"/>
                  </a:ext>
                </a:extLst>
              </a:tr>
              <a:tr h="604138">
                <a:tc>
                  <a:txBody>
                    <a:bodyPr/>
                    <a:lstStyle/>
                    <a:p>
                      <a:pPr>
                        <a:buNone/>
                      </a:pPr>
                      <a:r>
                        <a:rPr lang="zh-CN" altLang="en-US" sz="800" b="1" dirty="0">
                          <a:effectLst/>
                        </a:rPr>
                        <a:t>公司的报销流程是什么？</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en-US" sz="800" b="1" dirty="0" err="1">
                          <a:effectLst/>
                          <a:latin typeface="微软雅黑" panose="020B0503020204020204" pitchFamily="34" charset="-122"/>
                          <a:ea typeface="微软雅黑" panose="020B0503020204020204" pitchFamily="34" charset="-122"/>
                        </a:rPr>
                        <a:t>multimodal_rag</a:t>
                      </a:r>
                      <a:endParaRPr lang="en-US" sz="800" b="1" dirty="0">
                        <a:effectLst/>
                        <a:latin typeface="微软雅黑" panose="020B0503020204020204" pitchFamily="34" charset="-122"/>
                        <a:ea typeface="微软雅黑" panose="020B0503020204020204" pitchFamily="34" charset="-122"/>
                      </a:endParaRP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知识库检索问答</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否</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用户问题涉及知识库内容</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78185076"/>
                  </a:ext>
                </a:extLst>
              </a:tr>
              <a:tr h="604138">
                <a:tc>
                  <a:txBody>
                    <a:bodyPr/>
                    <a:lstStyle/>
                    <a:p>
                      <a:pPr>
                        <a:buNone/>
                      </a:pPr>
                      <a:r>
                        <a:rPr lang="en-US" altLang="zh-CN" sz="800" b="1" dirty="0">
                          <a:effectLst/>
                        </a:rPr>
                        <a:t>a.</a:t>
                      </a:r>
                      <a:r>
                        <a:rPr lang="zh-CN" altLang="en-US" sz="800" b="1" dirty="0">
                          <a:effectLst/>
                        </a:rPr>
                        <a:t>搜索一下知识库里类似这张图片（用户上传）的内容。</a:t>
                      </a:r>
                      <a:endParaRPr lang="en-US" altLang="zh-CN" sz="800" b="1" dirty="0">
                        <a:effectLst/>
                      </a:endParaRPr>
                    </a:p>
                    <a:p>
                      <a:pPr>
                        <a:buNone/>
                      </a:pPr>
                      <a:r>
                        <a:rPr lang="en-US" altLang="zh-CN" sz="800" b="1" dirty="0">
                          <a:effectLst/>
                        </a:rPr>
                        <a:t>b.</a:t>
                      </a:r>
                      <a:r>
                        <a:rPr lang="zh-CN" altLang="en-US" sz="800" b="1" dirty="0">
                          <a:effectLst/>
                        </a:rPr>
                        <a:t>搜索一下知识库中有关报销流程的示意图</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en-US" sz="800" b="1">
                          <a:effectLst/>
                          <a:latin typeface="微软雅黑" panose="020B0503020204020204" pitchFamily="34" charset="-122"/>
                          <a:ea typeface="微软雅黑" panose="020B0503020204020204" pitchFamily="34" charset="-122"/>
                        </a:rPr>
                        <a:t>image_similarity</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文本查图</a:t>
                      </a:r>
                      <a:r>
                        <a:rPr lang="en-US" altLang="zh-CN" sz="800" b="1" dirty="0">
                          <a:effectLst/>
                        </a:rPr>
                        <a:t>/ </a:t>
                      </a:r>
                      <a:r>
                        <a:rPr lang="zh-CN" altLang="en-US" sz="800" b="1" dirty="0">
                          <a:effectLst/>
                        </a:rPr>
                        <a:t>相似图查找</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可选</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用户想找图、搜图、找相似图，只需要返回图片结果</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017115358"/>
                  </a:ext>
                </a:extLst>
              </a:tr>
              <a:tr h="580426">
                <a:tc>
                  <a:txBody>
                    <a:bodyPr/>
                    <a:lstStyle/>
                    <a:p>
                      <a:pPr>
                        <a:buNone/>
                      </a:pPr>
                      <a:r>
                        <a:rPr lang="en-US" altLang="zh-CN" sz="800" b="1" dirty="0">
                          <a:effectLst/>
                        </a:rPr>
                        <a:t>a.</a:t>
                      </a:r>
                      <a:r>
                        <a:rPr lang="zh-CN" altLang="en-US" sz="800" b="1" dirty="0">
                          <a:effectLst/>
                        </a:rPr>
                        <a:t>给我财务报销的流程图，并说明流程的关键步骤。</a:t>
                      </a:r>
                      <a:endParaRPr lang="en-US" altLang="zh-CN" sz="800" b="1" dirty="0">
                        <a:effectLst/>
                      </a:endParaRPr>
                    </a:p>
                    <a:p>
                      <a:pPr>
                        <a:buNone/>
                      </a:pPr>
                      <a:r>
                        <a:rPr lang="en-US" altLang="zh-CN" sz="800" b="1" dirty="0">
                          <a:effectLst/>
                        </a:rPr>
                        <a:t>b.</a:t>
                      </a:r>
                      <a:r>
                        <a:rPr lang="zh-CN" altLang="en-US" sz="800" b="1" dirty="0">
                          <a:effectLst/>
                        </a:rPr>
                        <a:t>帮我找和这张图片（用户上传）类似的图片，并告诉我那张图片是如何讲财务报销的</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en-US" sz="800" b="1">
                          <a:effectLst/>
                          <a:latin typeface="微软雅黑" panose="020B0503020204020204" pitchFamily="34" charset="-122"/>
                          <a:ea typeface="微软雅黑" panose="020B0503020204020204" pitchFamily="34" charset="-122"/>
                        </a:rPr>
                        <a:t>image_grounded_answer</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a:effectLst/>
                        </a:rPr>
                        <a:t>基于图片检索结果的图文回答</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a:effectLst/>
                        </a:rPr>
                        <a:t>可选</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a:effectLst/>
                        </a:rPr>
                        <a:t>用户既要图片结果，又希望系统基于检索到的图片进行解释、分析或回答</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437476301"/>
                  </a:ext>
                </a:extLst>
              </a:tr>
              <a:tr h="540286">
                <a:tc>
                  <a:txBody>
                    <a:bodyPr/>
                    <a:lstStyle/>
                    <a:p>
                      <a:pPr>
                        <a:buNone/>
                      </a:pPr>
                      <a:r>
                        <a:rPr lang="zh-CN" altLang="en-US" sz="800" b="1" dirty="0">
                          <a:effectLst/>
                        </a:rPr>
                        <a:t>帮我解释一下这张图里的流程。</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en-US" sz="800" b="1">
                          <a:effectLst/>
                          <a:latin typeface="微软雅黑" panose="020B0503020204020204" pitchFamily="34" charset="-122"/>
                          <a:ea typeface="微软雅黑" panose="020B0503020204020204" pitchFamily="34" charset="-122"/>
                        </a:rPr>
                        <a:t>uploaded_image_qa</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上传图片内容问答</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a:effectLst/>
                        </a:rPr>
                        <a:t>是</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a:effectLst/>
                        </a:rPr>
                        <a:t>用户已经上传图片，问题围绕“这张上传图本身”展开，重点是识别或解释图中内容</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61936010"/>
                  </a:ext>
                </a:extLst>
              </a:tr>
              <a:tr h="540286">
                <a:tc>
                  <a:txBody>
                    <a:bodyPr/>
                    <a:lstStyle/>
                    <a:p>
                      <a:pPr>
                        <a:buNone/>
                      </a:pPr>
                      <a:r>
                        <a:rPr lang="zh-CN" altLang="en-US" sz="800" b="1" dirty="0">
                          <a:effectLst/>
                        </a:rPr>
                        <a:t>帮我把这张图片存入图片知识库。</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en-US" sz="800" b="1" dirty="0" err="1">
                          <a:effectLst/>
                          <a:latin typeface="微软雅黑" panose="020B0503020204020204" pitchFamily="34" charset="-122"/>
                          <a:ea typeface="微软雅黑" panose="020B0503020204020204" pitchFamily="34" charset="-122"/>
                        </a:rPr>
                        <a:t>save_uploaded_image</a:t>
                      </a:r>
                      <a:endParaRPr lang="en-US" sz="800" b="1" dirty="0">
                        <a:effectLst/>
                        <a:latin typeface="微软雅黑" panose="020B0503020204020204" pitchFamily="34" charset="-122"/>
                        <a:ea typeface="微软雅黑" panose="020B0503020204020204" pitchFamily="34" charset="-122"/>
                      </a:endParaRP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上传图片入库</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是</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buNone/>
                      </a:pPr>
                      <a:r>
                        <a:rPr lang="zh-CN" altLang="en-US" sz="800" b="1" dirty="0">
                          <a:effectLst/>
                        </a:rPr>
                        <a:t>用户上传了图片，并明确要求把图片保存到知识库</a:t>
                      </a:r>
                    </a:p>
                  </a:txBody>
                  <a:tcPr marL="25870" marR="25870" marT="12935" marB="129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60328945"/>
                  </a:ext>
                </a:extLst>
              </a:tr>
            </a:tbl>
          </a:graphicData>
        </a:graphic>
      </p:graphicFrame>
      <p:sp>
        <p:nvSpPr>
          <p:cNvPr id="14" name="TextBox 9">
            <a:extLst>
              <a:ext uri="{FF2B5EF4-FFF2-40B4-BE49-F238E27FC236}">
                <a16:creationId xmlns:a16="http://schemas.microsoft.com/office/drawing/2014/main" id="{1CFED08D-4239-4915-3B2F-188469716F30}"/>
              </a:ext>
            </a:extLst>
          </p:cNvPr>
          <p:cNvSpPr txBox="1"/>
          <p:nvPr/>
        </p:nvSpPr>
        <p:spPr>
          <a:xfrm>
            <a:off x="2226075" y="4893961"/>
            <a:ext cx="3657600" cy="246221"/>
          </a:xfrm>
          <a:prstGeom prst="rect">
            <a:avLst/>
          </a:prstGeom>
          <a:noFill/>
        </p:spPr>
        <p:txBody>
          <a:bodyPr wrap="square" anchor="t">
            <a:spAutoFit/>
          </a:bodyPr>
          <a:lstStyle/>
          <a:p>
            <a:pPr algn="ctr"/>
            <a:r>
              <a:rPr sz="1000" b="1" dirty="0" err="1">
                <a:solidFill>
                  <a:srgbClr val="646464"/>
                </a:solidFill>
                <a:latin typeface="Microsoft YaHei"/>
              </a:rPr>
              <a:t>图表</a:t>
            </a:r>
            <a:r>
              <a:rPr sz="1000" b="1" dirty="0">
                <a:solidFill>
                  <a:srgbClr val="646464"/>
                </a:solidFill>
                <a:latin typeface="Microsoft YaHei"/>
              </a:rPr>
              <a:t> 4</a:t>
            </a:r>
            <a:r>
              <a:rPr lang="en-US" sz="1000" b="1" dirty="0">
                <a:solidFill>
                  <a:srgbClr val="646464"/>
                </a:solidFill>
                <a:latin typeface="Microsoft YaHei"/>
              </a:rPr>
              <a:t> </a:t>
            </a:r>
            <a:r>
              <a:rPr lang="zh-CN" altLang="en-US" sz="1000" b="1" dirty="0">
                <a:solidFill>
                  <a:srgbClr val="646464"/>
                </a:solidFill>
                <a:latin typeface="Microsoft YaHei"/>
              </a:rPr>
              <a:t>意图识别类型总表</a:t>
            </a:r>
          </a:p>
        </p:txBody>
      </p:sp>
    </p:spTree>
    <p:extLst>
      <p:ext uri="{BB962C8B-B14F-4D97-AF65-F5344CB8AC3E}">
        <p14:creationId xmlns:p14="http://schemas.microsoft.com/office/powerpoint/2010/main" val="3940557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实验评估总述</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Evaluation Summary</a:t>
            </a:r>
          </a:p>
        </p:txBody>
      </p:sp>
      <p:sp>
        <p:nvSpPr>
          <p:cNvPr id="5" name="TextBox 4"/>
          <p:cNvSpPr txBox="1"/>
          <p:nvPr/>
        </p:nvSpPr>
        <p:spPr>
          <a:xfrm>
            <a:off x="685800" y="914400"/>
            <a:ext cx="3657600" cy="320040"/>
          </a:xfrm>
          <a:prstGeom prst="rect">
            <a:avLst/>
          </a:prstGeom>
          <a:noFill/>
        </p:spPr>
        <p:txBody>
          <a:bodyPr wrap="square" anchor="t">
            <a:spAutoFit/>
          </a:bodyPr>
          <a:lstStyle/>
          <a:p>
            <a:pPr algn="l"/>
            <a:r>
              <a:rPr sz="1900" b="1">
                <a:solidFill>
                  <a:srgbClr val="12376D"/>
                </a:solidFill>
                <a:latin typeface="Microsoft YaHei"/>
              </a:rPr>
              <a:t>已完成两类实验评估</a:t>
            </a:r>
          </a:p>
        </p:txBody>
      </p:sp>
      <p:sp>
        <p:nvSpPr>
          <p:cNvPr id="10" name="Rectangle 9"/>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内容依据：中期报告“4.实验评估”</a:t>
            </a:r>
          </a:p>
        </p:txBody>
      </p:sp>
      <p:sp>
        <p:nvSpPr>
          <p:cNvPr id="7" name="文本框 6">
            <a:extLst>
              <a:ext uri="{FF2B5EF4-FFF2-40B4-BE49-F238E27FC236}">
                <a16:creationId xmlns:a16="http://schemas.microsoft.com/office/drawing/2014/main" id="{260C63C4-2317-9B9F-7445-EE833A9405D5}"/>
              </a:ext>
            </a:extLst>
          </p:cNvPr>
          <p:cNvSpPr txBox="1"/>
          <p:nvPr/>
        </p:nvSpPr>
        <p:spPr>
          <a:xfrm>
            <a:off x="283316" y="1926213"/>
            <a:ext cx="8449203" cy="646331"/>
          </a:xfrm>
          <a:prstGeom prst="rect">
            <a:avLst/>
          </a:prstGeom>
          <a:noFill/>
        </p:spPr>
        <p:txBody>
          <a:bodyPr wrap="square" rtlCol="0">
            <a:spAutoFit/>
          </a:bodyPr>
          <a:lstStyle/>
          <a:p>
            <a:r>
              <a:rPr lang="zh-CN" altLang="en-US" b="1" dirty="0"/>
              <a:t>目的</a:t>
            </a:r>
            <a:r>
              <a:rPr lang="zh-CN" altLang="en-US" dirty="0"/>
              <a:t>：让系统不仅能运行起来，还能通过实验结果来验证方法有效性、分析当前优势，并定位后续仍需优化的部分。</a:t>
            </a:r>
          </a:p>
        </p:txBody>
      </p:sp>
      <p:sp>
        <p:nvSpPr>
          <p:cNvPr id="8" name="Rounded Rectangle 4">
            <a:extLst>
              <a:ext uri="{FF2B5EF4-FFF2-40B4-BE49-F238E27FC236}">
                <a16:creationId xmlns:a16="http://schemas.microsoft.com/office/drawing/2014/main" id="{9B2823E4-70D2-83CA-1192-61F91C54EC2A}"/>
              </a:ext>
            </a:extLst>
          </p:cNvPr>
          <p:cNvSpPr/>
          <p:nvPr/>
        </p:nvSpPr>
        <p:spPr>
          <a:xfrm>
            <a:off x="3618006" y="741946"/>
            <a:ext cx="2250931" cy="7979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5">
            <a:extLst>
              <a:ext uri="{FF2B5EF4-FFF2-40B4-BE49-F238E27FC236}">
                <a16:creationId xmlns:a16="http://schemas.microsoft.com/office/drawing/2014/main" id="{F44D5FC3-33CC-A774-6359-C13A72173154}"/>
              </a:ext>
            </a:extLst>
          </p:cNvPr>
          <p:cNvSpPr txBox="1"/>
          <p:nvPr/>
        </p:nvSpPr>
        <p:spPr>
          <a:xfrm>
            <a:off x="3787108" y="851673"/>
            <a:ext cx="1996451" cy="830997"/>
          </a:xfrm>
          <a:prstGeom prst="rect">
            <a:avLst/>
          </a:prstGeom>
          <a:noFill/>
        </p:spPr>
        <p:txBody>
          <a:bodyPr wrap="square" anchor="t">
            <a:spAutoFit/>
          </a:bodyPr>
          <a:lstStyle/>
          <a:p>
            <a:r>
              <a:rPr lang="zh-CN" altLang="en-US" sz="2400" b="1" dirty="0">
                <a:solidFill>
                  <a:srgbClr val="12376D"/>
                </a:solidFill>
                <a:latin typeface="Microsoft YaHei"/>
              </a:rPr>
              <a:t>检索器评估</a:t>
            </a:r>
          </a:p>
          <a:p>
            <a:pPr algn="l"/>
            <a:endParaRPr sz="2400" b="1" dirty="0">
              <a:solidFill>
                <a:srgbClr val="12376D"/>
              </a:solidFill>
              <a:latin typeface="Microsoft YaHei"/>
            </a:endParaRPr>
          </a:p>
        </p:txBody>
      </p:sp>
      <p:sp>
        <p:nvSpPr>
          <p:cNvPr id="13" name="Rounded Rectangle 4">
            <a:extLst>
              <a:ext uri="{FF2B5EF4-FFF2-40B4-BE49-F238E27FC236}">
                <a16:creationId xmlns:a16="http://schemas.microsoft.com/office/drawing/2014/main" id="{B8E03BD3-25CF-F545-307C-CE256125FAFA}"/>
              </a:ext>
            </a:extLst>
          </p:cNvPr>
          <p:cNvSpPr/>
          <p:nvPr/>
        </p:nvSpPr>
        <p:spPr>
          <a:xfrm>
            <a:off x="6595874" y="741946"/>
            <a:ext cx="2009368" cy="7979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5">
            <a:extLst>
              <a:ext uri="{FF2B5EF4-FFF2-40B4-BE49-F238E27FC236}">
                <a16:creationId xmlns:a16="http://schemas.microsoft.com/office/drawing/2014/main" id="{E08E1BA5-D53C-D689-3358-CE876AAB4C48}"/>
              </a:ext>
            </a:extLst>
          </p:cNvPr>
          <p:cNvSpPr txBox="1"/>
          <p:nvPr/>
        </p:nvSpPr>
        <p:spPr>
          <a:xfrm>
            <a:off x="6733034" y="851673"/>
            <a:ext cx="1872208" cy="830997"/>
          </a:xfrm>
          <a:prstGeom prst="rect">
            <a:avLst/>
          </a:prstGeom>
          <a:noFill/>
        </p:spPr>
        <p:txBody>
          <a:bodyPr wrap="square" anchor="t">
            <a:spAutoFit/>
          </a:bodyPr>
          <a:lstStyle/>
          <a:p>
            <a:r>
              <a:rPr lang="zh-CN" altLang="en-US" sz="2400" b="1" dirty="0">
                <a:solidFill>
                  <a:srgbClr val="12376D"/>
                </a:solidFill>
                <a:latin typeface="Microsoft YaHei"/>
              </a:rPr>
              <a:t>生成器评估</a:t>
            </a:r>
          </a:p>
          <a:p>
            <a:pPr algn="l"/>
            <a:endParaRPr sz="2400" b="1" dirty="0">
              <a:solidFill>
                <a:srgbClr val="12376D"/>
              </a:solidFill>
              <a:latin typeface="Microsoft YaHei"/>
            </a:endParaRPr>
          </a:p>
        </p:txBody>
      </p:sp>
      <p:sp>
        <p:nvSpPr>
          <p:cNvPr id="19" name="文本框 18">
            <a:extLst>
              <a:ext uri="{FF2B5EF4-FFF2-40B4-BE49-F238E27FC236}">
                <a16:creationId xmlns:a16="http://schemas.microsoft.com/office/drawing/2014/main" id="{60868DBC-E2AE-7816-713C-2CB13FFCC848}"/>
              </a:ext>
            </a:extLst>
          </p:cNvPr>
          <p:cNvSpPr txBox="1"/>
          <p:nvPr/>
        </p:nvSpPr>
        <p:spPr>
          <a:xfrm>
            <a:off x="306177" y="2716560"/>
            <a:ext cx="8732519" cy="2031325"/>
          </a:xfrm>
          <a:prstGeom prst="rect">
            <a:avLst/>
          </a:prstGeom>
          <a:noFill/>
        </p:spPr>
        <p:txBody>
          <a:bodyPr wrap="square" rtlCol="0">
            <a:spAutoFit/>
          </a:bodyPr>
          <a:lstStyle/>
          <a:p>
            <a:pPr eaLnBrk="0" hangingPunct="0"/>
            <a:r>
              <a:rPr lang="zh-CN" altLang="en-US" b="1" dirty="0"/>
              <a:t>数据集</a:t>
            </a:r>
            <a:r>
              <a:rPr lang="zh-CN" altLang="en-US" dirty="0"/>
              <a:t>：</a:t>
            </a:r>
            <a:r>
              <a:rPr lang="en-US" altLang="zh-CN" dirty="0" err="1"/>
              <a:t>UniDoc</a:t>
            </a:r>
            <a:r>
              <a:rPr lang="en-US" altLang="zh-CN" dirty="0"/>
              <a:t>-Bench </a:t>
            </a:r>
            <a:r>
              <a:rPr lang="zh-CN" altLang="en-US" dirty="0"/>
              <a:t>是一个大规模真实场景文档中心多模态 </a:t>
            </a:r>
            <a:r>
              <a:rPr lang="en-US" altLang="zh-CN" dirty="0"/>
              <a:t>RAG </a:t>
            </a:r>
            <a:r>
              <a:rPr lang="zh-CN" altLang="en-US" dirty="0"/>
              <a:t>基准，于 </a:t>
            </a:r>
            <a:r>
              <a:rPr lang="en-US" altLang="zh-CN" dirty="0"/>
              <a:t>2025 </a:t>
            </a:r>
            <a:r>
              <a:rPr lang="zh-CN" altLang="en-US" dirty="0"/>
              <a:t>年 </a:t>
            </a:r>
            <a:r>
              <a:rPr lang="en-US" altLang="zh-CN" dirty="0"/>
              <a:t>10 </a:t>
            </a:r>
            <a:r>
              <a:rPr lang="zh-CN" altLang="en-US" dirty="0"/>
              <a:t>月发布，包含</a:t>
            </a:r>
            <a:r>
              <a:rPr lang="zh-CN" altLang="zh-CN" dirty="0"/>
              <a:t>Finance（金融） Legal（法律）Healthcare（医疗健康） Commerce and Manufacturing（商业制造）CRM（客户关系管理）Energy（能源）Education（教育）Construction（建筑）</a:t>
            </a:r>
            <a:r>
              <a:rPr lang="zh-CN" altLang="en-US" dirty="0"/>
              <a:t>八大行业领域，</a:t>
            </a:r>
            <a:r>
              <a:rPr lang="en-US" altLang="zh-CN" dirty="0"/>
              <a:t> </a:t>
            </a:r>
            <a:r>
              <a:rPr lang="zh-CN" altLang="en-US" dirty="0"/>
              <a:t>包含</a:t>
            </a:r>
            <a:r>
              <a:rPr lang="en-US" altLang="zh-CN" dirty="0"/>
              <a:t>“</a:t>
            </a:r>
            <a:r>
              <a:rPr lang="en-US" altLang="zh-CN" dirty="0" err="1"/>
              <a:t>image_plus_text_as_answer</a:t>
            </a:r>
            <a:r>
              <a:rPr lang="en-US" altLang="zh-CN" dirty="0"/>
              <a:t>”,    “</a:t>
            </a:r>
            <a:r>
              <a:rPr lang="en-US" altLang="zh-CN" dirty="0" err="1"/>
              <a:t>text_only</a:t>
            </a:r>
            <a:r>
              <a:rPr lang="en-US" altLang="zh-CN" dirty="0"/>
              <a:t>”,    “</a:t>
            </a:r>
            <a:r>
              <a:rPr lang="en-US" altLang="zh-CN" dirty="0" err="1"/>
              <a:t>table_required</a:t>
            </a:r>
            <a:r>
              <a:rPr lang="en-US" altLang="zh-CN" dirty="0"/>
              <a:t>”,    “</a:t>
            </a:r>
            <a:r>
              <a:rPr lang="en-US" altLang="zh-CN" dirty="0" err="1"/>
              <a:t>image_only</a:t>
            </a:r>
            <a:r>
              <a:rPr lang="en-US" altLang="zh-CN" dirty="0"/>
              <a:t>”</a:t>
            </a:r>
            <a:r>
              <a:rPr lang="zh-CN" altLang="en-US" dirty="0"/>
              <a:t>四种回答类型，本实验只使用了</a:t>
            </a:r>
            <a:r>
              <a:rPr lang="en-US" altLang="zh-CN" b="1" dirty="0"/>
              <a:t>“</a:t>
            </a:r>
            <a:r>
              <a:rPr lang="en-US" altLang="zh-CN" b="1" dirty="0" err="1"/>
              <a:t>table_required</a:t>
            </a:r>
            <a:r>
              <a:rPr lang="en-US" altLang="zh-CN" b="1" dirty="0"/>
              <a:t>”</a:t>
            </a:r>
            <a:r>
              <a:rPr lang="en-US" altLang="zh-CN" dirty="0"/>
              <a:t>,    </a:t>
            </a:r>
            <a:r>
              <a:rPr lang="en-US" altLang="zh-CN" b="1" dirty="0"/>
              <a:t>“</a:t>
            </a:r>
            <a:r>
              <a:rPr lang="en-US" altLang="zh-CN" b="1" dirty="0" err="1"/>
              <a:t>image_only</a:t>
            </a:r>
            <a:r>
              <a:rPr lang="en-US" altLang="zh-CN" b="1" dirty="0"/>
              <a:t>” </a:t>
            </a:r>
            <a:r>
              <a:rPr lang="zh-CN" altLang="en-US" dirty="0"/>
              <a:t>，每个领域</a:t>
            </a:r>
            <a:r>
              <a:rPr lang="en-US" altLang="zh-CN" dirty="0"/>
              <a:t>100</a:t>
            </a:r>
            <a:r>
              <a:rPr lang="zh-CN" altLang="en-US" dirty="0"/>
              <a:t>条，</a:t>
            </a:r>
            <a:r>
              <a:rPr lang="zh-CN" altLang="en-US" b="1" dirty="0"/>
              <a:t>共计</a:t>
            </a:r>
            <a:r>
              <a:rPr lang="en-US" altLang="zh-CN" b="1" dirty="0"/>
              <a:t>800</a:t>
            </a:r>
            <a:r>
              <a:rPr lang="zh-CN" altLang="en-US" b="1" dirty="0"/>
              <a:t>条</a:t>
            </a:r>
            <a:r>
              <a:rPr lang="en-US" altLang="zh-CN" b="1" dirty="0"/>
              <a:t>QA</a:t>
            </a:r>
            <a:r>
              <a:rPr lang="zh-CN" altLang="en-US" dirty="0"/>
              <a:t>。</a:t>
            </a:r>
            <a:endParaRPr lang="zh-CN" altLang="zh-CN" dirty="0"/>
          </a:p>
          <a:p>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6" name="TextBox 5"/>
          <p:cNvSpPr txBox="1"/>
          <p:nvPr/>
        </p:nvSpPr>
        <p:spPr>
          <a:xfrm>
            <a:off x="411480" y="2990088"/>
            <a:ext cx="3749039" cy="219456"/>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5 </a:t>
            </a:r>
            <a:r>
              <a:rPr sz="1000" b="0" dirty="0" err="1">
                <a:solidFill>
                  <a:srgbClr val="646464"/>
                </a:solidFill>
                <a:latin typeface="Microsoft YaHei"/>
              </a:rPr>
              <a:t>CRM领域相关检索指标</a:t>
            </a:r>
            <a:endParaRPr sz="1000" b="0" dirty="0">
              <a:solidFill>
                <a:srgbClr val="646464"/>
              </a:solidFill>
              <a:latin typeface="Microsoft YaHei"/>
            </a:endParaRPr>
          </a:p>
        </p:txBody>
      </p:sp>
      <p:sp>
        <p:nvSpPr>
          <p:cNvPr id="8" name="TextBox 7"/>
          <p:cNvSpPr txBox="1"/>
          <p:nvPr/>
        </p:nvSpPr>
        <p:spPr>
          <a:xfrm>
            <a:off x="4572000" y="2990088"/>
            <a:ext cx="3749039" cy="219456"/>
          </a:xfrm>
          <a:prstGeom prst="rect">
            <a:avLst/>
          </a:prstGeom>
          <a:noFill/>
        </p:spPr>
        <p:txBody>
          <a:bodyPr wrap="square" anchor="t">
            <a:spAutoFit/>
          </a:bodyPr>
          <a:lstStyle/>
          <a:p>
            <a:pPr algn="ctr"/>
            <a:r>
              <a:rPr sz="1000" b="0">
                <a:solidFill>
                  <a:srgbClr val="646464"/>
                </a:solidFill>
                <a:latin typeface="Microsoft YaHei"/>
              </a:rPr>
              <a:t>图表 6 Energy领域相关检索指标</a:t>
            </a:r>
          </a:p>
        </p:txBody>
      </p:sp>
      <p:sp>
        <p:nvSpPr>
          <p:cNvPr id="13" name="Rectangle 12"/>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sp>
        <p:nvSpPr>
          <p:cNvPr id="15" name="文本框 14">
            <a:extLst>
              <a:ext uri="{FF2B5EF4-FFF2-40B4-BE49-F238E27FC236}">
                <a16:creationId xmlns:a16="http://schemas.microsoft.com/office/drawing/2014/main" id="{37E0BC5B-A6DE-0A46-5D72-810F1F8DE84D}"/>
              </a:ext>
            </a:extLst>
          </p:cNvPr>
          <p:cNvSpPr txBox="1"/>
          <p:nvPr/>
        </p:nvSpPr>
        <p:spPr>
          <a:xfrm>
            <a:off x="616183" y="3347679"/>
            <a:ext cx="7704856" cy="1600438"/>
          </a:xfrm>
          <a:prstGeom prst="rect">
            <a:avLst/>
          </a:prstGeom>
          <a:noFill/>
        </p:spPr>
        <p:txBody>
          <a:bodyPr wrap="square" rtlCol="0">
            <a:spAutoFit/>
          </a:bodyPr>
          <a:lstStyle/>
          <a:p>
            <a:r>
              <a:rPr lang="zh-CN" altLang="zh-CN" sz="1400" dirty="0"/>
              <a:t>检索实验中</a:t>
            </a:r>
            <a:endParaRPr lang="en-US" altLang="zh-CN" sz="1400" dirty="0"/>
          </a:p>
          <a:p>
            <a:pPr marL="285750" indent="-285750">
              <a:buFont typeface="Arial" panose="020B0604020202020204" pitchFamily="34" charset="0"/>
              <a:buChar char="•"/>
            </a:pPr>
            <a:r>
              <a:rPr lang="zh-CN" altLang="zh-CN" sz="1400" dirty="0"/>
              <a:t>所提</a:t>
            </a:r>
            <a:r>
              <a:rPr lang="en-US" altLang="zh-CN" sz="1400" dirty="0"/>
              <a:t> proposed </a:t>
            </a:r>
            <a:r>
              <a:rPr lang="zh-CN" altLang="zh-CN" sz="1400" dirty="0"/>
              <a:t>方法在多个领域接近甚至</a:t>
            </a:r>
            <a:r>
              <a:rPr lang="zh-CN" altLang="zh-CN" sz="1400" b="1" dirty="0"/>
              <a:t>超过</a:t>
            </a:r>
            <a:r>
              <a:rPr lang="en-US" altLang="zh-CN" sz="1400" b="1" dirty="0"/>
              <a:t> </a:t>
            </a:r>
            <a:r>
              <a:rPr lang="en-US" altLang="zh-CN" sz="1400" b="1" dirty="0" err="1"/>
              <a:t>baseline_clip</a:t>
            </a:r>
            <a:r>
              <a:rPr lang="zh-CN" altLang="zh-CN" sz="1400" dirty="0"/>
              <a:t>（实际使用的</a:t>
            </a:r>
            <a:r>
              <a:rPr lang="zh-CN" altLang="zh-CN" sz="1400" b="1" dirty="0"/>
              <a:t>跨模态嵌入模型是</a:t>
            </a:r>
            <a:r>
              <a:rPr lang="en-US" altLang="zh-CN" sz="1400" b="1" dirty="0"/>
              <a:t>qwen3-vl-embedding</a:t>
            </a:r>
            <a:r>
              <a:rPr lang="zh-CN" altLang="zh-CN" sz="1400" dirty="0"/>
              <a:t>，为当时时间点的</a:t>
            </a:r>
            <a:r>
              <a:rPr lang="en-US" altLang="zh-CN" sz="1400" dirty="0"/>
              <a:t>SOTA</a:t>
            </a:r>
            <a:r>
              <a:rPr lang="zh-CN" altLang="zh-CN" sz="1400" dirty="0"/>
              <a:t>，下同）</a:t>
            </a:r>
            <a:endParaRPr lang="en-US" altLang="zh-CN" sz="1400" dirty="0"/>
          </a:p>
          <a:p>
            <a:pPr marL="285750" indent="-285750">
              <a:buFont typeface="Arial" panose="020B0604020202020204" pitchFamily="34" charset="0"/>
              <a:buChar char="•"/>
            </a:pPr>
            <a:r>
              <a:rPr lang="zh-CN" altLang="zh-CN" sz="1400" dirty="0"/>
              <a:t>其中在</a:t>
            </a:r>
            <a:r>
              <a:rPr lang="en-US" altLang="zh-CN" sz="1400" dirty="0"/>
              <a:t> </a:t>
            </a:r>
            <a:r>
              <a:rPr lang="en-US" altLang="zh-CN" sz="1400" b="1" dirty="0"/>
              <a:t>CRM</a:t>
            </a:r>
            <a:r>
              <a:rPr lang="en-US" altLang="zh-CN" sz="1400" dirty="0"/>
              <a:t> </a:t>
            </a:r>
            <a:r>
              <a:rPr lang="zh-CN" altLang="zh-CN" sz="1400" dirty="0"/>
              <a:t>和</a:t>
            </a:r>
            <a:r>
              <a:rPr lang="en-US" altLang="zh-CN" sz="1400" dirty="0"/>
              <a:t> </a:t>
            </a:r>
            <a:r>
              <a:rPr lang="en-US" altLang="zh-CN" sz="1400" b="1" dirty="0"/>
              <a:t>energy</a:t>
            </a:r>
            <a:r>
              <a:rPr lang="en-US" altLang="zh-CN" sz="1400" dirty="0"/>
              <a:t> </a:t>
            </a:r>
            <a:r>
              <a:rPr lang="zh-CN" altLang="zh-CN" sz="1400" dirty="0"/>
              <a:t>领域表现较好，</a:t>
            </a:r>
            <a:r>
              <a:rPr lang="en-US" altLang="zh-CN" sz="1400" dirty="0"/>
              <a:t>CRM </a:t>
            </a:r>
            <a:r>
              <a:rPr lang="zh-CN" altLang="en-US" sz="1400" dirty="0"/>
              <a:t>场景里，</a:t>
            </a:r>
            <a:r>
              <a:rPr lang="en-US" altLang="zh-CN" sz="1400" dirty="0"/>
              <a:t>proposed </a:t>
            </a:r>
            <a:r>
              <a:rPr lang="zh-CN" altLang="en-US" sz="1400" dirty="0"/>
              <a:t>在 </a:t>
            </a:r>
            <a:r>
              <a:rPr lang="en-US" altLang="zh-CN" sz="1400" dirty="0"/>
              <a:t>Recall@10 </a:t>
            </a:r>
            <a:r>
              <a:rPr lang="zh-CN" altLang="en-US" sz="1400" dirty="0"/>
              <a:t>上优于 </a:t>
            </a:r>
            <a:r>
              <a:rPr lang="en-US" altLang="zh-CN" sz="1400" dirty="0"/>
              <a:t>baseline</a:t>
            </a:r>
            <a:r>
              <a:rPr lang="zh-CN" altLang="en-US" sz="1400" dirty="0"/>
              <a:t>，大约</a:t>
            </a:r>
            <a:r>
              <a:rPr lang="zh-CN" altLang="en-US" sz="1400" b="1" dirty="0"/>
              <a:t>是 </a:t>
            </a:r>
            <a:r>
              <a:rPr lang="en-US" altLang="zh-CN" sz="1400" b="1" dirty="0"/>
              <a:t>0.977 </a:t>
            </a:r>
            <a:r>
              <a:rPr lang="zh-CN" altLang="en-US" sz="1400" b="1" dirty="0"/>
              <a:t>对 </a:t>
            </a:r>
            <a:r>
              <a:rPr lang="en-US" altLang="zh-CN" sz="1400" b="1" dirty="0"/>
              <a:t>0.947</a:t>
            </a:r>
            <a:r>
              <a:rPr lang="zh-CN" altLang="en-US" sz="1400" dirty="0"/>
              <a:t>，</a:t>
            </a:r>
            <a:r>
              <a:rPr lang="en-US" altLang="zh-CN" sz="1400" dirty="0"/>
              <a:t>MRR </a:t>
            </a:r>
            <a:r>
              <a:rPr lang="zh-CN" altLang="en-US" sz="1400" dirty="0"/>
              <a:t>和 </a:t>
            </a:r>
            <a:r>
              <a:rPr lang="en-US" altLang="zh-CN" sz="1400" dirty="0"/>
              <a:t>mAP@10 </a:t>
            </a:r>
            <a:r>
              <a:rPr lang="zh-CN" altLang="en-US" sz="1400" dirty="0"/>
              <a:t>也基本接近或略有优势；</a:t>
            </a:r>
            <a:r>
              <a:rPr lang="en-US" altLang="zh-CN" sz="1400" dirty="0"/>
              <a:t>Energy </a:t>
            </a:r>
            <a:r>
              <a:rPr lang="zh-CN" altLang="en-US" sz="1400" dirty="0"/>
              <a:t>场景中，</a:t>
            </a:r>
            <a:r>
              <a:rPr lang="en-US" altLang="zh-CN" sz="1400" dirty="0"/>
              <a:t>proposed </a:t>
            </a:r>
            <a:r>
              <a:rPr lang="zh-CN" altLang="en-US" sz="1400" dirty="0"/>
              <a:t>的 </a:t>
            </a:r>
            <a:r>
              <a:rPr lang="en-US" altLang="zh-CN" sz="1400" b="1" dirty="0"/>
              <a:t>Recall@1</a:t>
            </a:r>
            <a:r>
              <a:rPr lang="zh-CN" altLang="en-US" sz="1400" b="1" dirty="0"/>
              <a:t>、</a:t>
            </a:r>
            <a:r>
              <a:rPr lang="en-US" altLang="zh-CN" sz="1400" b="1" dirty="0"/>
              <a:t>Recall@10</a:t>
            </a:r>
            <a:r>
              <a:rPr lang="zh-CN" altLang="en-US" sz="1400" b="1" dirty="0"/>
              <a:t>、</a:t>
            </a:r>
            <a:r>
              <a:rPr lang="en-US" altLang="zh-CN" sz="1400" b="1" dirty="0"/>
              <a:t>MRR </a:t>
            </a:r>
            <a:r>
              <a:rPr lang="zh-CN" altLang="en-US" sz="1400" b="1" dirty="0"/>
              <a:t>和 </a:t>
            </a:r>
            <a:r>
              <a:rPr lang="en-US" altLang="zh-CN" sz="1400" b="1" dirty="0"/>
              <a:t>mAP@10 </a:t>
            </a:r>
            <a:r>
              <a:rPr lang="zh-CN" altLang="en-US" sz="1400" b="1" dirty="0"/>
              <a:t>都略高于 </a:t>
            </a:r>
            <a:r>
              <a:rPr lang="en-US" altLang="zh-CN" sz="1400" b="1" dirty="0" err="1"/>
              <a:t>baseline_clip</a:t>
            </a:r>
            <a:r>
              <a:rPr lang="zh-CN" altLang="en-US" sz="1400" dirty="0"/>
              <a:t>。说明当前方法在这两个领域已经体现出比较稳定的竞争力。</a:t>
            </a:r>
          </a:p>
        </p:txBody>
      </p:sp>
      <p:pic>
        <p:nvPicPr>
          <p:cNvPr id="17" name="图片 16">
            <a:extLst>
              <a:ext uri="{FF2B5EF4-FFF2-40B4-BE49-F238E27FC236}">
                <a16:creationId xmlns:a16="http://schemas.microsoft.com/office/drawing/2014/main" id="{E7F9B278-4805-F83E-5E85-8FCEEFAC53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0716" y="873511"/>
            <a:ext cx="4162060" cy="2150265"/>
          </a:xfrm>
          <a:prstGeom prst="rect">
            <a:avLst/>
          </a:prstGeom>
        </p:spPr>
      </p:pic>
      <p:pic>
        <p:nvPicPr>
          <p:cNvPr id="19" name="图片 18">
            <a:extLst>
              <a:ext uri="{FF2B5EF4-FFF2-40B4-BE49-F238E27FC236}">
                <a16:creationId xmlns:a16="http://schemas.microsoft.com/office/drawing/2014/main" id="{2E5AE836-24C8-898A-8930-02E9D94375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25729" y="853242"/>
            <a:ext cx="4201292" cy="2170534"/>
          </a:xfrm>
          <a:prstGeom prst="rect">
            <a:avLst/>
          </a:prstGeom>
        </p:spPr>
      </p:pic>
      <p:sp>
        <p:nvSpPr>
          <p:cNvPr id="7" name="TextBox 5">
            <a:extLst>
              <a:ext uri="{FF2B5EF4-FFF2-40B4-BE49-F238E27FC236}">
                <a16:creationId xmlns:a16="http://schemas.microsoft.com/office/drawing/2014/main" id="{B61DDE3F-8AF9-D6E6-00D0-40784EECF957}"/>
              </a:ext>
            </a:extLst>
          </p:cNvPr>
          <p:cNvSpPr txBox="1"/>
          <p:nvPr/>
        </p:nvSpPr>
        <p:spPr>
          <a:xfrm>
            <a:off x="580423" y="4871910"/>
            <a:ext cx="8473410" cy="400110"/>
          </a:xfrm>
          <a:prstGeom prst="rect">
            <a:avLst/>
          </a:prstGeom>
          <a:noFill/>
        </p:spPr>
        <p:txBody>
          <a:bodyPr wrap="square" anchor="t">
            <a:spAutoFit/>
          </a:bodyPr>
          <a:lstStyle/>
          <a:p>
            <a:pPr algn="ctr"/>
            <a:r>
              <a:rPr lang="en-US" altLang="zh-CN" sz="1000" b="1" dirty="0">
                <a:solidFill>
                  <a:srgbClr val="646464"/>
                </a:solidFill>
                <a:latin typeface="Microsoft YaHei"/>
              </a:rPr>
              <a:t>Recall@1</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a:t>
            </a:r>
            <a:r>
              <a:rPr lang="zh-CN" altLang="en-US" sz="1000" b="0" dirty="0">
                <a:solidFill>
                  <a:srgbClr val="646464"/>
                </a:solidFill>
                <a:latin typeface="Microsoft YaHei"/>
              </a:rPr>
              <a:t>召回率 </a:t>
            </a:r>
            <a:r>
              <a:rPr lang="en-US" altLang="zh-CN" sz="1000" b="1" dirty="0">
                <a:solidFill>
                  <a:srgbClr val="646464"/>
                </a:solidFill>
                <a:latin typeface="Microsoft YaHei"/>
              </a:rPr>
              <a:t>Recall@10</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10</a:t>
            </a:r>
            <a:r>
              <a:rPr lang="zh-CN" altLang="en-US" sz="1000" b="0" dirty="0">
                <a:solidFill>
                  <a:srgbClr val="646464"/>
                </a:solidFill>
                <a:latin typeface="Microsoft YaHei"/>
              </a:rPr>
              <a:t>召回率 </a:t>
            </a:r>
            <a:r>
              <a:rPr lang="en-US" altLang="zh-CN" sz="1000" b="1" dirty="0">
                <a:solidFill>
                  <a:srgbClr val="646464"/>
                </a:solidFill>
                <a:latin typeface="Microsoft YaHei"/>
              </a:rPr>
              <a:t>MRR</a:t>
            </a:r>
            <a:r>
              <a:rPr lang="en-US" altLang="zh-CN" sz="1000" b="0" dirty="0">
                <a:solidFill>
                  <a:srgbClr val="646464"/>
                </a:solidFill>
                <a:latin typeface="Microsoft YaHei"/>
              </a:rPr>
              <a:t>:</a:t>
            </a:r>
            <a:r>
              <a:rPr lang="zh-CN" altLang="en-US" sz="1000" b="0" dirty="0">
                <a:solidFill>
                  <a:srgbClr val="646464"/>
                </a:solidFill>
                <a:latin typeface="Microsoft YaHei"/>
              </a:rPr>
              <a:t>平均倒数排名 </a:t>
            </a:r>
            <a:r>
              <a:rPr lang="en-US" altLang="zh-CN" sz="1000" b="1" dirty="0">
                <a:solidFill>
                  <a:srgbClr val="646464"/>
                </a:solidFill>
                <a:latin typeface="Microsoft YaHei"/>
              </a:rPr>
              <a:t>mAP@10</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10</a:t>
            </a:r>
            <a:r>
              <a:rPr lang="zh-CN" altLang="en-US" sz="1000" b="0" dirty="0">
                <a:solidFill>
                  <a:srgbClr val="646464"/>
                </a:solidFill>
                <a:latin typeface="Microsoft YaHei"/>
              </a:rPr>
              <a:t>平均精度均值</a:t>
            </a:r>
          </a:p>
          <a:p>
            <a:pPr algn="ctr"/>
            <a:endParaRPr sz="1000" b="0" dirty="0">
              <a:solidFill>
                <a:srgbClr val="646464"/>
              </a:solidFill>
              <a:latin typeface="Microsoft YaHe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D1BEB-7A7E-271C-C766-F709A60CCB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8696A0F-E804-0989-885E-4204DFF0B785}"/>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D72372A-4B04-F651-B689-F2CC4AB3A32E}"/>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1F4737E0-C6C7-2324-36E5-C28FEA777426}"/>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0" name="TextBox 9">
            <a:extLst>
              <a:ext uri="{FF2B5EF4-FFF2-40B4-BE49-F238E27FC236}">
                <a16:creationId xmlns:a16="http://schemas.microsoft.com/office/drawing/2014/main" id="{A97BEC93-35D4-0ED8-51A2-1F103B76CE1B}"/>
              </a:ext>
            </a:extLst>
          </p:cNvPr>
          <p:cNvSpPr txBox="1"/>
          <p:nvPr/>
        </p:nvSpPr>
        <p:spPr>
          <a:xfrm>
            <a:off x="2825552" y="4878901"/>
            <a:ext cx="4411538" cy="246221"/>
          </a:xfrm>
          <a:prstGeom prst="rect">
            <a:avLst/>
          </a:prstGeom>
          <a:noFill/>
        </p:spPr>
        <p:txBody>
          <a:bodyPr wrap="square" anchor="t">
            <a:spAutoFit/>
          </a:bodyPr>
          <a:lstStyle/>
          <a:p>
            <a:pPr algn="ctr"/>
            <a:r>
              <a:rPr lang="zh-CN" altLang="en-US" sz="1000" dirty="0">
                <a:solidFill>
                  <a:srgbClr val="646464"/>
                </a:solidFill>
                <a:latin typeface="Microsoft YaHei"/>
              </a:rPr>
              <a:t>图表 </a:t>
            </a:r>
            <a:r>
              <a:rPr lang="en-US" altLang="zh-CN" sz="1000" dirty="0">
                <a:solidFill>
                  <a:srgbClr val="646464"/>
                </a:solidFill>
                <a:latin typeface="Microsoft YaHei"/>
              </a:rPr>
              <a:t>7 Education</a:t>
            </a:r>
            <a:r>
              <a:rPr lang="zh-CN" altLang="en-US" sz="1000" dirty="0">
                <a:solidFill>
                  <a:srgbClr val="646464"/>
                </a:solidFill>
                <a:latin typeface="Microsoft YaHei"/>
              </a:rPr>
              <a:t>、</a:t>
            </a:r>
            <a:r>
              <a:rPr lang="en-US" altLang="zh-CN" sz="1000" dirty="0">
                <a:solidFill>
                  <a:srgbClr val="646464"/>
                </a:solidFill>
                <a:latin typeface="Microsoft YaHei"/>
              </a:rPr>
              <a:t>Healthcare</a:t>
            </a:r>
            <a:r>
              <a:rPr lang="zh-CN" altLang="en-US" sz="1000" dirty="0">
                <a:solidFill>
                  <a:srgbClr val="646464"/>
                </a:solidFill>
                <a:latin typeface="Microsoft YaHei"/>
              </a:rPr>
              <a:t>、</a:t>
            </a:r>
            <a:r>
              <a:rPr lang="en-US" altLang="zh-CN" sz="1000" dirty="0">
                <a:solidFill>
                  <a:srgbClr val="646464"/>
                </a:solidFill>
                <a:latin typeface="Microsoft YaHei"/>
              </a:rPr>
              <a:t>Finance</a:t>
            </a:r>
            <a:r>
              <a:rPr lang="zh-CN" altLang="en-US" sz="1000" dirty="0">
                <a:solidFill>
                  <a:srgbClr val="646464"/>
                </a:solidFill>
                <a:latin typeface="Microsoft YaHei"/>
              </a:rPr>
              <a:t>、</a:t>
            </a:r>
            <a:r>
              <a:rPr lang="en-US" altLang="zh-CN" sz="1000" dirty="0">
                <a:solidFill>
                  <a:srgbClr val="646464"/>
                </a:solidFill>
                <a:latin typeface="Microsoft YaHei"/>
              </a:rPr>
              <a:t>Legal</a:t>
            </a:r>
            <a:r>
              <a:rPr lang="zh-CN" altLang="en-US" sz="1000" dirty="0">
                <a:solidFill>
                  <a:srgbClr val="646464"/>
                </a:solidFill>
                <a:latin typeface="Microsoft YaHei"/>
              </a:rPr>
              <a:t>领域相关检索指标</a:t>
            </a:r>
          </a:p>
        </p:txBody>
      </p:sp>
      <p:sp>
        <p:nvSpPr>
          <p:cNvPr id="13" name="Rectangle 12">
            <a:extLst>
              <a:ext uri="{FF2B5EF4-FFF2-40B4-BE49-F238E27FC236}">
                <a16:creationId xmlns:a16="http://schemas.microsoft.com/office/drawing/2014/main" id="{56760A81-8A1F-EBD7-9EA5-1D11E589854A}"/>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3036023E-6578-542A-368A-F6D8F2C63F18}"/>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6" name="图片 5">
            <a:extLst>
              <a:ext uri="{FF2B5EF4-FFF2-40B4-BE49-F238E27FC236}">
                <a16:creationId xmlns:a16="http://schemas.microsoft.com/office/drawing/2014/main" id="{E39B007E-DEA3-98EF-BA19-EC6752A7561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920" y="644570"/>
            <a:ext cx="4124647" cy="2130936"/>
          </a:xfrm>
          <a:prstGeom prst="rect">
            <a:avLst/>
          </a:prstGeom>
        </p:spPr>
      </p:pic>
      <p:pic>
        <p:nvPicPr>
          <p:cNvPr id="8" name="图片 7">
            <a:extLst>
              <a:ext uri="{FF2B5EF4-FFF2-40B4-BE49-F238E27FC236}">
                <a16:creationId xmlns:a16="http://schemas.microsoft.com/office/drawing/2014/main" id="{117988B9-69C4-F951-48A7-4E33E0EE34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00072" y="737114"/>
            <a:ext cx="4032448" cy="2083303"/>
          </a:xfrm>
          <a:prstGeom prst="rect">
            <a:avLst/>
          </a:prstGeom>
        </p:spPr>
      </p:pic>
      <p:pic>
        <p:nvPicPr>
          <p:cNvPr id="11" name="图片 10">
            <a:extLst>
              <a:ext uri="{FF2B5EF4-FFF2-40B4-BE49-F238E27FC236}">
                <a16:creationId xmlns:a16="http://schemas.microsoft.com/office/drawing/2014/main" id="{923A01AC-4296-29BD-29E5-5FCC646879E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6926" y="2748570"/>
            <a:ext cx="3847607" cy="1987807"/>
          </a:xfrm>
          <a:prstGeom prst="rect">
            <a:avLst/>
          </a:prstGeom>
        </p:spPr>
      </p:pic>
      <p:pic>
        <p:nvPicPr>
          <p:cNvPr id="15" name="图片 14">
            <a:extLst>
              <a:ext uri="{FF2B5EF4-FFF2-40B4-BE49-F238E27FC236}">
                <a16:creationId xmlns:a16="http://schemas.microsoft.com/office/drawing/2014/main" id="{E247D0EE-A09D-1719-22D5-D9963200F69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700071" y="2808218"/>
            <a:ext cx="3847607" cy="1987807"/>
          </a:xfrm>
          <a:prstGeom prst="rect">
            <a:avLst/>
          </a:prstGeom>
        </p:spPr>
      </p:pic>
    </p:spTree>
    <p:extLst>
      <p:ext uri="{BB962C8B-B14F-4D97-AF65-F5344CB8AC3E}">
        <p14:creationId xmlns:p14="http://schemas.microsoft.com/office/powerpoint/2010/main" val="3353170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3C27E-D97B-5FB2-92DF-A075082BBFD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046014-50D2-F576-4D6D-80967DEED9F1}"/>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5C956F7-C743-AB77-B160-7B7F94D1C00B}"/>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9717743D-238A-6D5F-E4B9-58CF9F08C5F6}"/>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0" name="TextBox 9">
            <a:extLst>
              <a:ext uri="{FF2B5EF4-FFF2-40B4-BE49-F238E27FC236}">
                <a16:creationId xmlns:a16="http://schemas.microsoft.com/office/drawing/2014/main" id="{9CADE5E6-E902-0642-5F3D-DA9EC8B1B153}"/>
              </a:ext>
            </a:extLst>
          </p:cNvPr>
          <p:cNvSpPr txBox="1"/>
          <p:nvPr/>
        </p:nvSpPr>
        <p:spPr>
          <a:xfrm>
            <a:off x="2759060" y="4372744"/>
            <a:ext cx="3749039" cy="246221"/>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a:t>
            </a:r>
            <a:r>
              <a:rPr lang="en-US" sz="1000" dirty="0">
                <a:solidFill>
                  <a:srgbClr val="646464"/>
                </a:solidFill>
                <a:latin typeface="Microsoft YaHei"/>
              </a:rPr>
              <a:t>8 </a:t>
            </a:r>
            <a:r>
              <a:rPr lang="en-US" altLang="zh-CN" sz="1000" dirty="0" err="1">
                <a:solidFill>
                  <a:srgbClr val="646464"/>
                </a:solidFill>
                <a:latin typeface="Microsoft YaHei"/>
              </a:rPr>
              <a:t>Commerce&amp;Manu</a:t>
            </a:r>
            <a:r>
              <a:rPr lang="zh-CN" altLang="en-US" sz="1000" dirty="0">
                <a:solidFill>
                  <a:srgbClr val="646464"/>
                </a:solidFill>
                <a:latin typeface="Microsoft YaHei"/>
              </a:rPr>
              <a:t>、</a:t>
            </a:r>
            <a:r>
              <a:rPr lang="en-US" altLang="zh-CN" sz="1000" dirty="0">
                <a:solidFill>
                  <a:srgbClr val="646464"/>
                </a:solidFill>
                <a:latin typeface="Microsoft YaHei"/>
              </a:rPr>
              <a:t>Construction</a:t>
            </a:r>
            <a:r>
              <a:rPr lang="zh-CN" altLang="en-US" sz="1000" dirty="0">
                <a:solidFill>
                  <a:srgbClr val="646464"/>
                </a:solidFill>
                <a:latin typeface="Microsoft YaHei"/>
              </a:rPr>
              <a:t>领域相关检索指标</a:t>
            </a:r>
            <a:endParaRPr sz="1000" b="0" dirty="0">
              <a:solidFill>
                <a:srgbClr val="646464"/>
              </a:solidFill>
              <a:latin typeface="Microsoft YaHei"/>
            </a:endParaRPr>
          </a:p>
        </p:txBody>
      </p:sp>
      <p:sp>
        <p:nvSpPr>
          <p:cNvPr id="13" name="Rectangle 12">
            <a:extLst>
              <a:ext uri="{FF2B5EF4-FFF2-40B4-BE49-F238E27FC236}">
                <a16:creationId xmlns:a16="http://schemas.microsoft.com/office/drawing/2014/main" id="{8E05A97C-1DAB-50C3-E569-7A1F4799AA5F}"/>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ECF5D96C-A6B8-F822-220A-34DFBA2264D3}"/>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18" name="图片 17">
            <a:extLst>
              <a:ext uri="{FF2B5EF4-FFF2-40B4-BE49-F238E27FC236}">
                <a16:creationId xmlns:a16="http://schemas.microsoft.com/office/drawing/2014/main" id="{F345962F-136A-6580-2AA5-F274051845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90" y="1631136"/>
            <a:ext cx="4597290" cy="2375120"/>
          </a:xfrm>
          <a:prstGeom prst="rect">
            <a:avLst/>
          </a:prstGeom>
        </p:spPr>
      </p:pic>
      <p:pic>
        <p:nvPicPr>
          <p:cNvPr id="20" name="图片 19">
            <a:extLst>
              <a:ext uri="{FF2B5EF4-FFF2-40B4-BE49-F238E27FC236}">
                <a16:creationId xmlns:a16="http://schemas.microsoft.com/office/drawing/2014/main" id="{A74714AF-DFFF-F7B1-B2A5-6C6AFB47A35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00787" y="1631136"/>
            <a:ext cx="4597290" cy="2375120"/>
          </a:xfrm>
          <a:prstGeom prst="rect">
            <a:avLst/>
          </a:prstGeom>
        </p:spPr>
      </p:pic>
      <p:sp>
        <p:nvSpPr>
          <p:cNvPr id="5" name="TextBox 5">
            <a:extLst>
              <a:ext uri="{FF2B5EF4-FFF2-40B4-BE49-F238E27FC236}">
                <a16:creationId xmlns:a16="http://schemas.microsoft.com/office/drawing/2014/main" id="{EE743E02-80B4-3728-1597-6E89FC8CBFF6}"/>
              </a:ext>
            </a:extLst>
          </p:cNvPr>
          <p:cNvSpPr txBox="1"/>
          <p:nvPr/>
        </p:nvSpPr>
        <p:spPr>
          <a:xfrm>
            <a:off x="580423" y="4871910"/>
            <a:ext cx="8473410" cy="400110"/>
          </a:xfrm>
          <a:prstGeom prst="rect">
            <a:avLst/>
          </a:prstGeom>
          <a:noFill/>
        </p:spPr>
        <p:txBody>
          <a:bodyPr wrap="square" anchor="t">
            <a:spAutoFit/>
          </a:bodyPr>
          <a:lstStyle/>
          <a:p>
            <a:pPr algn="ctr"/>
            <a:r>
              <a:rPr lang="en-US" altLang="zh-CN" sz="1000" b="1" dirty="0">
                <a:solidFill>
                  <a:srgbClr val="646464"/>
                </a:solidFill>
                <a:latin typeface="Microsoft YaHei"/>
              </a:rPr>
              <a:t>Recall@1</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a:t>
            </a:r>
            <a:r>
              <a:rPr lang="zh-CN" altLang="en-US" sz="1000" b="0" dirty="0">
                <a:solidFill>
                  <a:srgbClr val="646464"/>
                </a:solidFill>
                <a:latin typeface="Microsoft YaHei"/>
              </a:rPr>
              <a:t>召回率 </a:t>
            </a:r>
            <a:r>
              <a:rPr lang="en-US" altLang="zh-CN" sz="1000" b="1" dirty="0">
                <a:solidFill>
                  <a:srgbClr val="646464"/>
                </a:solidFill>
                <a:latin typeface="Microsoft YaHei"/>
              </a:rPr>
              <a:t>Recall@10</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10</a:t>
            </a:r>
            <a:r>
              <a:rPr lang="zh-CN" altLang="en-US" sz="1000" b="0" dirty="0">
                <a:solidFill>
                  <a:srgbClr val="646464"/>
                </a:solidFill>
                <a:latin typeface="Microsoft YaHei"/>
              </a:rPr>
              <a:t>召回率 </a:t>
            </a:r>
            <a:r>
              <a:rPr lang="en-US" altLang="zh-CN" sz="1000" b="1" dirty="0">
                <a:solidFill>
                  <a:srgbClr val="646464"/>
                </a:solidFill>
                <a:latin typeface="Microsoft YaHei"/>
              </a:rPr>
              <a:t>MRR</a:t>
            </a:r>
            <a:r>
              <a:rPr lang="en-US" altLang="zh-CN" sz="1000" b="0" dirty="0">
                <a:solidFill>
                  <a:srgbClr val="646464"/>
                </a:solidFill>
                <a:latin typeface="Microsoft YaHei"/>
              </a:rPr>
              <a:t>:</a:t>
            </a:r>
            <a:r>
              <a:rPr lang="zh-CN" altLang="en-US" sz="1000" b="0" dirty="0">
                <a:solidFill>
                  <a:srgbClr val="646464"/>
                </a:solidFill>
                <a:latin typeface="Microsoft YaHei"/>
              </a:rPr>
              <a:t>平均倒数排名 </a:t>
            </a:r>
            <a:r>
              <a:rPr lang="en-US" altLang="zh-CN" sz="1000" b="1" dirty="0">
                <a:solidFill>
                  <a:srgbClr val="646464"/>
                </a:solidFill>
                <a:latin typeface="Microsoft YaHei"/>
              </a:rPr>
              <a:t>mAP@10</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10</a:t>
            </a:r>
            <a:r>
              <a:rPr lang="zh-CN" altLang="en-US" sz="1000" b="0" dirty="0">
                <a:solidFill>
                  <a:srgbClr val="646464"/>
                </a:solidFill>
                <a:latin typeface="Microsoft YaHei"/>
              </a:rPr>
              <a:t>平均精度均值</a:t>
            </a:r>
          </a:p>
          <a:p>
            <a:pPr algn="ctr"/>
            <a:endParaRPr sz="1000" b="0" dirty="0">
              <a:solidFill>
                <a:srgbClr val="646464"/>
              </a:solidFill>
              <a:latin typeface="Microsoft YaHei"/>
            </a:endParaRPr>
          </a:p>
        </p:txBody>
      </p:sp>
    </p:spTree>
    <p:extLst>
      <p:ext uri="{BB962C8B-B14F-4D97-AF65-F5344CB8AC3E}">
        <p14:creationId xmlns:p14="http://schemas.microsoft.com/office/powerpoint/2010/main" val="1442000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2F870-DDEA-BF09-2630-42D6570E01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AF3F69D-7F5B-EC98-0E4A-A4C66E182670}"/>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941028F-CDBF-D35A-2CB0-2B972676E99B}"/>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AB575953-0FEA-C33B-BCE1-3139E76BA6C4}"/>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0" name="TextBox 9">
            <a:extLst>
              <a:ext uri="{FF2B5EF4-FFF2-40B4-BE49-F238E27FC236}">
                <a16:creationId xmlns:a16="http://schemas.microsoft.com/office/drawing/2014/main" id="{8EBF3CBA-5939-FF06-F74B-6E140128FA2B}"/>
              </a:ext>
            </a:extLst>
          </p:cNvPr>
          <p:cNvSpPr txBox="1"/>
          <p:nvPr/>
        </p:nvSpPr>
        <p:spPr>
          <a:xfrm>
            <a:off x="2700586" y="4588768"/>
            <a:ext cx="3749039" cy="246221"/>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a:t>
            </a:r>
            <a:r>
              <a:rPr lang="en-US" sz="1000" b="0" dirty="0">
                <a:solidFill>
                  <a:srgbClr val="646464"/>
                </a:solidFill>
                <a:latin typeface="Microsoft YaHei"/>
              </a:rPr>
              <a:t>9</a:t>
            </a:r>
            <a:r>
              <a:rPr sz="1000" b="0" dirty="0">
                <a:solidFill>
                  <a:srgbClr val="646464"/>
                </a:solidFill>
                <a:latin typeface="Microsoft YaHei"/>
              </a:rPr>
              <a:t> </a:t>
            </a:r>
            <a:r>
              <a:rPr sz="1000" b="0" dirty="0" err="1">
                <a:solidFill>
                  <a:srgbClr val="646464"/>
                </a:solidFill>
                <a:latin typeface="Microsoft YaHei"/>
              </a:rPr>
              <a:t>两种方法检索延迟对比</a:t>
            </a:r>
            <a:endParaRPr sz="1000" b="0" dirty="0">
              <a:solidFill>
                <a:srgbClr val="646464"/>
              </a:solidFill>
              <a:latin typeface="Microsoft YaHei"/>
            </a:endParaRPr>
          </a:p>
        </p:txBody>
      </p:sp>
      <p:sp>
        <p:nvSpPr>
          <p:cNvPr id="13" name="Rectangle 12">
            <a:extLst>
              <a:ext uri="{FF2B5EF4-FFF2-40B4-BE49-F238E27FC236}">
                <a16:creationId xmlns:a16="http://schemas.microsoft.com/office/drawing/2014/main" id="{30211685-8F7E-51D3-F0A6-A0812CC65CC7}"/>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D0B0CA3D-13F4-D3C5-97A3-A9E54A0B60A1}"/>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26" name="图片 25">
            <a:extLst>
              <a:ext uri="{FF2B5EF4-FFF2-40B4-BE49-F238E27FC236}">
                <a16:creationId xmlns:a16="http://schemas.microsoft.com/office/drawing/2014/main" id="{1078F390-0708-2862-98FC-0D6956A071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17598" y="916360"/>
            <a:ext cx="6001492" cy="3100579"/>
          </a:xfrm>
          <a:prstGeom prst="rect">
            <a:avLst/>
          </a:prstGeom>
        </p:spPr>
      </p:pic>
      <p:sp>
        <p:nvSpPr>
          <p:cNvPr id="5" name="TextBox 5">
            <a:extLst>
              <a:ext uri="{FF2B5EF4-FFF2-40B4-BE49-F238E27FC236}">
                <a16:creationId xmlns:a16="http://schemas.microsoft.com/office/drawing/2014/main" id="{64F1D9E7-CF99-3D85-D33B-60F8A7343BA7}"/>
              </a:ext>
            </a:extLst>
          </p:cNvPr>
          <p:cNvSpPr txBox="1"/>
          <p:nvPr/>
        </p:nvSpPr>
        <p:spPr>
          <a:xfrm>
            <a:off x="580423" y="4871910"/>
            <a:ext cx="8473410" cy="400110"/>
          </a:xfrm>
          <a:prstGeom prst="rect">
            <a:avLst/>
          </a:prstGeom>
          <a:noFill/>
        </p:spPr>
        <p:txBody>
          <a:bodyPr wrap="square" anchor="t">
            <a:spAutoFit/>
          </a:bodyPr>
          <a:lstStyle/>
          <a:p>
            <a:pPr algn="ctr"/>
            <a:r>
              <a:rPr lang="en-US" altLang="zh-CN" sz="1000" b="1" dirty="0">
                <a:solidFill>
                  <a:srgbClr val="646464"/>
                </a:solidFill>
                <a:latin typeface="Microsoft YaHei"/>
              </a:rPr>
              <a:t>Recall@1</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a:t>
            </a:r>
            <a:r>
              <a:rPr lang="zh-CN" altLang="en-US" sz="1000" b="0" dirty="0">
                <a:solidFill>
                  <a:srgbClr val="646464"/>
                </a:solidFill>
                <a:latin typeface="Microsoft YaHei"/>
              </a:rPr>
              <a:t>召回率 </a:t>
            </a:r>
            <a:r>
              <a:rPr lang="en-US" altLang="zh-CN" sz="1000" b="1" dirty="0">
                <a:solidFill>
                  <a:srgbClr val="646464"/>
                </a:solidFill>
                <a:latin typeface="Microsoft YaHei"/>
              </a:rPr>
              <a:t>Recall@10</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10</a:t>
            </a:r>
            <a:r>
              <a:rPr lang="zh-CN" altLang="en-US" sz="1000" b="0" dirty="0">
                <a:solidFill>
                  <a:srgbClr val="646464"/>
                </a:solidFill>
                <a:latin typeface="Microsoft YaHei"/>
              </a:rPr>
              <a:t>召回率 </a:t>
            </a:r>
            <a:r>
              <a:rPr lang="en-US" altLang="zh-CN" sz="1000" b="1" dirty="0">
                <a:solidFill>
                  <a:srgbClr val="646464"/>
                </a:solidFill>
                <a:latin typeface="Microsoft YaHei"/>
              </a:rPr>
              <a:t>MRR</a:t>
            </a:r>
            <a:r>
              <a:rPr lang="en-US" altLang="zh-CN" sz="1000" b="0" dirty="0">
                <a:solidFill>
                  <a:srgbClr val="646464"/>
                </a:solidFill>
                <a:latin typeface="Microsoft YaHei"/>
              </a:rPr>
              <a:t>:</a:t>
            </a:r>
            <a:r>
              <a:rPr lang="zh-CN" altLang="en-US" sz="1000" b="0" dirty="0">
                <a:solidFill>
                  <a:srgbClr val="646464"/>
                </a:solidFill>
                <a:latin typeface="Microsoft YaHei"/>
              </a:rPr>
              <a:t>平均倒数排名 </a:t>
            </a:r>
            <a:r>
              <a:rPr lang="en-US" altLang="zh-CN" sz="1000" b="1" dirty="0">
                <a:solidFill>
                  <a:srgbClr val="646464"/>
                </a:solidFill>
                <a:latin typeface="Microsoft YaHei"/>
              </a:rPr>
              <a:t>mAP@10</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10</a:t>
            </a:r>
            <a:r>
              <a:rPr lang="zh-CN" altLang="en-US" sz="1000" b="0" dirty="0">
                <a:solidFill>
                  <a:srgbClr val="646464"/>
                </a:solidFill>
                <a:latin typeface="Microsoft YaHei"/>
              </a:rPr>
              <a:t>平均精度均值</a:t>
            </a:r>
          </a:p>
          <a:p>
            <a:pPr algn="ctr"/>
            <a:endParaRPr sz="1000" b="0" dirty="0">
              <a:solidFill>
                <a:srgbClr val="646464"/>
              </a:solidFill>
              <a:latin typeface="Microsoft YaHei"/>
            </a:endParaRPr>
          </a:p>
        </p:txBody>
      </p:sp>
    </p:spTree>
    <p:extLst>
      <p:ext uri="{BB962C8B-B14F-4D97-AF65-F5344CB8AC3E}">
        <p14:creationId xmlns:p14="http://schemas.microsoft.com/office/powerpoint/2010/main" val="1490105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5F470-EA55-0AE6-F953-C307EDBEDB9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226BAF-C080-4BD3-D369-2C764D754914}"/>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94E83F5A-1F3D-2D3E-64DD-76EC5ADFC917}"/>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B127EFBF-E305-A767-87FB-69D897BD2465}"/>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0" name="TextBox 9">
            <a:extLst>
              <a:ext uri="{FF2B5EF4-FFF2-40B4-BE49-F238E27FC236}">
                <a16:creationId xmlns:a16="http://schemas.microsoft.com/office/drawing/2014/main" id="{0D22A3CC-45B0-94E2-BDF7-2AB31E663613}"/>
              </a:ext>
            </a:extLst>
          </p:cNvPr>
          <p:cNvSpPr txBox="1"/>
          <p:nvPr/>
        </p:nvSpPr>
        <p:spPr>
          <a:xfrm>
            <a:off x="2700586" y="4588768"/>
            <a:ext cx="3749039" cy="246221"/>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a:t>
            </a:r>
            <a:r>
              <a:rPr lang="en-US" sz="1000" b="0" dirty="0">
                <a:solidFill>
                  <a:srgbClr val="646464"/>
                </a:solidFill>
                <a:latin typeface="Microsoft YaHei"/>
              </a:rPr>
              <a:t>11</a:t>
            </a:r>
            <a:r>
              <a:rPr sz="1000" b="0" dirty="0">
                <a:solidFill>
                  <a:srgbClr val="646464"/>
                </a:solidFill>
                <a:latin typeface="Microsoft YaHei"/>
              </a:rPr>
              <a:t> </a:t>
            </a:r>
            <a:r>
              <a:rPr sz="1000" b="0" dirty="0" err="1">
                <a:solidFill>
                  <a:srgbClr val="646464"/>
                </a:solidFill>
                <a:latin typeface="Microsoft YaHei"/>
              </a:rPr>
              <a:t>两种方法检索延迟对比</a:t>
            </a:r>
            <a:endParaRPr sz="1000" b="0" dirty="0">
              <a:solidFill>
                <a:srgbClr val="646464"/>
              </a:solidFill>
              <a:latin typeface="Microsoft YaHei"/>
            </a:endParaRPr>
          </a:p>
        </p:txBody>
      </p:sp>
      <p:sp>
        <p:nvSpPr>
          <p:cNvPr id="13" name="Rectangle 12">
            <a:extLst>
              <a:ext uri="{FF2B5EF4-FFF2-40B4-BE49-F238E27FC236}">
                <a16:creationId xmlns:a16="http://schemas.microsoft.com/office/drawing/2014/main" id="{7F80120F-4E71-C978-7B8A-D19536D572EE}"/>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5FE54CA-D30F-3B0A-0FFF-4C5C230AA5C6}"/>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16" name="图片 15">
            <a:extLst>
              <a:ext uri="{FF2B5EF4-FFF2-40B4-BE49-F238E27FC236}">
                <a16:creationId xmlns:a16="http://schemas.microsoft.com/office/drawing/2014/main" id="{54BE7F2F-C8EA-47DE-E8AE-0A3EF5E4DA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4402" y="777092"/>
            <a:ext cx="6565340" cy="3831435"/>
          </a:xfrm>
          <a:prstGeom prst="rect">
            <a:avLst/>
          </a:prstGeom>
        </p:spPr>
      </p:pic>
    </p:spTree>
    <p:extLst>
      <p:ext uri="{BB962C8B-B14F-4D97-AF65-F5344CB8AC3E}">
        <p14:creationId xmlns:p14="http://schemas.microsoft.com/office/powerpoint/2010/main" val="16235469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A0402-C42B-B3A3-BD3C-F2A5297316A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F3AAAFE-AD5D-F667-45F2-DDAD507BA630}"/>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7F86B93-3899-29CF-14D2-B6D7FF7FE4FA}"/>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6F0CA880-466E-6A15-B7E0-CCC83327B5D7}"/>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3" name="Rectangle 12">
            <a:extLst>
              <a:ext uri="{FF2B5EF4-FFF2-40B4-BE49-F238E27FC236}">
                <a16:creationId xmlns:a16="http://schemas.microsoft.com/office/drawing/2014/main" id="{9192F00B-89C9-55BC-2A30-C1832F9E4886}"/>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E061369E-E9F6-C2B8-6132-D3F71CD73193}"/>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24" name="图片 23">
            <a:extLst>
              <a:ext uri="{FF2B5EF4-FFF2-40B4-BE49-F238E27FC236}">
                <a16:creationId xmlns:a16="http://schemas.microsoft.com/office/drawing/2014/main" id="{41665944-AD45-7726-F003-8A3A159D5A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1208" y="1420416"/>
            <a:ext cx="8744074" cy="3096344"/>
          </a:xfrm>
          <a:prstGeom prst="rect">
            <a:avLst/>
          </a:prstGeom>
        </p:spPr>
      </p:pic>
      <p:sp>
        <p:nvSpPr>
          <p:cNvPr id="5" name="TextBox 5">
            <a:extLst>
              <a:ext uri="{FF2B5EF4-FFF2-40B4-BE49-F238E27FC236}">
                <a16:creationId xmlns:a16="http://schemas.microsoft.com/office/drawing/2014/main" id="{507C7009-230F-9C6B-0B2C-4392133729D0}"/>
              </a:ext>
            </a:extLst>
          </p:cNvPr>
          <p:cNvSpPr txBox="1"/>
          <p:nvPr/>
        </p:nvSpPr>
        <p:spPr>
          <a:xfrm>
            <a:off x="580423" y="4871910"/>
            <a:ext cx="8473410" cy="400110"/>
          </a:xfrm>
          <a:prstGeom prst="rect">
            <a:avLst/>
          </a:prstGeom>
          <a:noFill/>
        </p:spPr>
        <p:txBody>
          <a:bodyPr wrap="square" anchor="t">
            <a:spAutoFit/>
          </a:bodyPr>
          <a:lstStyle/>
          <a:p>
            <a:pPr algn="ctr"/>
            <a:r>
              <a:rPr lang="en-US" altLang="zh-CN" sz="1000" b="1" dirty="0">
                <a:solidFill>
                  <a:srgbClr val="646464"/>
                </a:solidFill>
                <a:latin typeface="Microsoft YaHei"/>
              </a:rPr>
              <a:t>Recall@1</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a:t>
            </a:r>
            <a:r>
              <a:rPr lang="zh-CN" altLang="en-US" sz="1000" b="0" dirty="0">
                <a:solidFill>
                  <a:srgbClr val="646464"/>
                </a:solidFill>
                <a:latin typeface="Microsoft YaHei"/>
              </a:rPr>
              <a:t>召回率 </a:t>
            </a:r>
            <a:r>
              <a:rPr lang="en-US" altLang="zh-CN" sz="1000" b="1" dirty="0">
                <a:solidFill>
                  <a:srgbClr val="646464"/>
                </a:solidFill>
                <a:latin typeface="Microsoft YaHei"/>
              </a:rPr>
              <a:t>Recall@10</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10</a:t>
            </a:r>
            <a:r>
              <a:rPr lang="zh-CN" altLang="en-US" sz="1000" b="0" dirty="0">
                <a:solidFill>
                  <a:srgbClr val="646464"/>
                </a:solidFill>
                <a:latin typeface="Microsoft YaHei"/>
              </a:rPr>
              <a:t>召回率 </a:t>
            </a:r>
            <a:r>
              <a:rPr lang="en-US" altLang="zh-CN" sz="1000" b="1" dirty="0">
                <a:solidFill>
                  <a:srgbClr val="646464"/>
                </a:solidFill>
                <a:latin typeface="Microsoft YaHei"/>
              </a:rPr>
              <a:t>MRR</a:t>
            </a:r>
            <a:r>
              <a:rPr lang="en-US" altLang="zh-CN" sz="1000" b="0" dirty="0">
                <a:solidFill>
                  <a:srgbClr val="646464"/>
                </a:solidFill>
                <a:latin typeface="Microsoft YaHei"/>
              </a:rPr>
              <a:t>:</a:t>
            </a:r>
            <a:r>
              <a:rPr lang="zh-CN" altLang="en-US" sz="1000" b="0" dirty="0">
                <a:solidFill>
                  <a:srgbClr val="646464"/>
                </a:solidFill>
                <a:latin typeface="Microsoft YaHei"/>
              </a:rPr>
              <a:t>平均倒数排名 </a:t>
            </a:r>
            <a:r>
              <a:rPr lang="en-US" altLang="zh-CN" sz="1000" b="1" dirty="0">
                <a:solidFill>
                  <a:srgbClr val="646464"/>
                </a:solidFill>
                <a:latin typeface="Microsoft YaHei"/>
              </a:rPr>
              <a:t>mAP@10</a:t>
            </a:r>
            <a:r>
              <a:rPr lang="en-US" altLang="zh-CN" sz="1000" b="0" dirty="0">
                <a:solidFill>
                  <a:srgbClr val="646464"/>
                </a:solidFill>
                <a:latin typeface="Microsoft YaHei"/>
              </a:rPr>
              <a:t>:</a:t>
            </a:r>
            <a:r>
              <a:rPr lang="zh-CN" altLang="en-US" sz="1000" b="0" dirty="0">
                <a:solidFill>
                  <a:srgbClr val="646464"/>
                </a:solidFill>
                <a:latin typeface="Microsoft YaHei"/>
              </a:rPr>
              <a:t>前</a:t>
            </a:r>
            <a:r>
              <a:rPr lang="en-US" altLang="zh-CN" sz="1000" b="0" dirty="0">
                <a:solidFill>
                  <a:srgbClr val="646464"/>
                </a:solidFill>
                <a:latin typeface="Microsoft YaHei"/>
              </a:rPr>
              <a:t>10</a:t>
            </a:r>
            <a:r>
              <a:rPr lang="zh-CN" altLang="en-US" sz="1000" b="0" dirty="0">
                <a:solidFill>
                  <a:srgbClr val="646464"/>
                </a:solidFill>
                <a:latin typeface="Microsoft YaHei"/>
              </a:rPr>
              <a:t>平均精度均值</a:t>
            </a:r>
          </a:p>
          <a:p>
            <a:pPr algn="ctr"/>
            <a:endParaRPr sz="1000" b="0" dirty="0">
              <a:solidFill>
                <a:srgbClr val="646464"/>
              </a:solidFill>
              <a:latin typeface="Microsoft YaHei"/>
            </a:endParaRPr>
          </a:p>
        </p:txBody>
      </p:sp>
      <p:sp>
        <p:nvSpPr>
          <p:cNvPr id="6" name="TextBox 9">
            <a:extLst>
              <a:ext uri="{FF2B5EF4-FFF2-40B4-BE49-F238E27FC236}">
                <a16:creationId xmlns:a16="http://schemas.microsoft.com/office/drawing/2014/main" id="{4CC831AC-ADCF-553A-FD0D-B641FBD0A744}"/>
              </a:ext>
            </a:extLst>
          </p:cNvPr>
          <p:cNvSpPr txBox="1"/>
          <p:nvPr/>
        </p:nvSpPr>
        <p:spPr>
          <a:xfrm>
            <a:off x="2759060" y="4372744"/>
            <a:ext cx="3749039" cy="246221"/>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a:t>
            </a:r>
            <a:r>
              <a:rPr lang="en-US" sz="1000" dirty="0">
                <a:solidFill>
                  <a:srgbClr val="646464"/>
                </a:solidFill>
                <a:latin typeface="Microsoft YaHei"/>
              </a:rPr>
              <a:t>10 </a:t>
            </a:r>
            <a:r>
              <a:rPr lang="en-US" altLang="zh-CN" sz="1000" dirty="0" err="1">
                <a:solidFill>
                  <a:srgbClr val="646464"/>
                </a:solidFill>
                <a:latin typeface="Microsoft YaHei"/>
              </a:rPr>
              <a:t>UniDoc</a:t>
            </a:r>
            <a:r>
              <a:rPr lang="en-US" altLang="zh-CN" sz="1000" dirty="0">
                <a:solidFill>
                  <a:srgbClr val="646464"/>
                </a:solidFill>
                <a:latin typeface="Microsoft YaHei"/>
              </a:rPr>
              <a:t>-Bench</a:t>
            </a:r>
            <a:r>
              <a:rPr lang="zh-CN" altLang="en-US" sz="1000" dirty="0">
                <a:solidFill>
                  <a:srgbClr val="646464"/>
                </a:solidFill>
                <a:latin typeface="Microsoft YaHei"/>
              </a:rPr>
              <a:t>分领域相关检索指标</a:t>
            </a:r>
            <a:endParaRPr sz="1000" b="0" dirty="0">
              <a:solidFill>
                <a:srgbClr val="646464"/>
              </a:solidFill>
              <a:latin typeface="Microsoft YaHei"/>
            </a:endParaRPr>
          </a:p>
        </p:txBody>
      </p:sp>
    </p:spTree>
    <p:extLst>
      <p:ext uri="{BB962C8B-B14F-4D97-AF65-F5344CB8AC3E}">
        <p14:creationId xmlns:p14="http://schemas.microsoft.com/office/powerpoint/2010/main" val="3449808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CC146-E209-4B54-4A9C-2BD5675D45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6D615C-8857-B49C-6EDD-471FFF6DE8A5}"/>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236672A-F902-0CEC-4E07-67A6B6F7896B}"/>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620555C8-764C-1415-B929-7CEE950E91C6}"/>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2" name="TextBox 11">
            <a:extLst>
              <a:ext uri="{FF2B5EF4-FFF2-40B4-BE49-F238E27FC236}">
                <a16:creationId xmlns:a16="http://schemas.microsoft.com/office/drawing/2014/main" id="{5B2331EE-1C77-595A-1661-242812042B8E}"/>
              </a:ext>
            </a:extLst>
          </p:cNvPr>
          <p:cNvSpPr txBox="1"/>
          <p:nvPr/>
        </p:nvSpPr>
        <p:spPr>
          <a:xfrm>
            <a:off x="2772594" y="4500474"/>
            <a:ext cx="3749039" cy="246221"/>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a:t>
            </a:r>
            <a:r>
              <a:rPr lang="en-US" sz="1000" b="0" dirty="0">
                <a:solidFill>
                  <a:srgbClr val="646464"/>
                </a:solidFill>
                <a:latin typeface="Microsoft YaHei"/>
              </a:rPr>
              <a:t>12</a:t>
            </a:r>
            <a:r>
              <a:rPr sz="1000" b="0" dirty="0">
                <a:solidFill>
                  <a:srgbClr val="646464"/>
                </a:solidFill>
                <a:latin typeface="Microsoft YaHei"/>
              </a:rPr>
              <a:t> </a:t>
            </a:r>
            <a:r>
              <a:rPr sz="1000" b="0" dirty="0" err="1">
                <a:solidFill>
                  <a:srgbClr val="646464"/>
                </a:solidFill>
                <a:latin typeface="Microsoft YaHei"/>
              </a:rPr>
              <a:t>两种方法分领域指标热力图</a:t>
            </a:r>
            <a:endParaRPr sz="1000" b="0" dirty="0">
              <a:solidFill>
                <a:srgbClr val="646464"/>
              </a:solidFill>
              <a:latin typeface="Microsoft YaHei"/>
            </a:endParaRPr>
          </a:p>
        </p:txBody>
      </p:sp>
      <p:sp>
        <p:nvSpPr>
          <p:cNvPr id="13" name="Rectangle 12">
            <a:extLst>
              <a:ext uri="{FF2B5EF4-FFF2-40B4-BE49-F238E27FC236}">
                <a16:creationId xmlns:a16="http://schemas.microsoft.com/office/drawing/2014/main" id="{74147F02-83B3-728F-3E0C-B3D8D091F0FD}"/>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5FC49726-15F6-40D3-AC7D-8EF46DC54D75}"/>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6" name="图片 5">
            <a:extLst>
              <a:ext uri="{FF2B5EF4-FFF2-40B4-BE49-F238E27FC236}">
                <a16:creationId xmlns:a16="http://schemas.microsoft.com/office/drawing/2014/main" id="{ADDB0135-C178-3E0C-37F9-7DCA6B0D2F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9402" y="1027584"/>
            <a:ext cx="8665196" cy="3295104"/>
          </a:xfrm>
          <a:prstGeom prst="rect">
            <a:avLst/>
          </a:prstGeom>
        </p:spPr>
      </p:pic>
    </p:spTree>
    <p:extLst>
      <p:ext uri="{BB962C8B-B14F-4D97-AF65-F5344CB8AC3E}">
        <p14:creationId xmlns:p14="http://schemas.microsoft.com/office/powerpoint/2010/main" val="15339919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E9287-0C82-5C34-D526-51E04FC9BE7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CC87586-B23B-0F49-BE0E-0E65CA076D56}"/>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EEAC166-5D08-FDA7-D275-E8BE4C71E8D3}"/>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生成实验结果</a:t>
            </a:r>
          </a:p>
        </p:txBody>
      </p:sp>
      <p:sp>
        <p:nvSpPr>
          <p:cNvPr id="4" name="TextBox 3">
            <a:extLst>
              <a:ext uri="{FF2B5EF4-FFF2-40B4-BE49-F238E27FC236}">
                <a16:creationId xmlns:a16="http://schemas.microsoft.com/office/drawing/2014/main" id="{12C1E79A-4EEA-4F22-5566-7046C4B40D6B}"/>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Generation Evaluation</a:t>
            </a:r>
          </a:p>
        </p:txBody>
      </p:sp>
      <p:sp>
        <p:nvSpPr>
          <p:cNvPr id="6" name="TextBox 5">
            <a:extLst>
              <a:ext uri="{FF2B5EF4-FFF2-40B4-BE49-F238E27FC236}">
                <a16:creationId xmlns:a16="http://schemas.microsoft.com/office/drawing/2014/main" id="{5D876620-631B-B423-9429-1E1722F3731A}"/>
              </a:ext>
            </a:extLst>
          </p:cNvPr>
          <p:cNvSpPr txBox="1"/>
          <p:nvPr/>
        </p:nvSpPr>
        <p:spPr>
          <a:xfrm>
            <a:off x="4788818" y="4619769"/>
            <a:ext cx="2651760" cy="246221"/>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a:t>
            </a:r>
            <a:r>
              <a:rPr lang="en-US" sz="1000" b="0" dirty="0">
                <a:solidFill>
                  <a:srgbClr val="646464"/>
                </a:solidFill>
                <a:latin typeface="Microsoft YaHei"/>
              </a:rPr>
              <a:t>13</a:t>
            </a:r>
            <a:r>
              <a:rPr sz="1000" b="0" dirty="0">
                <a:solidFill>
                  <a:srgbClr val="646464"/>
                </a:solidFill>
                <a:latin typeface="Microsoft YaHei"/>
              </a:rPr>
              <a:t> </a:t>
            </a:r>
            <a:r>
              <a:rPr sz="1000" b="0" dirty="0" err="1">
                <a:solidFill>
                  <a:srgbClr val="646464"/>
                </a:solidFill>
                <a:latin typeface="Microsoft YaHei"/>
              </a:rPr>
              <a:t>三种方法生成器评测总览</a:t>
            </a:r>
            <a:endParaRPr sz="1000" b="0" dirty="0">
              <a:solidFill>
                <a:srgbClr val="646464"/>
              </a:solidFill>
              <a:latin typeface="Microsoft YaHei"/>
            </a:endParaRPr>
          </a:p>
        </p:txBody>
      </p:sp>
      <p:sp>
        <p:nvSpPr>
          <p:cNvPr id="15" name="Rectangle 14">
            <a:extLst>
              <a:ext uri="{FF2B5EF4-FFF2-40B4-BE49-F238E27FC236}">
                <a16:creationId xmlns:a16="http://schemas.microsoft.com/office/drawing/2014/main" id="{578E71AA-8FC3-A3CE-4BB5-A515ECCA6C1C}"/>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79F02D8C-57A5-8FF5-4858-5D3440E7D209}"/>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9-13 与对应文字结论</a:t>
            </a:r>
          </a:p>
        </p:txBody>
      </p:sp>
      <p:sp>
        <p:nvSpPr>
          <p:cNvPr id="17" name="文本框 16">
            <a:extLst>
              <a:ext uri="{FF2B5EF4-FFF2-40B4-BE49-F238E27FC236}">
                <a16:creationId xmlns:a16="http://schemas.microsoft.com/office/drawing/2014/main" id="{A54C8EFA-2003-6E5C-3475-8984ED1B34A4}"/>
              </a:ext>
            </a:extLst>
          </p:cNvPr>
          <p:cNvSpPr txBox="1"/>
          <p:nvPr/>
        </p:nvSpPr>
        <p:spPr>
          <a:xfrm>
            <a:off x="440920" y="1132384"/>
            <a:ext cx="2691713" cy="3785652"/>
          </a:xfrm>
          <a:prstGeom prst="rect">
            <a:avLst/>
          </a:prstGeom>
          <a:noFill/>
        </p:spPr>
        <p:txBody>
          <a:bodyPr wrap="square" rtlCol="0">
            <a:spAutoFit/>
          </a:bodyPr>
          <a:lstStyle/>
          <a:p>
            <a:r>
              <a:rPr lang="zh-CN" altLang="en-US" sz="1600" dirty="0"/>
              <a:t>在</a:t>
            </a:r>
            <a:r>
              <a:rPr lang="zh-CN" altLang="zh-CN" sz="1600" dirty="0"/>
              <a:t>生成实验中</a:t>
            </a:r>
            <a:endParaRPr lang="en-US" altLang="zh-CN" sz="1600" dirty="0"/>
          </a:p>
          <a:p>
            <a:endParaRPr lang="en-US" altLang="zh-CN" sz="1600" dirty="0"/>
          </a:p>
          <a:p>
            <a:pPr marL="285750" indent="-285750">
              <a:buFont typeface="Arial" panose="020B0604020202020204" pitchFamily="34" charset="0"/>
              <a:buChar char="•"/>
            </a:pPr>
            <a:r>
              <a:rPr lang="en-US" altLang="zh-CN" sz="1600" dirty="0"/>
              <a:t>proposed </a:t>
            </a:r>
            <a:r>
              <a:rPr lang="zh-CN" altLang="zh-CN" sz="1600" dirty="0"/>
              <a:t>的回答正确性达到</a:t>
            </a:r>
            <a:r>
              <a:rPr lang="en-US" altLang="zh-CN" sz="1600" dirty="0"/>
              <a:t> 0.86</a:t>
            </a:r>
            <a:r>
              <a:rPr lang="zh-CN" altLang="zh-CN" sz="1600" dirty="0"/>
              <a:t>，与表现最好的</a:t>
            </a:r>
            <a:r>
              <a:rPr lang="en-US" altLang="zh-CN" sz="1600" dirty="0"/>
              <a:t> </a:t>
            </a:r>
            <a:r>
              <a:rPr lang="en-US" altLang="zh-CN" sz="1600" dirty="0" err="1"/>
              <a:t>baseline_clip</a:t>
            </a:r>
            <a:r>
              <a:rPr lang="en-US" altLang="zh-CN" sz="1600" dirty="0"/>
              <a:t> </a:t>
            </a:r>
            <a:r>
              <a:rPr lang="zh-CN" altLang="zh-CN" sz="1600" dirty="0"/>
              <a:t>的</a:t>
            </a:r>
            <a:r>
              <a:rPr lang="en-US" altLang="zh-CN" sz="1600" dirty="0"/>
              <a:t>0.87</a:t>
            </a:r>
            <a:r>
              <a:rPr lang="zh-CN" altLang="zh-CN" sz="1600" dirty="0"/>
              <a:t>基本接近</a:t>
            </a:r>
            <a:endParaRPr lang="en-US" altLang="zh-CN" sz="1600" dirty="0"/>
          </a:p>
          <a:p>
            <a:pPr marL="285750" indent="-285750">
              <a:buFont typeface="Arial" panose="020B0604020202020204" pitchFamily="34" charset="0"/>
              <a:buChar char="•"/>
            </a:pPr>
            <a:r>
              <a:rPr lang="zh-CN" altLang="zh-CN" sz="1600" dirty="0"/>
              <a:t>在图像上下文相关性指标上达到</a:t>
            </a:r>
            <a:r>
              <a:rPr lang="en-US" altLang="zh-CN" sz="1600" dirty="0"/>
              <a:t>0.9286</a:t>
            </a:r>
            <a:r>
              <a:rPr lang="zh-CN" altLang="zh-CN" sz="1600" dirty="0"/>
              <a:t>，为所有方法中最高。相比之下，</a:t>
            </a:r>
            <a:r>
              <a:rPr lang="en-US" altLang="zh-CN" sz="1600" dirty="0" err="1"/>
              <a:t>no_rag</a:t>
            </a:r>
            <a:r>
              <a:rPr lang="en-US" altLang="zh-CN" sz="1600" dirty="0"/>
              <a:t> </a:t>
            </a:r>
            <a:r>
              <a:rPr lang="zh-CN" altLang="zh-CN" sz="1600" dirty="0"/>
              <a:t>的回答正确性仅为</a:t>
            </a:r>
            <a:r>
              <a:rPr lang="en-US" altLang="zh-CN" sz="1600" dirty="0"/>
              <a:t>0.24</a:t>
            </a:r>
            <a:r>
              <a:rPr lang="zh-CN" altLang="zh-CN" sz="1600" dirty="0"/>
              <a:t>。</a:t>
            </a:r>
            <a:endParaRPr lang="en-US" altLang="zh-CN" sz="1600" dirty="0"/>
          </a:p>
          <a:p>
            <a:endParaRPr lang="en-US" altLang="zh-CN" sz="1600" dirty="0"/>
          </a:p>
          <a:p>
            <a:r>
              <a:rPr lang="zh-CN" altLang="zh-CN" sz="1600" dirty="0"/>
              <a:t>总体来看，当前实验结果已经初步验证了所提方法的有效性和竞争力。</a:t>
            </a:r>
            <a:endParaRPr lang="zh-CN" altLang="en-US" sz="1600" dirty="0"/>
          </a:p>
        </p:txBody>
      </p:sp>
      <p:pic>
        <p:nvPicPr>
          <p:cNvPr id="19" name="图片 18">
            <a:extLst>
              <a:ext uri="{FF2B5EF4-FFF2-40B4-BE49-F238E27FC236}">
                <a16:creationId xmlns:a16="http://schemas.microsoft.com/office/drawing/2014/main" id="{413EFFBA-0554-65BE-BC5A-B1781C11DC5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13005" y="1132384"/>
            <a:ext cx="5656675" cy="2841493"/>
          </a:xfrm>
          <a:prstGeom prst="rect">
            <a:avLst/>
          </a:prstGeom>
        </p:spPr>
      </p:pic>
    </p:spTree>
    <p:extLst>
      <p:ext uri="{BB962C8B-B14F-4D97-AF65-F5344CB8AC3E}">
        <p14:creationId xmlns:p14="http://schemas.microsoft.com/office/powerpoint/2010/main" val="19715127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生成实验结果</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Generation Evaluation</a:t>
            </a:r>
          </a:p>
        </p:txBody>
      </p:sp>
      <p:sp>
        <p:nvSpPr>
          <p:cNvPr id="8" name="TextBox 7"/>
          <p:cNvSpPr txBox="1"/>
          <p:nvPr/>
        </p:nvSpPr>
        <p:spPr>
          <a:xfrm>
            <a:off x="3246120" y="4444752"/>
            <a:ext cx="2651760" cy="246221"/>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1</a:t>
            </a:r>
            <a:r>
              <a:rPr lang="en-US" sz="1000" b="0" dirty="0">
                <a:solidFill>
                  <a:srgbClr val="646464"/>
                </a:solidFill>
                <a:latin typeface="Microsoft YaHei"/>
              </a:rPr>
              <a:t>4</a:t>
            </a:r>
            <a:r>
              <a:rPr sz="1000" b="0" dirty="0">
                <a:solidFill>
                  <a:srgbClr val="646464"/>
                </a:solidFill>
                <a:latin typeface="Microsoft YaHei"/>
              </a:rPr>
              <a:t> </a:t>
            </a:r>
            <a:r>
              <a:rPr sz="1000" b="0" dirty="0" err="1">
                <a:solidFill>
                  <a:srgbClr val="646464"/>
                </a:solidFill>
                <a:latin typeface="Microsoft YaHei"/>
              </a:rPr>
              <a:t>三种方法分领域答案正确性</a:t>
            </a:r>
            <a:endParaRPr sz="1000" b="0" dirty="0">
              <a:solidFill>
                <a:srgbClr val="646464"/>
              </a:solidFill>
              <a:latin typeface="Microsoft YaHei"/>
            </a:endParaRPr>
          </a:p>
        </p:txBody>
      </p:sp>
      <p:sp>
        <p:nvSpPr>
          <p:cNvPr id="15" name="Rectangle 14"/>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9-13 与对应文字结论</a:t>
            </a:r>
          </a:p>
        </p:txBody>
      </p:sp>
      <p:pic>
        <p:nvPicPr>
          <p:cNvPr id="18" name="图片 17">
            <a:extLst>
              <a:ext uri="{FF2B5EF4-FFF2-40B4-BE49-F238E27FC236}">
                <a16:creationId xmlns:a16="http://schemas.microsoft.com/office/drawing/2014/main" id="{75D3AD4A-332A-7021-AC78-F17CD5BDAF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6370" y="768096"/>
            <a:ext cx="7796148" cy="326484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A6F21-DE88-19E4-D97F-63409980C44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12F4533-3A10-28FE-79CA-001CB9DD513C}"/>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1808EC-165E-67A4-11D6-D15D72C51AD0}"/>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生成实验结果</a:t>
            </a:r>
          </a:p>
        </p:txBody>
      </p:sp>
      <p:sp>
        <p:nvSpPr>
          <p:cNvPr id="4" name="TextBox 3">
            <a:extLst>
              <a:ext uri="{FF2B5EF4-FFF2-40B4-BE49-F238E27FC236}">
                <a16:creationId xmlns:a16="http://schemas.microsoft.com/office/drawing/2014/main" id="{E43F76E4-12E9-FEA8-2343-2C56C3693907}"/>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Generation Evaluation</a:t>
            </a:r>
          </a:p>
        </p:txBody>
      </p:sp>
      <p:sp>
        <p:nvSpPr>
          <p:cNvPr id="10" name="TextBox 9">
            <a:extLst>
              <a:ext uri="{FF2B5EF4-FFF2-40B4-BE49-F238E27FC236}">
                <a16:creationId xmlns:a16="http://schemas.microsoft.com/office/drawing/2014/main" id="{85437B39-5F52-7371-4112-734B159EC995}"/>
              </a:ext>
            </a:extLst>
          </p:cNvPr>
          <p:cNvSpPr txBox="1"/>
          <p:nvPr/>
        </p:nvSpPr>
        <p:spPr>
          <a:xfrm>
            <a:off x="3132634" y="4797178"/>
            <a:ext cx="2651760" cy="246221"/>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1</a:t>
            </a:r>
            <a:r>
              <a:rPr lang="en-US" sz="1000" b="0" dirty="0">
                <a:solidFill>
                  <a:srgbClr val="646464"/>
                </a:solidFill>
                <a:latin typeface="Microsoft YaHei"/>
              </a:rPr>
              <a:t>5</a:t>
            </a:r>
            <a:r>
              <a:rPr sz="1000" b="0" dirty="0">
                <a:solidFill>
                  <a:srgbClr val="646464"/>
                </a:solidFill>
                <a:latin typeface="Microsoft YaHei"/>
              </a:rPr>
              <a:t> </a:t>
            </a:r>
            <a:r>
              <a:rPr sz="1000" b="0" dirty="0" err="1">
                <a:solidFill>
                  <a:srgbClr val="646464"/>
                </a:solidFill>
                <a:latin typeface="Microsoft YaHei"/>
              </a:rPr>
              <a:t>本文方法相对基线的提升</a:t>
            </a:r>
            <a:endParaRPr sz="1000" b="0" dirty="0">
              <a:solidFill>
                <a:srgbClr val="646464"/>
              </a:solidFill>
              <a:latin typeface="Microsoft YaHei"/>
            </a:endParaRPr>
          </a:p>
        </p:txBody>
      </p:sp>
      <p:sp>
        <p:nvSpPr>
          <p:cNvPr id="15" name="Rectangle 14">
            <a:extLst>
              <a:ext uri="{FF2B5EF4-FFF2-40B4-BE49-F238E27FC236}">
                <a16:creationId xmlns:a16="http://schemas.microsoft.com/office/drawing/2014/main" id="{09857C9F-35FE-A32D-93FE-A5ED29BAE7E9}"/>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8B605A4-4F22-32DA-AFB2-FFF340826343}"/>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9-13 与对应文字结论</a:t>
            </a:r>
          </a:p>
        </p:txBody>
      </p:sp>
      <p:pic>
        <p:nvPicPr>
          <p:cNvPr id="18" name="图片 17">
            <a:extLst>
              <a:ext uri="{FF2B5EF4-FFF2-40B4-BE49-F238E27FC236}">
                <a16:creationId xmlns:a16="http://schemas.microsoft.com/office/drawing/2014/main" id="{E52ED1B8-0218-16BB-586B-9A0F672E0E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9992" y="688474"/>
            <a:ext cx="8349266" cy="4044310"/>
          </a:xfrm>
          <a:prstGeom prst="rect">
            <a:avLst/>
          </a:prstGeom>
        </p:spPr>
      </p:pic>
    </p:spTree>
    <p:extLst>
      <p:ext uri="{BB962C8B-B14F-4D97-AF65-F5344CB8AC3E}">
        <p14:creationId xmlns:p14="http://schemas.microsoft.com/office/powerpoint/2010/main" val="14691368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4E1CB-4386-295B-8403-52F52C6B9D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9847ED7-14CC-1A53-00AE-222C057CC506}"/>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7D4E19-9A59-F0EC-A530-88B237CA3E57}"/>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生成实验结果</a:t>
            </a:r>
          </a:p>
        </p:txBody>
      </p:sp>
      <p:sp>
        <p:nvSpPr>
          <p:cNvPr id="4" name="TextBox 3">
            <a:extLst>
              <a:ext uri="{FF2B5EF4-FFF2-40B4-BE49-F238E27FC236}">
                <a16:creationId xmlns:a16="http://schemas.microsoft.com/office/drawing/2014/main" id="{775DAF75-79F3-80A9-3894-E8F3A64ED331}"/>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Generation Evaluation</a:t>
            </a:r>
          </a:p>
        </p:txBody>
      </p:sp>
      <p:sp>
        <p:nvSpPr>
          <p:cNvPr id="12" name="TextBox 11">
            <a:extLst>
              <a:ext uri="{FF2B5EF4-FFF2-40B4-BE49-F238E27FC236}">
                <a16:creationId xmlns:a16="http://schemas.microsoft.com/office/drawing/2014/main" id="{58002E98-0944-EFCD-817A-5D61E496ACCD}"/>
              </a:ext>
            </a:extLst>
          </p:cNvPr>
          <p:cNvSpPr txBox="1"/>
          <p:nvPr/>
        </p:nvSpPr>
        <p:spPr>
          <a:xfrm>
            <a:off x="3322330" y="4660776"/>
            <a:ext cx="2834640" cy="246221"/>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1</a:t>
            </a:r>
            <a:r>
              <a:rPr lang="en-US" sz="1000" b="0" dirty="0">
                <a:solidFill>
                  <a:srgbClr val="646464"/>
                </a:solidFill>
                <a:latin typeface="Microsoft YaHei"/>
              </a:rPr>
              <a:t>6</a:t>
            </a:r>
            <a:r>
              <a:rPr sz="1000" b="0" dirty="0">
                <a:solidFill>
                  <a:srgbClr val="646464"/>
                </a:solidFill>
                <a:latin typeface="Microsoft YaHei"/>
              </a:rPr>
              <a:t> </a:t>
            </a:r>
            <a:r>
              <a:rPr sz="1000" b="0" dirty="0" err="1">
                <a:solidFill>
                  <a:srgbClr val="646464"/>
                </a:solidFill>
                <a:latin typeface="Microsoft YaHei"/>
              </a:rPr>
              <a:t>分问题类型答案正确性</a:t>
            </a:r>
            <a:endParaRPr sz="1000" b="0" dirty="0">
              <a:solidFill>
                <a:srgbClr val="646464"/>
              </a:solidFill>
              <a:latin typeface="Microsoft YaHei"/>
            </a:endParaRPr>
          </a:p>
        </p:txBody>
      </p:sp>
      <p:sp>
        <p:nvSpPr>
          <p:cNvPr id="15" name="Rectangle 14">
            <a:extLst>
              <a:ext uri="{FF2B5EF4-FFF2-40B4-BE49-F238E27FC236}">
                <a16:creationId xmlns:a16="http://schemas.microsoft.com/office/drawing/2014/main" id="{DAD17D0B-ACEE-EB8C-4F1E-0E1D6CAC6AFC}"/>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2A8F315-A2D4-5247-BFD8-2E5C93153AB4}"/>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9-13 与对应文字结论</a:t>
            </a:r>
          </a:p>
        </p:txBody>
      </p:sp>
      <p:pic>
        <p:nvPicPr>
          <p:cNvPr id="18" name="图片 17">
            <a:extLst>
              <a:ext uri="{FF2B5EF4-FFF2-40B4-BE49-F238E27FC236}">
                <a16:creationId xmlns:a16="http://schemas.microsoft.com/office/drawing/2014/main" id="{AA6DC713-1297-8523-3CF5-CF41AC6A02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330" y="901099"/>
            <a:ext cx="8382361" cy="3759677"/>
          </a:xfrm>
          <a:prstGeom prst="rect">
            <a:avLst/>
          </a:prstGeom>
        </p:spPr>
      </p:pic>
      <p:sp>
        <p:nvSpPr>
          <p:cNvPr id="5" name="TextBox 5">
            <a:extLst>
              <a:ext uri="{FF2B5EF4-FFF2-40B4-BE49-F238E27FC236}">
                <a16:creationId xmlns:a16="http://schemas.microsoft.com/office/drawing/2014/main" id="{F5A7122B-7CD1-C348-8DC9-5BD05F8B7E6C}"/>
              </a:ext>
            </a:extLst>
          </p:cNvPr>
          <p:cNvSpPr txBox="1"/>
          <p:nvPr/>
        </p:nvSpPr>
        <p:spPr>
          <a:xfrm>
            <a:off x="-323750" y="4934000"/>
            <a:ext cx="9969035" cy="230832"/>
          </a:xfrm>
          <a:prstGeom prst="rect">
            <a:avLst/>
          </a:prstGeom>
          <a:noFill/>
        </p:spPr>
        <p:txBody>
          <a:bodyPr wrap="square" anchor="t">
            <a:spAutoFit/>
          </a:bodyPr>
          <a:lstStyle/>
          <a:p>
            <a:pPr algn="ctr"/>
            <a:r>
              <a:rPr lang="en-US" altLang="zh-CN" sz="900" b="1" dirty="0" err="1">
                <a:solidFill>
                  <a:srgbClr val="646464"/>
                </a:solidFill>
                <a:latin typeface="Microsoft YaHei"/>
              </a:rPr>
              <a:t>factual_retrieval</a:t>
            </a:r>
            <a:r>
              <a:rPr lang="zh-CN" altLang="en-US" sz="900" b="1" dirty="0">
                <a:solidFill>
                  <a:srgbClr val="646464"/>
                </a:solidFill>
                <a:latin typeface="Microsoft YaHei"/>
              </a:rPr>
              <a:t>：</a:t>
            </a:r>
            <a:r>
              <a:rPr lang="zh-CN" altLang="en-US" sz="900" dirty="0">
                <a:solidFill>
                  <a:srgbClr val="646464"/>
                </a:solidFill>
                <a:latin typeface="Microsoft YaHei"/>
              </a:rPr>
              <a:t>事实检索题</a:t>
            </a:r>
            <a:r>
              <a:rPr lang="en-US" altLang="zh-CN" sz="900" dirty="0">
                <a:solidFill>
                  <a:srgbClr val="646464"/>
                </a:solidFill>
                <a:latin typeface="Microsoft YaHei"/>
              </a:rPr>
              <a:t>  </a:t>
            </a:r>
            <a:r>
              <a:rPr lang="en-US" altLang="zh-CN" sz="900" b="1" dirty="0">
                <a:solidFill>
                  <a:srgbClr val="646464"/>
                </a:solidFill>
                <a:latin typeface="Microsoft YaHei"/>
              </a:rPr>
              <a:t>comparison</a:t>
            </a:r>
            <a:r>
              <a:rPr lang="zh-CN" altLang="en-US" sz="900" b="1" dirty="0">
                <a:solidFill>
                  <a:srgbClr val="646464"/>
                </a:solidFill>
                <a:latin typeface="Microsoft YaHei"/>
              </a:rPr>
              <a:t>：</a:t>
            </a:r>
            <a:r>
              <a:rPr lang="zh-CN" altLang="en-US" sz="900" dirty="0">
                <a:solidFill>
                  <a:srgbClr val="646464"/>
                </a:solidFill>
                <a:latin typeface="Microsoft YaHei"/>
              </a:rPr>
              <a:t>对比题</a:t>
            </a:r>
            <a:r>
              <a:rPr lang="zh-CN" altLang="en-US" sz="900" b="1" dirty="0">
                <a:solidFill>
                  <a:srgbClr val="646464"/>
                </a:solidFill>
                <a:latin typeface="Microsoft YaHei"/>
              </a:rPr>
              <a:t>  </a:t>
            </a:r>
            <a:r>
              <a:rPr lang="en-US" altLang="zh-CN" sz="900" b="1" dirty="0">
                <a:solidFill>
                  <a:srgbClr val="646464"/>
                </a:solidFill>
                <a:latin typeface="Microsoft YaHei"/>
              </a:rPr>
              <a:t>summarization</a:t>
            </a:r>
            <a:r>
              <a:rPr lang="zh-CN" altLang="en-US" sz="900" b="1" dirty="0">
                <a:solidFill>
                  <a:srgbClr val="646464"/>
                </a:solidFill>
                <a:latin typeface="Microsoft YaHei"/>
              </a:rPr>
              <a:t>：</a:t>
            </a:r>
            <a:r>
              <a:rPr lang="zh-CN" altLang="en-US" sz="900" dirty="0">
                <a:solidFill>
                  <a:srgbClr val="646464"/>
                </a:solidFill>
                <a:latin typeface="Microsoft YaHei"/>
              </a:rPr>
              <a:t>总结概括题  </a:t>
            </a:r>
            <a:r>
              <a:rPr lang="en-US" altLang="zh-CN" sz="900" b="1" dirty="0" err="1">
                <a:solidFill>
                  <a:srgbClr val="646464"/>
                </a:solidFill>
                <a:latin typeface="Microsoft YaHei"/>
              </a:rPr>
              <a:t>temporal_comparison</a:t>
            </a:r>
            <a:r>
              <a:rPr lang="zh-CN" altLang="en-US" sz="900" b="1" dirty="0">
                <a:solidFill>
                  <a:srgbClr val="646464"/>
                </a:solidFill>
                <a:latin typeface="Microsoft YaHei"/>
              </a:rPr>
              <a:t>：时间维度对比题  </a:t>
            </a:r>
            <a:r>
              <a:rPr lang="en-US" altLang="zh-CN" sz="900" b="1" dirty="0" err="1">
                <a:solidFill>
                  <a:srgbClr val="646464"/>
                </a:solidFill>
                <a:latin typeface="Microsoft YaHei"/>
              </a:rPr>
              <a:t>causal_reasoning</a:t>
            </a:r>
            <a:r>
              <a:rPr lang="zh-CN" altLang="en-US" sz="900" b="1" dirty="0">
                <a:solidFill>
                  <a:srgbClr val="646464"/>
                </a:solidFill>
                <a:latin typeface="Microsoft YaHei"/>
              </a:rPr>
              <a:t>：</a:t>
            </a:r>
            <a:r>
              <a:rPr lang="zh-CN" altLang="en-US" sz="900" dirty="0">
                <a:solidFill>
                  <a:srgbClr val="646464"/>
                </a:solidFill>
                <a:latin typeface="Microsoft YaHei"/>
              </a:rPr>
              <a:t>因果推理题</a:t>
            </a:r>
            <a:endParaRPr sz="900" dirty="0">
              <a:solidFill>
                <a:srgbClr val="646464"/>
              </a:solidFill>
              <a:latin typeface="Microsoft YaHei"/>
            </a:endParaRPr>
          </a:p>
        </p:txBody>
      </p:sp>
    </p:spTree>
    <p:extLst>
      <p:ext uri="{BB962C8B-B14F-4D97-AF65-F5344CB8AC3E}">
        <p14:creationId xmlns:p14="http://schemas.microsoft.com/office/powerpoint/2010/main" val="3398979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34E81-D48A-23DC-031C-F2CA208DFCA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461C6FD-BB30-84E1-51B3-54DECA3CCAB4}"/>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3E9EE56-2498-5CDF-D341-FCF1262D0250}"/>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生成实验结果</a:t>
            </a:r>
          </a:p>
        </p:txBody>
      </p:sp>
      <p:sp>
        <p:nvSpPr>
          <p:cNvPr id="4" name="TextBox 3">
            <a:extLst>
              <a:ext uri="{FF2B5EF4-FFF2-40B4-BE49-F238E27FC236}">
                <a16:creationId xmlns:a16="http://schemas.microsoft.com/office/drawing/2014/main" id="{93B7F3AE-4C58-3421-CFC3-FD902FEA23A9}"/>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Generation Evaluation</a:t>
            </a:r>
          </a:p>
        </p:txBody>
      </p:sp>
      <p:sp>
        <p:nvSpPr>
          <p:cNvPr id="14" name="TextBox 13">
            <a:extLst>
              <a:ext uri="{FF2B5EF4-FFF2-40B4-BE49-F238E27FC236}">
                <a16:creationId xmlns:a16="http://schemas.microsoft.com/office/drawing/2014/main" id="{D710B442-F5C2-5E0A-FB2D-ECF6C571BF28}"/>
              </a:ext>
            </a:extLst>
          </p:cNvPr>
          <p:cNvSpPr txBox="1"/>
          <p:nvPr/>
        </p:nvSpPr>
        <p:spPr>
          <a:xfrm>
            <a:off x="3250322" y="4588768"/>
            <a:ext cx="2834640" cy="246221"/>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1</a:t>
            </a:r>
            <a:r>
              <a:rPr lang="en-US" sz="1000" b="0" dirty="0">
                <a:solidFill>
                  <a:srgbClr val="646464"/>
                </a:solidFill>
                <a:latin typeface="Microsoft YaHei"/>
              </a:rPr>
              <a:t>7</a:t>
            </a:r>
            <a:r>
              <a:rPr sz="1000" b="0" dirty="0">
                <a:solidFill>
                  <a:srgbClr val="646464"/>
                </a:solidFill>
                <a:latin typeface="Microsoft YaHei"/>
              </a:rPr>
              <a:t> </a:t>
            </a:r>
            <a:r>
              <a:rPr sz="1000" b="0" dirty="0" err="1">
                <a:solidFill>
                  <a:srgbClr val="646464"/>
                </a:solidFill>
                <a:latin typeface="Microsoft YaHei"/>
              </a:rPr>
              <a:t>相关性与忠实度对比</a:t>
            </a:r>
            <a:endParaRPr sz="1000" b="0" dirty="0">
              <a:solidFill>
                <a:srgbClr val="646464"/>
              </a:solidFill>
              <a:latin typeface="Microsoft YaHei"/>
            </a:endParaRPr>
          </a:p>
        </p:txBody>
      </p:sp>
      <p:sp>
        <p:nvSpPr>
          <p:cNvPr id="15" name="Rectangle 14">
            <a:extLst>
              <a:ext uri="{FF2B5EF4-FFF2-40B4-BE49-F238E27FC236}">
                <a16:creationId xmlns:a16="http://schemas.microsoft.com/office/drawing/2014/main" id="{E058F449-4CC7-C50C-7C8C-E480125DAFFD}"/>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3EE98EFB-A607-B9F4-06C4-2BD52AD375FC}"/>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9-13 与对应文字结论</a:t>
            </a:r>
          </a:p>
        </p:txBody>
      </p:sp>
      <p:pic>
        <p:nvPicPr>
          <p:cNvPr id="18" name="图片 17">
            <a:extLst>
              <a:ext uri="{FF2B5EF4-FFF2-40B4-BE49-F238E27FC236}">
                <a16:creationId xmlns:a16="http://schemas.microsoft.com/office/drawing/2014/main" id="{EE426B64-8B57-2409-EAAD-3246348A33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725" y="873935"/>
            <a:ext cx="8464955" cy="3614422"/>
          </a:xfrm>
          <a:prstGeom prst="rect">
            <a:avLst/>
          </a:prstGeom>
        </p:spPr>
      </p:pic>
    </p:spTree>
    <p:extLst>
      <p:ext uri="{BB962C8B-B14F-4D97-AF65-F5344CB8AC3E}">
        <p14:creationId xmlns:p14="http://schemas.microsoft.com/office/powerpoint/2010/main" val="421647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模型微调</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Fine-tuning</a:t>
            </a:r>
          </a:p>
        </p:txBody>
      </p:sp>
      <p:sp>
        <p:nvSpPr>
          <p:cNvPr id="5" name="TextBox 4"/>
          <p:cNvSpPr txBox="1"/>
          <p:nvPr/>
        </p:nvSpPr>
        <p:spPr>
          <a:xfrm>
            <a:off x="126232" y="1060704"/>
            <a:ext cx="3654226" cy="3708708"/>
          </a:xfrm>
          <a:prstGeom prst="rect">
            <a:avLst/>
          </a:prstGeom>
          <a:noFill/>
        </p:spPr>
        <p:txBody>
          <a:bodyPr wrap="square">
            <a:spAutoFit/>
          </a:bodyPr>
          <a:lstStyle/>
          <a:p>
            <a:pPr>
              <a:spcAft>
                <a:spcPts val="500"/>
              </a:spcAft>
              <a:defRPr sz="1400">
                <a:solidFill>
                  <a:srgbClr val="282828"/>
                </a:solidFill>
                <a:latin typeface="Microsoft YaHei"/>
              </a:defRPr>
            </a:pPr>
            <a:r>
              <a:rPr dirty="0" err="1"/>
              <a:t>已完成基于</a:t>
            </a:r>
            <a:r>
              <a:rPr dirty="0"/>
              <a:t> </a:t>
            </a:r>
            <a:r>
              <a:rPr dirty="0" err="1"/>
              <a:t>UniDoc</a:t>
            </a:r>
            <a:r>
              <a:rPr dirty="0"/>
              <a:t>-Bench </a:t>
            </a:r>
            <a:r>
              <a:rPr dirty="0" err="1"/>
              <a:t>图像及描述文本的监督微调</a:t>
            </a:r>
            <a:r>
              <a:rPr b="1" dirty="0" err="1"/>
              <a:t>数据构建</a:t>
            </a:r>
            <a:r>
              <a:rPr dirty="0" err="1"/>
              <a:t>、</a:t>
            </a:r>
            <a:r>
              <a:rPr b="1" dirty="0" err="1"/>
              <a:t>训练执行</a:t>
            </a:r>
            <a:r>
              <a:rPr dirty="0" err="1"/>
              <a:t>和</a:t>
            </a:r>
            <a:r>
              <a:rPr b="1" dirty="0" err="1"/>
              <a:t>阶段性评估</a:t>
            </a:r>
            <a:r>
              <a:rPr dirty="0"/>
              <a:t>。</a:t>
            </a:r>
          </a:p>
          <a:p>
            <a:pPr marL="285750" indent="-285750">
              <a:spcAft>
                <a:spcPts val="500"/>
              </a:spcAft>
              <a:buFont typeface="Arial" panose="020B0604020202020204" pitchFamily="34" charset="0"/>
              <a:buChar char="•"/>
              <a:defRPr sz="1400">
                <a:solidFill>
                  <a:srgbClr val="282828"/>
                </a:solidFill>
                <a:latin typeface="Microsoft YaHei"/>
              </a:defRPr>
            </a:pPr>
            <a:r>
              <a:rPr lang="zh-CN" altLang="en-US" b="1" dirty="0"/>
              <a:t>数据集</a:t>
            </a:r>
            <a:r>
              <a:rPr lang="zh-CN" altLang="en-US" dirty="0"/>
              <a:t>：</a:t>
            </a:r>
            <a:r>
              <a:rPr dirty="0" err="1"/>
              <a:t>训练样本</a:t>
            </a:r>
            <a:r>
              <a:rPr dirty="0"/>
              <a:t> </a:t>
            </a:r>
            <a:r>
              <a:rPr b="1" dirty="0"/>
              <a:t>888</a:t>
            </a:r>
            <a:r>
              <a:rPr dirty="0"/>
              <a:t> </a:t>
            </a:r>
            <a:r>
              <a:rPr dirty="0" err="1"/>
              <a:t>条，验证样本</a:t>
            </a:r>
            <a:r>
              <a:rPr dirty="0"/>
              <a:t> </a:t>
            </a:r>
            <a:r>
              <a:rPr b="1" dirty="0"/>
              <a:t>47 条</a:t>
            </a:r>
          </a:p>
          <a:p>
            <a:pPr marL="285750" indent="-285750">
              <a:spcAft>
                <a:spcPts val="500"/>
              </a:spcAft>
              <a:buFont typeface="Arial" panose="020B0604020202020204" pitchFamily="34" charset="0"/>
              <a:buChar char="•"/>
              <a:defRPr sz="1400">
                <a:solidFill>
                  <a:srgbClr val="282828"/>
                </a:solidFill>
                <a:latin typeface="Microsoft YaHei"/>
              </a:defRPr>
            </a:pPr>
            <a:r>
              <a:rPr dirty="0" err="1"/>
              <a:t>完成基于</a:t>
            </a:r>
            <a:r>
              <a:rPr dirty="0"/>
              <a:t> </a:t>
            </a:r>
            <a:r>
              <a:rPr b="1" dirty="0"/>
              <a:t>Qwen3.5-4B</a:t>
            </a:r>
            <a:r>
              <a:rPr dirty="0"/>
              <a:t> 的 </a:t>
            </a:r>
            <a:r>
              <a:rPr b="1" dirty="0" err="1"/>
              <a:t>LoRA</a:t>
            </a:r>
            <a:r>
              <a:rPr dirty="0"/>
              <a:t> </a:t>
            </a:r>
            <a:r>
              <a:rPr dirty="0" err="1"/>
              <a:t>微调训练，共</a:t>
            </a:r>
            <a:r>
              <a:rPr dirty="0"/>
              <a:t> 140 个 </a:t>
            </a:r>
            <a:r>
              <a:rPr dirty="0" err="1"/>
              <a:t>step，耗时约</a:t>
            </a:r>
            <a:r>
              <a:rPr dirty="0"/>
              <a:t> 5 </a:t>
            </a:r>
            <a:r>
              <a:rPr dirty="0" err="1"/>
              <a:t>小时</a:t>
            </a:r>
            <a:r>
              <a:rPr dirty="0"/>
              <a:t> 20 </a:t>
            </a:r>
            <a:r>
              <a:rPr dirty="0" err="1"/>
              <a:t>分钟</a:t>
            </a:r>
            <a:r>
              <a:rPr dirty="0"/>
              <a:t>。</a:t>
            </a:r>
          </a:p>
          <a:p>
            <a:pPr marL="285750" indent="-285750">
              <a:spcAft>
                <a:spcPts val="500"/>
              </a:spcAft>
              <a:buFont typeface="Arial" panose="020B0604020202020204" pitchFamily="34" charset="0"/>
              <a:buChar char="•"/>
              <a:defRPr sz="1400">
                <a:solidFill>
                  <a:srgbClr val="282828"/>
                </a:solidFill>
                <a:latin typeface="Microsoft YaHei"/>
              </a:defRPr>
            </a:pPr>
            <a:r>
              <a:rPr dirty="0" err="1"/>
              <a:t>最终训练损失为</a:t>
            </a:r>
            <a:r>
              <a:rPr dirty="0"/>
              <a:t> </a:t>
            </a:r>
            <a:r>
              <a:rPr b="1" dirty="0"/>
              <a:t>0.5194</a:t>
            </a:r>
            <a:r>
              <a:rPr dirty="0"/>
              <a:t>，验证损失为 </a:t>
            </a:r>
            <a:r>
              <a:rPr b="1" dirty="0"/>
              <a:t>0.5915</a:t>
            </a:r>
            <a:r>
              <a:rPr dirty="0"/>
              <a:t>；</a:t>
            </a:r>
            <a:endParaRPr lang="en-US" dirty="0"/>
          </a:p>
          <a:p>
            <a:pPr marL="285750" indent="-285750">
              <a:spcAft>
                <a:spcPts val="500"/>
              </a:spcAft>
              <a:buFont typeface="Arial" panose="020B0604020202020204" pitchFamily="34" charset="0"/>
              <a:buChar char="•"/>
              <a:defRPr sz="1400">
                <a:solidFill>
                  <a:srgbClr val="282828"/>
                </a:solidFill>
                <a:latin typeface="Microsoft YaHei"/>
              </a:defRPr>
            </a:pPr>
            <a:r>
              <a:rPr dirty="0"/>
              <a:t>step-75 </a:t>
            </a:r>
            <a:r>
              <a:rPr dirty="0" err="1"/>
              <a:t>验证损失最低，为</a:t>
            </a:r>
            <a:r>
              <a:rPr dirty="0"/>
              <a:t> </a:t>
            </a:r>
            <a:r>
              <a:rPr b="1" dirty="0"/>
              <a:t>0.5892</a:t>
            </a:r>
            <a:r>
              <a:rPr dirty="0"/>
              <a:t>。</a:t>
            </a:r>
          </a:p>
          <a:p>
            <a:pPr marL="285750" indent="-285750">
              <a:spcAft>
                <a:spcPts val="500"/>
              </a:spcAft>
              <a:buFont typeface="Arial" panose="020B0604020202020204" pitchFamily="34" charset="0"/>
              <a:buChar char="•"/>
              <a:defRPr sz="1400">
                <a:solidFill>
                  <a:srgbClr val="282828"/>
                </a:solidFill>
                <a:latin typeface="Microsoft YaHei"/>
              </a:defRPr>
            </a:pPr>
            <a:r>
              <a:rPr dirty="0" err="1"/>
              <a:t>微调后在部分复杂页面上提升了</a:t>
            </a:r>
            <a:r>
              <a:rPr b="1" dirty="0" err="1"/>
              <a:t>格式遵循</a:t>
            </a:r>
            <a:r>
              <a:rPr dirty="0" err="1"/>
              <a:t>、</a:t>
            </a:r>
            <a:r>
              <a:rPr b="1" dirty="0" err="1"/>
              <a:t>关键词补充</a:t>
            </a:r>
            <a:r>
              <a:rPr dirty="0" err="1"/>
              <a:t>和</a:t>
            </a:r>
            <a:r>
              <a:rPr b="1" dirty="0" err="1"/>
              <a:t>局部细节描述能力</a:t>
            </a:r>
            <a:r>
              <a:rPr dirty="0"/>
              <a:t>。</a:t>
            </a:r>
          </a:p>
          <a:p>
            <a:pPr marL="285750" indent="-285750">
              <a:spcAft>
                <a:spcPts val="500"/>
              </a:spcAft>
              <a:buFont typeface="Arial" panose="020B0604020202020204" pitchFamily="34" charset="0"/>
              <a:buChar char="•"/>
              <a:defRPr sz="1400">
                <a:solidFill>
                  <a:srgbClr val="282828"/>
                </a:solidFill>
                <a:latin typeface="Microsoft YaHei"/>
              </a:defRPr>
            </a:pPr>
            <a:r>
              <a:rPr dirty="0" err="1"/>
              <a:t>但仍存在</a:t>
            </a:r>
            <a:r>
              <a:rPr b="1" dirty="0" err="1"/>
              <a:t>输出冗长</a:t>
            </a:r>
            <a:r>
              <a:rPr dirty="0" err="1"/>
              <a:t>、</a:t>
            </a:r>
            <a:r>
              <a:rPr b="1" dirty="0" err="1"/>
              <a:t>重复</a:t>
            </a:r>
            <a:r>
              <a:rPr dirty="0" err="1"/>
              <a:t>等问题，后续还需继续优化数据质量和输出效果</a:t>
            </a:r>
            <a:r>
              <a:rPr dirty="0"/>
              <a:t>。</a:t>
            </a:r>
          </a:p>
        </p:txBody>
      </p:sp>
      <p:sp>
        <p:nvSpPr>
          <p:cNvPr id="7" name="TextBox 6"/>
          <p:cNvSpPr txBox="1"/>
          <p:nvPr/>
        </p:nvSpPr>
        <p:spPr>
          <a:xfrm>
            <a:off x="4617720" y="5897880"/>
            <a:ext cx="3566160" cy="219456"/>
          </a:xfrm>
          <a:prstGeom prst="rect">
            <a:avLst/>
          </a:prstGeom>
          <a:noFill/>
        </p:spPr>
        <p:txBody>
          <a:bodyPr wrap="square" anchor="t">
            <a:spAutoFit/>
          </a:bodyPr>
          <a:lstStyle/>
          <a:p>
            <a:pPr algn="ctr"/>
            <a:r>
              <a:rPr sz="1000" b="0">
                <a:solidFill>
                  <a:srgbClr val="646464"/>
                </a:solidFill>
                <a:latin typeface="Microsoft YaHei"/>
              </a:rPr>
              <a:t>图表 14 微调学习曲线</a:t>
            </a:r>
          </a:p>
        </p:txBody>
      </p:sp>
      <p:sp>
        <p:nvSpPr>
          <p:cNvPr id="8" name="Rectangle 7"/>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内容依据：中期报告“5.模型微调”</a:t>
            </a:r>
          </a:p>
        </p:txBody>
      </p:sp>
      <p:sp>
        <p:nvSpPr>
          <p:cNvPr id="13" name="文本框 12">
            <a:extLst>
              <a:ext uri="{FF2B5EF4-FFF2-40B4-BE49-F238E27FC236}">
                <a16:creationId xmlns:a16="http://schemas.microsoft.com/office/drawing/2014/main" id="{D0FA19A5-DD95-8085-DD0F-8CA470E0C11C}"/>
              </a:ext>
            </a:extLst>
          </p:cNvPr>
          <p:cNvSpPr txBox="1"/>
          <p:nvPr/>
        </p:nvSpPr>
        <p:spPr>
          <a:xfrm>
            <a:off x="4500786" y="4106907"/>
            <a:ext cx="4572000" cy="246221"/>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1000" b="0" i="0" u="none" strike="noStrike" kern="1200" cap="none" spc="0" normalizeH="0" baseline="0" noProof="0" dirty="0">
                <a:ln>
                  <a:noFill/>
                </a:ln>
                <a:solidFill>
                  <a:srgbClr val="646464"/>
                </a:solidFill>
                <a:effectLst/>
                <a:uLnTx/>
                <a:uFillTx/>
                <a:latin typeface="Microsoft YaHei"/>
                <a:ea typeface="宋体" panose="02010600030101010101" pitchFamily="2" charset="-122"/>
                <a:cs typeface="+mn-cs"/>
              </a:rPr>
              <a:t>图表 </a:t>
            </a:r>
            <a:r>
              <a:rPr kumimoji="0" lang="en-US" altLang="zh-CN" sz="1000" b="0" i="0" u="none" strike="noStrike" kern="1200" cap="none" spc="0" normalizeH="0" baseline="0" noProof="0" dirty="0">
                <a:ln>
                  <a:noFill/>
                </a:ln>
                <a:solidFill>
                  <a:srgbClr val="646464"/>
                </a:solidFill>
                <a:effectLst/>
                <a:uLnTx/>
                <a:uFillTx/>
                <a:latin typeface="Microsoft YaHei"/>
                <a:ea typeface="宋体" panose="02010600030101010101" pitchFamily="2" charset="-122"/>
                <a:cs typeface="+mn-cs"/>
              </a:rPr>
              <a:t>18 </a:t>
            </a:r>
            <a:r>
              <a:rPr kumimoji="0" lang="zh-CN" altLang="en-US" sz="1000" b="0" i="0" u="none" strike="noStrike" kern="1200" cap="none" spc="0" normalizeH="0" baseline="0" noProof="0" dirty="0">
                <a:ln>
                  <a:noFill/>
                </a:ln>
                <a:solidFill>
                  <a:srgbClr val="646464"/>
                </a:solidFill>
                <a:effectLst/>
                <a:uLnTx/>
                <a:uFillTx/>
                <a:latin typeface="Microsoft YaHei"/>
                <a:ea typeface="宋体" panose="02010600030101010101" pitchFamily="2" charset="-122"/>
                <a:cs typeface="+mn-cs"/>
              </a:rPr>
              <a:t>微调学习曲线</a:t>
            </a:r>
          </a:p>
        </p:txBody>
      </p:sp>
      <p:pic>
        <p:nvPicPr>
          <p:cNvPr id="15" name="图片 14">
            <a:extLst>
              <a:ext uri="{FF2B5EF4-FFF2-40B4-BE49-F238E27FC236}">
                <a16:creationId xmlns:a16="http://schemas.microsoft.com/office/drawing/2014/main" id="{551AEA62-2F82-CC85-1351-F581B26BED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80458" y="1455295"/>
            <a:ext cx="5292874" cy="22631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存在问题</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Open Issues</a:t>
            </a:r>
          </a:p>
        </p:txBody>
      </p:sp>
      <p:sp>
        <p:nvSpPr>
          <p:cNvPr id="5" name="Rounded Rectangle 4"/>
          <p:cNvSpPr/>
          <p:nvPr/>
        </p:nvSpPr>
        <p:spPr>
          <a:xfrm>
            <a:off x="685800" y="11430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252728"/>
            <a:ext cx="3383280" cy="256032"/>
          </a:xfrm>
          <a:prstGeom prst="rect">
            <a:avLst/>
          </a:prstGeom>
          <a:noFill/>
        </p:spPr>
        <p:txBody>
          <a:bodyPr wrap="square" anchor="t">
            <a:spAutoFit/>
          </a:bodyPr>
          <a:lstStyle/>
          <a:p>
            <a:pPr algn="l"/>
            <a:r>
              <a:rPr sz="1600" b="1">
                <a:solidFill>
                  <a:srgbClr val="12376D"/>
                </a:solidFill>
                <a:latin typeface="Microsoft YaHei"/>
              </a:rPr>
              <a:t>1. OCR 基线检索异常</a:t>
            </a:r>
          </a:p>
        </p:txBody>
      </p:sp>
      <p:sp>
        <p:nvSpPr>
          <p:cNvPr id="7" name="TextBox 6"/>
          <p:cNvSpPr txBox="1"/>
          <p:nvPr/>
        </p:nvSpPr>
        <p:spPr>
          <a:xfrm>
            <a:off x="795528" y="15270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rPr dirty="0"/>
              <a:t>OCR </a:t>
            </a:r>
            <a:r>
              <a:rPr dirty="0" err="1"/>
              <a:t>基线索引构建不完整，导致</a:t>
            </a:r>
            <a:r>
              <a:rPr dirty="0"/>
              <a:t> </a:t>
            </a:r>
            <a:r>
              <a:rPr dirty="0" err="1"/>
              <a:t>Recall@K、MRR</a:t>
            </a:r>
            <a:r>
              <a:rPr dirty="0"/>
              <a:t> </a:t>
            </a:r>
            <a:r>
              <a:rPr dirty="0" err="1"/>
              <a:t>等指标失真</a:t>
            </a:r>
            <a:r>
              <a:rPr dirty="0"/>
              <a:t>。</a:t>
            </a:r>
          </a:p>
        </p:txBody>
      </p:sp>
      <p:sp>
        <p:nvSpPr>
          <p:cNvPr id="8" name="Rounded Rectangle 7"/>
          <p:cNvSpPr/>
          <p:nvPr/>
        </p:nvSpPr>
        <p:spPr>
          <a:xfrm>
            <a:off x="4572000" y="11430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709160" y="1252728"/>
            <a:ext cx="3383280" cy="256032"/>
          </a:xfrm>
          <a:prstGeom prst="rect">
            <a:avLst/>
          </a:prstGeom>
          <a:noFill/>
        </p:spPr>
        <p:txBody>
          <a:bodyPr wrap="square" anchor="t">
            <a:spAutoFit/>
          </a:bodyPr>
          <a:lstStyle/>
          <a:p>
            <a:pPr algn="l"/>
            <a:r>
              <a:rPr sz="1600" b="1">
                <a:solidFill>
                  <a:srgbClr val="12376D"/>
                </a:solidFill>
                <a:latin typeface="Microsoft YaHei"/>
              </a:rPr>
              <a:t>2. 模型微调效果不够理想</a:t>
            </a:r>
          </a:p>
        </p:txBody>
      </p:sp>
      <p:sp>
        <p:nvSpPr>
          <p:cNvPr id="10" name="TextBox 9"/>
          <p:cNvSpPr txBox="1"/>
          <p:nvPr/>
        </p:nvSpPr>
        <p:spPr>
          <a:xfrm>
            <a:off x="4681728" y="15270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t>当前微调虽完成阶段性训练与验证，但整体效果提升仍不够稳定。</a:t>
            </a:r>
          </a:p>
        </p:txBody>
      </p:sp>
      <p:sp>
        <p:nvSpPr>
          <p:cNvPr id="11" name="Rounded Rectangle 10"/>
          <p:cNvSpPr/>
          <p:nvPr/>
        </p:nvSpPr>
        <p:spPr>
          <a:xfrm>
            <a:off x="685800" y="29718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3081528"/>
            <a:ext cx="3383280" cy="256032"/>
          </a:xfrm>
          <a:prstGeom prst="rect">
            <a:avLst/>
          </a:prstGeom>
          <a:noFill/>
        </p:spPr>
        <p:txBody>
          <a:bodyPr wrap="square" anchor="t">
            <a:spAutoFit/>
          </a:bodyPr>
          <a:lstStyle/>
          <a:p>
            <a:pPr algn="l"/>
            <a:r>
              <a:rPr sz="1600" b="1">
                <a:solidFill>
                  <a:srgbClr val="12376D"/>
                </a:solidFill>
                <a:latin typeface="Microsoft YaHei"/>
              </a:rPr>
              <a:t>3. 系统响应速度仍有待提升</a:t>
            </a:r>
          </a:p>
        </p:txBody>
      </p:sp>
      <p:sp>
        <p:nvSpPr>
          <p:cNvPr id="13" name="TextBox 12"/>
          <p:cNvSpPr txBox="1"/>
          <p:nvPr/>
        </p:nvSpPr>
        <p:spPr>
          <a:xfrm>
            <a:off x="795528" y="33558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t>RAG 链路和多模态问答受串行检索优化策略和 IO 操作影响，延迟较大。</a:t>
            </a:r>
          </a:p>
        </p:txBody>
      </p:sp>
      <p:sp>
        <p:nvSpPr>
          <p:cNvPr id="14" name="Rounded Rectangle 13"/>
          <p:cNvSpPr/>
          <p:nvPr/>
        </p:nvSpPr>
        <p:spPr>
          <a:xfrm>
            <a:off x="4572000" y="2971800"/>
            <a:ext cx="3657600" cy="1554480"/>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709160" y="3081528"/>
            <a:ext cx="3383280" cy="256032"/>
          </a:xfrm>
          <a:prstGeom prst="rect">
            <a:avLst/>
          </a:prstGeom>
          <a:noFill/>
        </p:spPr>
        <p:txBody>
          <a:bodyPr wrap="square" anchor="t">
            <a:spAutoFit/>
          </a:bodyPr>
          <a:lstStyle/>
          <a:p>
            <a:pPr algn="l"/>
            <a:r>
              <a:rPr sz="1600" b="1">
                <a:solidFill>
                  <a:srgbClr val="12376D"/>
                </a:solidFill>
                <a:latin typeface="Microsoft YaHei"/>
              </a:rPr>
              <a:t>4. 工程化与鲁棒性仍存在不足</a:t>
            </a:r>
          </a:p>
        </p:txBody>
      </p:sp>
      <p:sp>
        <p:nvSpPr>
          <p:cNvPr id="16" name="TextBox 15"/>
          <p:cNvSpPr txBox="1"/>
          <p:nvPr/>
        </p:nvSpPr>
        <p:spPr>
          <a:xfrm>
            <a:off x="4681728" y="3355848"/>
            <a:ext cx="3438144" cy="1097280"/>
          </a:xfrm>
          <a:prstGeom prst="rect">
            <a:avLst/>
          </a:prstGeom>
          <a:noFill/>
        </p:spPr>
        <p:txBody>
          <a:bodyPr wrap="square">
            <a:spAutoFit/>
          </a:bodyPr>
          <a:lstStyle/>
          <a:p>
            <a:pPr>
              <a:spcAft>
                <a:spcPts val="400"/>
              </a:spcAft>
              <a:defRPr sz="1300">
                <a:solidFill>
                  <a:srgbClr val="282828"/>
                </a:solidFill>
                <a:latin typeface="Microsoft YaHei"/>
              </a:defRPr>
            </a:pPr>
            <a:r>
              <a:t>异常处理、性能优化、恢复机制和工程化规范方面仍有提升空间。</a:t>
            </a:r>
          </a:p>
        </p:txBody>
      </p:sp>
      <p:sp>
        <p:nvSpPr>
          <p:cNvPr id="17" name="Rectangle 16"/>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内容依据：中期报告“存在问题”</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下一阶段工作计划</a:t>
            </a:r>
          </a:p>
        </p:txBody>
      </p:sp>
      <p:sp>
        <p:nvSpPr>
          <p:cNvPr id="4" name="TextBox 3"/>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Next Steps</a:t>
            </a:r>
          </a:p>
        </p:txBody>
      </p:sp>
      <p:sp>
        <p:nvSpPr>
          <p:cNvPr id="5" name="Rounded Rectangle 4"/>
          <p:cNvSpPr/>
          <p:nvPr/>
        </p:nvSpPr>
        <p:spPr>
          <a:xfrm>
            <a:off x="633772" y="988368"/>
            <a:ext cx="3611880" cy="1024128"/>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0932" y="1098096"/>
            <a:ext cx="627202" cy="369332"/>
          </a:xfrm>
          <a:prstGeom prst="rect">
            <a:avLst/>
          </a:prstGeom>
          <a:noFill/>
        </p:spPr>
        <p:txBody>
          <a:bodyPr wrap="square" anchor="t">
            <a:spAutoFit/>
          </a:bodyPr>
          <a:lstStyle/>
          <a:p>
            <a:pPr algn="l"/>
            <a:r>
              <a:rPr sz="1800" b="1" dirty="0">
                <a:solidFill>
                  <a:srgbClr val="B72F2F"/>
                </a:solidFill>
                <a:latin typeface="Microsoft YaHei"/>
              </a:rPr>
              <a:t>01</a:t>
            </a:r>
          </a:p>
        </p:txBody>
      </p:sp>
      <p:sp>
        <p:nvSpPr>
          <p:cNvPr id="7" name="TextBox 6"/>
          <p:cNvSpPr txBox="1"/>
          <p:nvPr/>
        </p:nvSpPr>
        <p:spPr>
          <a:xfrm>
            <a:off x="1136692" y="1098096"/>
            <a:ext cx="3108960" cy="323165"/>
          </a:xfrm>
          <a:prstGeom prst="rect">
            <a:avLst/>
          </a:prstGeom>
          <a:noFill/>
        </p:spPr>
        <p:txBody>
          <a:bodyPr wrap="square" anchor="t">
            <a:spAutoFit/>
          </a:bodyPr>
          <a:lstStyle/>
          <a:p>
            <a:pPr algn="l"/>
            <a:r>
              <a:rPr sz="1500" b="1" dirty="0">
                <a:solidFill>
                  <a:srgbClr val="12376D"/>
                </a:solidFill>
                <a:latin typeface="Microsoft YaHei"/>
              </a:rPr>
              <a:t>OCR </a:t>
            </a:r>
            <a:r>
              <a:rPr sz="1500" b="1" dirty="0" err="1">
                <a:solidFill>
                  <a:srgbClr val="12376D"/>
                </a:solidFill>
                <a:latin typeface="Microsoft YaHei"/>
              </a:rPr>
              <a:t>基线问题修复与重跑实验</a:t>
            </a:r>
            <a:endParaRPr sz="1500" b="1" dirty="0">
              <a:solidFill>
                <a:srgbClr val="12376D"/>
              </a:solidFill>
              <a:latin typeface="Microsoft YaHei"/>
            </a:endParaRPr>
          </a:p>
        </p:txBody>
      </p:sp>
      <p:sp>
        <p:nvSpPr>
          <p:cNvPr id="8" name="TextBox 7"/>
          <p:cNvSpPr txBox="1"/>
          <p:nvPr/>
        </p:nvSpPr>
        <p:spPr>
          <a:xfrm>
            <a:off x="1136692" y="1408992"/>
            <a:ext cx="2743200" cy="461665"/>
          </a:xfrm>
          <a:prstGeom prst="rect">
            <a:avLst/>
          </a:prstGeom>
          <a:noFill/>
        </p:spPr>
        <p:txBody>
          <a:bodyPr wrap="square" anchor="t">
            <a:spAutoFit/>
          </a:bodyPr>
          <a:lstStyle/>
          <a:p>
            <a:pPr algn="l"/>
            <a:r>
              <a:rPr sz="1200" b="0" dirty="0" err="1">
                <a:solidFill>
                  <a:srgbClr val="282828"/>
                </a:solidFill>
                <a:latin typeface="宋体" panose="02010600030101010101" pitchFamily="2" charset="-122"/>
              </a:rPr>
              <a:t>诊断并修复</a:t>
            </a:r>
            <a:r>
              <a:rPr sz="1200" b="0" dirty="0">
                <a:solidFill>
                  <a:srgbClr val="282828"/>
                </a:solidFill>
                <a:latin typeface="宋体" panose="02010600030101010101" pitchFamily="2" charset="-122"/>
              </a:rPr>
              <a:t> OCR </a:t>
            </a:r>
            <a:r>
              <a:rPr sz="1200" b="0" dirty="0" err="1">
                <a:solidFill>
                  <a:srgbClr val="282828"/>
                </a:solidFill>
                <a:latin typeface="宋体" panose="02010600030101010101" pitchFamily="2" charset="-122"/>
              </a:rPr>
              <a:t>索引构建问题，重新构建索引并重跑受影响评估</a:t>
            </a:r>
            <a:r>
              <a:rPr sz="1200" b="0" dirty="0">
                <a:solidFill>
                  <a:srgbClr val="282828"/>
                </a:solidFill>
                <a:latin typeface="宋体" panose="02010600030101010101" pitchFamily="2" charset="-122"/>
              </a:rPr>
              <a:t>。</a:t>
            </a:r>
          </a:p>
        </p:txBody>
      </p:sp>
      <p:sp>
        <p:nvSpPr>
          <p:cNvPr id="9" name="Rounded Rectangle 8"/>
          <p:cNvSpPr/>
          <p:nvPr/>
        </p:nvSpPr>
        <p:spPr>
          <a:xfrm>
            <a:off x="612354" y="2343287"/>
            <a:ext cx="3611879" cy="1165361"/>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515" y="2453015"/>
            <a:ext cx="599842" cy="369332"/>
          </a:xfrm>
          <a:prstGeom prst="rect">
            <a:avLst/>
          </a:prstGeom>
          <a:noFill/>
        </p:spPr>
        <p:txBody>
          <a:bodyPr wrap="square" anchor="t">
            <a:spAutoFit/>
          </a:bodyPr>
          <a:lstStyle/>
          <a:p>
            <a:pPr algn="l"/>
            <a:r>
              <a:rPr sz="1800" b="1">
                <a:solidFill>
                  <a:srgbClr val="B72F2F"/>
                </a:solidFill>
                <a:latin typeface="Microsoft YaHei"/>
              </a:rPr>
              <a:t>02</a:t>
            </a:r>
          </a:p>
        </p:txBody>
      </p:sp>
      <p:sp>
        <p:nvSpPr>
          <p:cNvPr id="11" name="TextBox 10"/>
          <p:cNvSpPr txBox="1"/>
          <p:nvPr/>
        </p:nvSpPr>
        <p:spPr>
          <a:xfrm>
            <a:off x="1142632" y="2465403"/>
            <a:ext cx="3186411" cy="323165"/>
          </a:xfrm>
          <a:prstGeom prst="rect">
            <a:avLst/>
          </a:prstGeom>
          <a:noFill/>
        </p:spPr>
        <p:txBody>
          <a:bodyPr wrap="square" anchor="t">
            <a:spAutoFit/>
          </a:bodyPr>
          <a:lstStyle/>
          <a:p>
            <a:pPr algn="l"/>
            <a:r>
              <a:rPr sz="1500" b="1" dirty="0" err="1">
                <a:solidFill>
                  <a:srgbClr val="12376D"/>
                </a:solidFill>
                <a:latin typeface="Microsoft YaHei"/>
              </a:rPr>
              <a:t>继续优化模型微调与图像描述能力</a:t>
            </a:r>
            <a:endParaRPr sz="1500" b="1" dirty="0">
              <a:solidFill>
                <a:srgbClr val="12376D"/>
              </a:solidFill>
              <a:latin typeface="Microsoft YaHei"/>
            </a:endParaRPr>
          </a:p>
        </p:txBody>
      </p:sp>
      <p:sp>
        <p:nvSpPr>
          <p:cNvPr id="12" name="TextBox 11"/>
          <p:cNvSpPr txBox="1"/>
          <p:nvPr/>
        </p:nvSpPr>
        <p:spPr>
          <a:xfrm>
            <a:off x="1115274" y="2763911"/>
            <a:ext cx="2743200" cy="646331"/>
          </a:xfrm>
          <a:prstGeom prst="rect">
            <a:avLst/>
          </a:prstGeom>
          <a:noFill/>
        </p:spPr>
        <p:txBody>
          <a:bodyPr wrap="square" anchor="t">
            <a:spAutoFit/>
          </a:bodyPr>
          <a:lstStyle/>
          <a:p>
            <a:pPr algn="l"/>
            <a:r>
              <a:rPr lang="zh-CN" altLang="en-US" sz="1200" b="0" dirty="0">
                <a:solidFill>
                  <a:srgbClr val="282828"/>
                </a:solidFill>
                <a:latin typeface="宋体" panose="02010600030101010101" pitchFamily="2" charset="-122"/>
              </a:rPr>
              <a:t>争取使小参数模型在格式遵循、语义概括、细节提取和关键词生成等方面进一步接近 </a:t>
            </a:r>
            <a:r>
              <a:rPr lang="en-US" altLang="zh-CN" sz="1200" b="0" dirty="0">
                <a:solidFill>
                  <a:srgbClr val="282828"/>
                </a:solidFill>
                <a:latin typeface="宋体" panose="02010600030101010101" pitchFamily="2" charset="-122"/>
              </a:rPr>
              <a:t>qwen3.5-plus </a:t>
            </a:r>
            <a:r>
              <a:rPr lang="zh-CN" altLang="en-US" sz="1200" b="0" dirty="0">
                <a:solidFill>
                  <a:srgbClr val="282828"/>
                </a:solidFill>
                <a:latin typeface="宋体" panose="02010600030101010101" pitchFamily="2" charset="-122"/>
              </a:rPr>
              <a:t>的表现。</a:t>
            </a:r>
            <a:endParaRPr sz="1200" b="0" dirty="0">
              <a:solidFill>
                <a:srgbClr val="282828"/>
              </a:solidFill>
              <a:latin typeface="宋体" panose="02010600030101010101" pitchFamily="2" charset="-122"/>
            </a:endParaRPr>
          </a:p>
        </p:txBody>
      </p:sp>
      <p:sp>
        <p:nvSpPr>
          <p:cNvPr id="13" name="Rounded Rectangle 12"/>
          <p:cNvSpPr/>
          <p:nvPr/>
        </p:nvSpPr>
        <p:spPr>
          <a:xfrm>
            <a:off x="633771" y="3784591"/>
            <a:ext cx="3611879" cy="1092209"/>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0931" y="3894319"/>
            <a:ext cx="535877" cy="369332"/>
          </a:xfrm>
          <a:prstGeom prst="rect">
            <a:avLst/>
          </a:prstGeom>
          <a:noFill/>
        </p:spPr>
        <p:txBody>
          <a:bodyPr wrap="square" anchor="t">
            <a:spAutoFit/>
          </a:bodyPr>
          <a:lstStyle/>
          <a:p>
            <a:pPr algn="l"/>
            <a:r>
              <a:rPr sz="1800" b="1" dirty="0">
                <a:solidFill>
                  <a:srgbClr val="B72F2F"/>
                </a:solidFill>
                <a:latin typeface="Microsoft YaHei"/>
              </a:rPr>
              <a:t>03</a:t>
            </a:r>
          </a:p>
        </p:txBody>
      </p:sp>
      <p:sp>
        <p:nvSpPr>
          <p:cNvPr id="15" name="TextBox 14"/>
          <p:cNvSpPr txBox="1"/>
          <p:nvPr/>
        </p:nvSpPr>
        <p:spPr>
          <a:xfrm>
            <a:off x="1164051" y="3905563"/>
            <a:ext cx="3463848" cy="323165"/>
          </a:xfrm>
          <a:prstGeom prst="rect">
            <a:avLst/>
          </a:prstGeom>
          <a:noFill/>
        </p:spPr>
        <p:txBody>
          <a:bodyPr wrap="square" anchor="t">
            <a:spAutoFit/>
          </a:bodyPr>
          <a:lstStyle/>
          <a:p>
            <a:pPr algn="l"/>
            <a:r>
              <a:rPr sz="1500" b="1" dirty="0" err="1">
                <a:solidFill>
                  <a:srgbClr val="12376D"/>
                </a:solidFill>
                <a:latin typeface="Microsoft YaHei"/>
              </a:rPr>
              <a:t>完善多模态</a:t>
            </a:r>
            <a:r>
              <a:rPr sz="1500" b="1" dirty="0">
                <a:solidFill>
                  <a:srgbClr val="12376D"/>
                </a:solidFill>
                <a:latin typeface="Microsoft YaHei"/>
              </a:rPr>
              <a:t> RAG </a:t>
            </a:r>
            <a:r>
              <a:rPr sz="1500" b="1" dirty="0" err="1">
                <a:solidFill>
                  <a:srgbClr val="12376D"/>
                </a:solidFill>
                <a:latin typeface="Microsoft YaHei"/>
              </a:rPr>
              <a:t>链路</a:t>
            </a:r>
            <a:endParaRPr sz="1500" b="1" dirty="0">
              <a:solidFill>
                <a:srgbClr val="12376D"/>
              </a:solidFill>
              <a:latin typeface="Microsoft YaHei"/>
            </a:endParaRPr>
          </a:p>
        </p:txBody>
      </p:sp>
      <p:sp>
        <p:nvSpPr>
          <p:cNvPr id="16" name="TextBox 15"/>
          <p:cNvSpPr txBox="1"/>
          <p:nvPr/>
        </p:nvSpPr>
        <p:spPr>
          <a:xfrm>
            <a:off x="1136692" y="4205215"/>
            <a:ext cx="2895258" cy="646331"/>
          </a:xfrm>
          <a:prstGeom prst="rect">
            <a:avLst/>
          </a:prstGeom>
          <a:noFill/>
        </p:spPr>
        <p:txBody>
          <a:bodyPr wrap="square" anchor="t">
            <a:spAutoFit/>
          </a:bodyPr>
          <a:lstStyle/>
          <a:p>
            <a:pPr algn="l"/>
            <a:r>
              <a:rPr lang="zh-CN" altLang="en-US" sz="1200" b="0" dirty="0">
                <a:solidFill>
                  <a:srgbClr val="282828"/>
                </a:solidFill>
                <a:latin typeface="Microsoft YaHei"/>
              </a:rPr>
              <a:t>进一步优化检索与问答链路</a:t>
            </a:r>
            <a:r>
              <a:rPr lang="zh-CN" altLang="en-US" sz="1200" dirty="0">
                <a:solidFill>
                  <a:srgbClr val="282828"/>
                </a:solidFill>
                <a:latin typeface="Microsoft YaHei"/>
              </a:rPr>
              <a:t>，降低系统问答延迟时间，实现检索精确度与效率的统一。</a:t>
            </a:r>
            <a:endParaRPr sz="1200" b="0" dirty="0">
              <a:solidFill>
                <a:srgbClr val="282828"/>
              </a:solidFill>
              <a:latin typeface="Microsoft YaHei"/>
            </a:endParaRPr>
          </a:p>
        </p:txBody>
      </p:sp>
      <p:sp>
        <p:nvSpPr>
          <p:cNvPr id="17" name="Rounded Rectangle 16"/>
          <p:cNvSpPr/>
          <p:nvPr/>
        </p:nvSpPr>
        <p:spPr>
          <a:xfrm>
            <a:off x="5030788" y="1730904"/>
            <a:ext cx="3474720" cy="1105331"/>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167948" y="1840632"/>
            <a:ext cx="559872" cy="369332"/>
          </a:xfrm>
          <a:prstGeom prst="rect">
            <a:avLst/>
          </a:prstGeom>
          <a:noFill/>
        </p:spPr>
        <p:txBody>
          <a:bodyPr wrap="square" anchor="t">
            <a:spAutoFit/>
          </a:bodyPr>
          <a:lstStyle/>
          <a:p>
            <a:pPr algn="l"/>
            <a:r>
              <a:rPr sz="1800" b="1" dirty="0">
                <a:solidFill>
                  <a:srgbClr val="B72F2F"/>
                </a:solidFill>
                <a:latin typeface="Microsoft YaHei"/>
              </a:rPr>
              <a:t>04</a:t>
            </a:r>
          </a:p>
        </p:txBody>
      </p:sp>
      <p:sp>
        <p:nvSpPr>
          <p:cNvPr id="19" name="TextBox 18"/>
          <p:cNvSpPr txBox="1"/>
          <p:nvPr/>
        </p:nvSpPr>
        <p:spPr>
          <a:xfrm>
            <a:off x="5533707" y="1840632"/>
            <a:ext cx="2743200" cy="228600"/>
          </a:xfrm>
          <a:prstGeom prst="rect">
            <a:avLst/>
          </a:prstGeom>
          <a:noFill/>
        </p:spPr>
        <p:txBody>
          <a:bodyPr wrap="square" anchor="t">
            <a:spAutoFit/>
          </a:bodyPr>
          <a:lstStyle/>
          <a:p>
            <a:pPr algn="l"/>
            <a:r>
              <a:rPr sz="1500" b="1">
                <a:solidFill>
                  <a:srgbClr val="12376D"/>
                </a:solidFill>
                <a:latin typeface="Microsoft YaHei"/>
              </a:rPr>
              <a:t>加强测试并完善系统功能体验</a:t>
            </a:r>
          </a:p>
        </p:txBody>
      </p:sp>
      <p:sp>
        <p:nvSpPr>
          <p:cNvPr id="20" name="TextBox 19"/>
          <p:cNvSpPr txBox="1"/>
          <p:nvPr/>
        </p:nvSpPr>
        <p:spPr>
          <a:xfrm>
            <a:off x="5533707" y="2151528"/>
            <a:ext cx="2743200" cy="461665"/>
          </a:xfrm>
          <a:prstGeom prst="rect">
            <a:avLst/>
          </a:prstGeom>
          <a:noFill/>
        </p:spPr>
        <p:txBody>
          <a:bodyPr wrap="square" anchor="t">
            <a:spAutoFit/>
          </a:bodyPr>
          <a:lstStyle/>
          <a:p>
            <a:pPr algn="l"/>
            <a:r>
              <a:rPr sz="1200" b="0" dirty="0" err="1">
                <a:solidFill>
                  <a:srgbClr val="282828"/>
                </a:solidFill>
                <a:latin typeface="宋体" panose="02010600030101010101" pitchFamily="2" charset="-122"/>
              </a:rPr>
              <a:t>补充边界场景处理</a:t>
            </a:r>
            <a:r>
              <a:rPr sz="1200" b="0" dirty="0">
                <a:solidFill>
                  <a:srgbClr val="282828"/>
                </a:solidFill>
                <a:latin typeface="宋体" panose="02010600030101010101" pitchFamily="2" charset="-122"/>
              </a:rPr>
              <a:t>，</a:t>
            </a:r>
            <a:r>
              <a:rPr lang="zh-CN" altLang="en-US" sz="1200" b="0" dirty="0">
                <a:solidFill>
                  <a:srgbClr val="282828"/>
                </a:solidFill>
                <a:latin typeface="宋体" panose="02010600030101010101" pitchFamily="2" charset="-122"/>
              </a:rPr>
              <a:t>提升系统整体稳定性与使用体验。</a:t>
            </a:r>
            <a:endParaRPr sz="1200" b="0" dirty="0">
              <a:solidFill>
                <a:srgbClr val="282828"/>
              </a:solidFill>
              <a:latin typeface="宋体" panose="02010600030101010101" pitchFamily="2" charset="-122"/>
            </a:endParaRPr>
          </a:p>
        </p:txBody>
      </p:sp>
      <p:sp>
        <p:nvSpPr>
          <p:cNvPr id="21" name="Rounded Rectangle 20"/>
          <p:cNvSpPr/>
          <p:nvPr/>
        </p:nvSpPr>
        <p:spPr>
          <a:xfrm>
            <a:off x="5033854" y="3340208"/>
            <a:ext cx="3474720" cy="1084475"/>
          </a:xfrm>
          <a:prstGeom prst="roundRect">
            <a:avLst/>
          </a:prstGeom>
          <a:solidFill>
            <a:srgbClr val="F4F7FC"/>
          </a:solidFill>
          <a:ln>
            <a:solidFill>
              <a:srgbClr val="D8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171013" y="3449936"/>
            <a:ext cx="634971" cy="369332"/>
          </a:xfrm>
          <a:prstGeom prst="rect">
            <a:avLst/>
          </a:prstGeom>
          <a:noFill/>
        </p:spPr>
        <p:txBody>
          <a:bodyPr wrap="square" anchor="t">
            <a:spAutoFit/>
          </a:bodyPr>
          <a:lstStyle/>
          <a:p>
            <a:pPr algn="l"/>
            <a:r>
              <a:rPr sz="1800" b="1" dirty="0">
                <a:solidFill>
                  <a:srgbClr val="B72F2F"/>
                </a:solidFill>
                <a:latin typeface="Microsoft YaHei"/>
              </a:rPr>
              <a:t>05</a:t>
            </a:r>
          </a:p>
        </p:txBody>
      </p:sp>
      <p:sp>
        <p:nvSpPr>
          <p:cNvPr id="23" name="TextBox 22"/>
          <p:cNvSpPr txBox="1"/>
          <p:nvPr/>
        </p:nvSpPr>
        <p:spPr>
          <a:xfrm>
            <a:off x="5536774" y="3449936"/>
            <a:ext cx="2743200" cy="228600"/>
          </a:xfrm>
          <a:prstGeom prst="rect">
            <a:avLst/>
          </a:prstGeom>
          <a:noFill/>
        </p:spPr>
        <p:txBody>
          <a:bodyPr wrap="square" anchor="t">
            <a:spAutoFit/>
          </a:bodyPr>
          <a:lstStyle/>
          <a:p>
            <a:pPr algn="l"/>
            <a:r>
              <a:rPr sz="1500" b="1" dirty="0" err="1">
                <a:solidFill>
                  <a:srgbClr val="12376D"/>
                </a:solidFill>
                <a:latin typeface="Microsoft YaHei"/>
              </a:rPr>
              <a:t>推进论文初稿撰写与材料整理</a:t>
            </a:r>
            <a:endParaRPr sz="1500" b="1" dirty="0">
              <a:solidFill>
                <a:srgbClr val="12376D"/>
              </a:solidFill>
              <a:latin typeface="Microsoft YaHei"/>
            </a:endParaRPr>
          </a:p>
        </p:txBody>
      </p:sp>
      <p:sp>
        <p:nvSpPr>
          <p:cNvPr id="24" name="TextBox 23"/>
          <p:cNvSpPr txBox="1"/>
          <p:nvPr/>
        </p:nvSpPr>
        <p:spPr>
          <a:xfrm>
            <a:off x="5536774" y="3760832"/>
            <a:ext cx="2743200" cy="646331"/>
          </a:xfrm>
          <a:prstGeom prst="rect">
            <a:avLst/>
          </a:prstGeom>
          <a:noFill/>
        </p:spPr>
        <p:txBody>
          <a:bodyPr wrap="square" anchor="t">
            <a:spAutoFit/>
          </a:bodyPr>
          <a:lstStyle/>
          <a:p>
            <a:pPr algn="l"/>
            <a:r>
              <a:rPr sz="1200" b="0" dirty="0" err="1">
                <a:solidFill>
                  <a:srgbClr val="282828"/>
                </a:solidFill>
                <a:latin typeface="宋体" panose="02010600030101010101" pitchFamily="2" charset="-122"/>
              </a:rPr>
              <a:t>整理系统架构图、流程图、界面截图</a:t>
            </a:r>
            <a:r>
              <a:rPr lang="zh-CN" altLang="en-US" sz="1200" b="0" dirty="0">
                <a:solidFill>
                  <a:srgbClr val="282828"/>
                </a:solidFill>
                <a:latin typeface="宋体" panose="02010600030101010101" pitchFamily="2" charset="-122"/>
              </a:rPr>
              <a:t>等以及</a:t>
            </a:r>
            <a:r>
              <a:rPr sz="1200" b="0" dirty="0" err="1">
                <a:solidFill>
                  <a:srgbClr val="282828"/>
                </a:solidFill>
                <a:latin typeface="宋体" panose="02010600030101010101" pitchFamily="2" charset="-122"/>
              </a:rPr>
              <a:t>实验结果材料</a:t>
            </a:r>
            <a:r>
              <a:rPr lang="zh-CN" altLang="en-US" sz="1200" b="0" dirty="0">
                <a:solidFill>
                  <a:srgbClr val="282828"/>
                </a:solidFill>
                <a:latin typeface="宋体" panose="02010600030101010101" pitchFamily="2" charset="-122"/>
              </a:rPr>
              <a:t>，同步推进毕业论文初稿撰写工作</a:t>
            </a:r>
            <a:r>
              <a:rPr sz="1200" b="0" dirty="0">
                <a:solidFill>
                  <a:srgbClr val="282828"/>
                </a:solidFill>
                <a:latin typeface="宋体" panose="02010600030101010101" pitchFamily="2" charset="-122"/>
              </a:rPr>
              <a:t>。</a:t>
            </a:r>
          </a:p>
        </p:txBody>
      </p:sp>
      <p:sp>
        <p:nvSpPr>
          <p:cNvPr id="25" name="Rectangle 24"/>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内容依据：中期报告“下一阶段工作计划”</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1965960"/>
            <a:ext cx="6858000" cy="731520"/>
          </a:xfrm>
          <a:prstGeom prst="rect">
            <a:avLst/>
          </a:prstGeom>
          <a:noFill/>
        </p:spPr>
        <p:txBody>
          <a:bodyPr wrap="square" anchor="t">
            <a:spAutoFit/>
          </a:bodyPr>
          <a:lstStyle/>
          <a:p>
            <a:pPr algn="ctr"/>
            <a:r>
              <a:rPr sz="3000" b="1">
                <a:solidFill>
                  <a:srgbClr val="12376D"/>
                </a:solidFill>
                <a:latin typeface="Microsoft YaHei"/>
              </a:rPr>
              <a:t>汇报完毕  谢谢老师</a:t>
            </a:r>
          </a:p>
        </p:txBody>
      </p:sp>
      <p:sp>
        <p:nvSpPr>
          <p:cNvPr id="3" name="TextBox 2"/>
          <p:cNvSpPr txBox="1"/>
          <p:nvPr/>
        </p:nvSpPr>
        <p:spPr>
          <a:xfrm>
            <a:off x="2011680" y="3063240"/>
            <a:ext cx="4754880" cy="369332"/>
          </a:xfrm>
          <a:prstGeom prst="rect">
            <a:avLst/>
          </a:prstGeom>
          <a:noFill/>
        </p:spPr>
        <p:txBody>
          <a:bodyPr wrap="square" anchor="t">
            <a:spAutoFit/>
          </a:bodyPr>
          <a:lstStyle/>
          <a:p>
            <a:pPr algn="ctr"/>
            <a:r>
              <a:rPr sz="1800" b="0" dirty="0">
                <a:solidFill>
                  <a:srgbClr val="646464"/>
                </a:solidFill>
                <a:latin typeface="Microsoft YaHei"/>
              </a:rPr>
              <a:t>张琪  |  计算机2202</a:t>
            </a:r>
          </a:p>
        </p:txBody>
      </p:sp>
      <p:sp>
        <p:nvSpPr>
          <p:cNvPr id="4" name="TextBox 3"/>
          <p:cNvSpPr txBox="1"/>
          <p:nvPr/>
        </p:nvSpPr>
        <p:spPr>
          <a:xfrm>
            <a:off x="2560320" y="3703320"/>
            <a:ext cx="3840480" cy="365760"/>
          </a:xfrm>
          <a:prstGeom prst="rect">
            <a:avLst/>
          </a:prstGeom>
          <a:noFill/>
        </p:spPr>
        <p:txBody>
          <a:bodyPr wrap="square" anchor="t">
            <a:spAutoFit/>
          </a:bodyPr>
          <a:lstStyle/>
          <a:p>
            <a:pPr algn="ctr"/>
            <a:r>
              <a:rPr sz="1600" b="0" dirty="0">
                <a:solidFill>
                  <a:srgbClr val="B72F2F"/>
                </a:solidFill>
                <a:latin typeface="Microsoft YaHei"/>
              </a:rPr>
              <a:t>2026年4月</a:t>
            </a:r>
          </a:p>
        </p:txBody>
      </p:sp>
      <p:sp>
        <p:nvSpPr>
          <p:cNvPr id="5" name="Rectangle 4"/>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中期汇报</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DFE8D-6D50-F6C2-5FF9-E22F09F1D3A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C114681-8229-9CEB-F9AC-441D8269CB09}"/>
              </a:ext>
            </a:extLst>
          </p:cNvPr>
          <p:cNvSpPr/>
          <p:nvPr/>
        </p:nvSpPr>
        <p:spPr>
          <a:xfrm>
            <a:off x="0" y="0"/>
            <a:ext cx="9144000" cy="640080"/>
          </a:xfrm>
          <a:prstGeom prst="rect">
            <a:avLst/>
          </a:prstGeom>
          <a:solidFill>
            <a:srgbClr val="1237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2753E43-4A9A-D26A-3EFC-67A6BF99AA66}"/>
              </a:ext>
            </a:extLst>
          </p:cNvPr>
          <p:cNvSpPr txBox="1"/>
          <p:nvPr/>
        </p:nvSpPr>
        <p:spPr>
          <a:xfrm>
            <a:off x="502920" y="128016"/>
            <a:ext cx="7223760" cy="320040"/>
          </a:xfrm>
          <a:prstGeom prst="rect">
            <a:avLst/>
          </a:prstGeom>
          <a:noFill/>
        </p:spPr>
        <p:txBody>
          <a:bodyPr wrap="none">
            <a:spAutoFit/>
          </a:bodyPr>
          <a:lstStyle/>
          <a:p>
            <a:r>
              <a:rPr sz="2400" b="1">
                <a:solidFill>
                  <a:srgbClr val="FFFFFF"/>
                </a:solidFill>
                <a:latin typeface="Microsoft YaHei"/>
              </a:rPr>
              <a:t>检索实验结果</a:t>
            </a:r>
          </a:p>
        </p:txBody>
      </p:sp>
      <p:sp>
        <p:nvSpPr>
          <p:cNvPr id="4" name="TextBox 3">
            <a:extLst>
              <a:ext uri="{FF2B5EF4-FFF2-40B4-BE49-F238E27FC236}">
                <a16:creationId xmlns:a16="http://schemas.microsoft.com/office/drawing/2014/main" id="{5D763A8A-9BCA-97C4-6134-CEF29965015F}"/>
              </a:ext>
            </a:extLst>
          </p:cNvPr>
          <p:cNvSpPr txBox="1"/>
          <p:nvPr/>
        </p:nvSpPr>
        <p:spPr>
          <a:xfrm>
            <a:off x="7315200" y="164592"/>
            <a:ext cx="1554480" cy="256032"/>
          </a:xfrm>
          <a:prstGeom prst="rect">
            <a:avLst/>
          </a:prstGeom>
          <a:noFill/>
        </p:spPr>
        <p:txBody>
          <a:bodyPr wrap="none">
            <a:spAutoFit/>
          </a:bodyPr>
          <a:lstStyle/>
          <a:p>
            <a:pPr algn="r"/>
            <a:r>
              <a:rPr sz="1000">
                <a:solidFill>
                  <a:srgbClr val="E3E8F3"/>
                </a:solidFill>
                <a:latin typeface="Microsoft YaHei"/>
              </a:rPr>
              <a:t>Retrieval Evaluation</a:t>
            </a:r>
          </a:p>
        </p:txBody>
      </p:sp>
      <p:sp>
        <p:nvSpPr>
          <p:cNvPr id="13" name="Rectangle 12">
            <a:extLst>
              <a:ext uri="{FF2B5EF4-FFF2-40B4-BE49-F238E27FC236}">
                <a16:creationId xmlns:a16="http://schemas.microsoft.com/office/drawing/2014/main" id="{C3C1A510-2576-6F59-5545-05AF4600657C}"/>
              </a:ext>
            </a:extLst>
          </p:cNvPr>
          <p:cNvSpPr/>
          <p:nvPr/>
        </p:nvSpPr>
        <p:spPr>
          <a:xfrm>
            <a:off x="411480" y="6537960"/>
            <a:ext cx="8321040" cy="18288"/>
          </a:xfrm>
          <a:prstGeom prst="rect">
            <a:avLst/>
          </a:prstGeom>
          <a:solidFill>
            <a:srgbClr val="B72F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1B179E2-847E-AFF0-0CEF-FF780E799465}"/>
              </a:ext>
            </a:extLst>
          </p:cNvPr>
          <p:cNvSpPr txBox="1"/>
          <p:nvPr/>
        </p:nvSpPr>
        <p:spPr>
          <a:xfrm>
            <a:off x="502920" y="6583680"/>
            <a:ext cx="5029200" cy="164592"/>
          </a:xfrm>
          <a:prstGeom prst="rect">
            <a:avLst/>
          </a:prstGeom>
          <a:noFill/>
        </p:spPr>
        <p:txBody>
          <a:bodyPr wrap="none">
            <a:spAutoFit/>
          </a:bodyPr>
          <a:lstStyle/>
          <a:p>
            <a:r>
              <a:rPr sz="900">
                <a:solidFill>
                  <a:srgbClr val="646464"/>
                </a:solidFill>
                <a:latin typeface="Microsoft YaHei"/>
              </a:rPr>
              <a:t>内容依据：中期报告图表 5-8 与对应文字结论</a:t>
            </a:r>
          </a:p>
        </p:txBody>
      </p:sp>
      <p:pic>
        <p:nvPicPr>
          <p:cNvPr id="7" name="图片 6">
            <a:extLst>
              <a:ext uri="{FF2B5EF4-FFF2-40B4-BE49-F238E27FC236}">
                <a16:creationId xmlns:a16="http://schemas.microsoft.com/office/drawing/2014/main" id="{5CEEF455-5EFF-C2D9-EFF1-400BB404D0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64482" y="1420416"/>
            <a:ext cx="5328592" cy="2944803"/>
          </a:xfrm>
          <a:prstGeom prst="rect">
            <a:avLst/>
          </a:prstGeom>
        </p:spPr>
      </p:pic>
      <p:sp>
        <p:nvSpPr>
          <p:cNvPr id="5" name="TextBox 9">
            <a:extLst>
              <a:ext uri="{FF2B5EF4-FFF2-40B4-BE49-F238E27FC236}">
                <a16:creationId xmlns:a16="http://schemas.microsoft.com/office/drawing/2014/main" id="{1AD6490E-4ADB-8BA3-FBF2-A9B6C882A969}"/>
              </a:ext>
            </a:extLst>
          </p:cNvPr>
          <p:cNvSpPr txBox="1"/>
          <p:nvPr/>
        </p:nvSpPr>
        <p:spPr>
          <a:xfrm>
            <a:off x="2759060" y="4372744"/>
            <a:ext cx="3749039" cy="246221"/>
          </a:xfrm>
          <a:prstGeom prst="rect">
            <a:avLst/>
          </a:prstGeom>
          <a:noFill/>
        </p:spPr>
        <p:txBody>
          <a:bodyPr wrap="square" anchor="t">
            <a:spAutoFit/>
          </a:bodyPr>
          <a:lstStyle/>
          <a:p>
            <a:pPr algn="ctr"/>
            <a:r>
              <a:rPr sz="1000" b="0" dirty="0" err="1">
                <a:solidFill>
                  <a:srgbClr val="646464"/>
                </a:solidFill>
                <a:latin typeface="Microsoft YaHei"/>
              </a:rPr>
              <a:t>图表</a:t>
            </a:r>
            <a:r>
              <a:rPr sz="1000" b="0" dirty="0">
                <a:solidFill>
                  <a:srgbClr val="646464"/>
                </a:solidFill>
                <a:latin typeface="Microsoft YaHei"/>
              </a:rPr>
              <a:t> </a:t>
            </a:r>
            <a:r>
              <a:rPr lang="en-US" sz="1000" dirty="0">
                <a:solidFill>
                  <a:srgbClr val="646464"/>
                </a:solidFill>
                <a:latin typeface="Microsoft YaHei"/>
              </a:rPr>
              <a:t>8 </a:t>
            </a:r>
            <a:r>
              <a:rPr lang="en-US" altLang="zh-CN" sz="1000" dirty="0" err="1">
                <a:solidFill>
                  <a:srgbClr val="646464"/>
                </a:solidFill>
                <a:latin typeface="Microsoft YaHei"/>
              </a:rPr>
              <a:t>Commerce&amp;Manu</a:t>
            </a:r>
            <a:r>
              <a:rPr lang="zh-CN" altLang="en-US" sz="1000" dirty="0">
                <a:solidFill>
                  <a:srgbClr val="646464"/>
                </a:solidFill>
                <a:latin typeface="Microsoft YaHei"/>
              </a:rPr>
              <a:t>、</a:t>
            </a:r>
            <a:r>
              <a:rPr lang="en-US" altLang="zh-CN" sz="1000" dirty="0">
                <a:solidFill>
                  <a:srgbClr val="646464"/>
                </a:solidFill>
                <a:latin typeface="Microsoft YaHei"/>
              </a:rPr>
              <a:t>Construction</a:t>
            </a:r>
            <a:r>
              <a:rPr lang="zh-CN" altLang="en-US" sz="1000" dirty="0">
                <a:solidFill>
                  <a:srgbClr val="646464"/>
                </a:solidFill>
                <a:latin typeface="Microsoft YaHei"/>
              </a:rPr>
              <a:t>领域相关检索指标</a:t>
            </a:r>
            <a:endParaRPr sz="1000" b="0" dirty="0">
              <a:solidFill>
                <a:srgbClr val="646464"/>
              </a:solidFill>
              <a:latin typeface="Microsoft YaHei"/>
            </a:endParaRPr>
          </a:p>
        </p:txBody>
      </p:sp>
    </p:spTree>
    <p:extLst>
      <p:ext uri="{BB962C8B-B14F-4D97-AF65-F5344CB8AC3E}">
        <p14:creationId xmlns:p14="http://schemas.microsoft.com/office/powerpoint/2010/main" val="24081655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9E7965BD-BA7C-4284-B303-3DF26FF20985"/>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OUTPUT_FOLDER" val="C:\Users\Administrator\Desktop"/>
  <p:tag name="ISPRING_SCORM_PASSING_SCORE" val="100.000000"/>
  <p:tag name="ISPRING_SCORM_ENDPOINT" val="&lt;endpoint&gt;&lt;enable&gt;0&lt;/enable&gt;&lt;lrs&gt;http://&lt;/lrs&gt;&lt;auth&gt;0&lt;/auth&gt;&lt;login&gt;&lt;/login&gt;&lt;password&gt;&lt;/password&gt;&lt;key&gt;&lt;/key&gt;&lt;name&gt;&lt;/name&gt;&lt;email&gt;&lt;/email&gt;&lt;/endpoint&gt;&#10;"/>
  <p:tag name="ISPRING_PRESENTATION_TITLE" val="bt247"/>
</p:tagLst>
</file>

<file path=ppt/theme/theme1.xml><?xml version="1.0" encoding="utf-8"?>
<a:theme xmlns:a="http://schemas.openxmlformats.org/drawingml/2006/main" name="自定义设计方案">
  <a:themeElements>
    <a:clrScheme name="自定义 54">
      <a:dk1>
        <a:srgbClr val="000000"/>
      </a:dk1>
      <a:lt1>
        <a:srgbClr val="FFFFFF"/>
      </a:lt1>
      <a:dk2>
        <a:srgbClr val="44546A"/>
      </a:dk2>
      <a:lt2>
        <a:srgbClr val="E7E6E6"/>
      </a:lt2>
      <a:accent1>
        <a:srgbClr val="205381"/>
      </a:accent1>
      <a:accent2>
        <a:srgbClr val="FFC56C"/>
      </a:accent2>
      <a:accent3>
        <a:srgbClr val="A5A5A5"/>
      </a:accent3>
      <a:accent4>
        <a:srgbClr val="205381"/>
      </a:accent4>
      <a:accent5>
        <a:srgbClr val="FFC000"/>
      </a:accent5>
      <a:accent6>
        <a:srgbClr val="FF5959"/>
      </a:accent6>
      <a:hlink>
        <a:srgbClr val="0563C1"/>
      </a:hlink>
      <a:folHlink>
        <a:srgbClr val="954F72"/>
      </a:folHlink>
    </a:clrScheme>
    <a:fontScheme name="自定义 1">
      <a:majorFont>
        <a:latin typeface="Franklin Gothic Medium"/>
        <a:ea typeface="微软雅黑"/>
        <a:cs typeface=""/>
      </a:majorFont>
      <a:minorFont>
        <a:latin typeface="Microsoft Sans Serif"/>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2570</Words>
  <Application>Microsoft Office PowerPoint</Application>
  <PresentationFormat>自定义</PresentationFormat>
  <Paragraphs>270</Paragraphs>
  <Slides>28</Slides>
  <Notes>28</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28</vt:i4>
      </vt:variant>
    </vt:vector>
  </HeadingPairs>
  <TitlesOfParts>
    <vt:vector size="34" baseType="lpstr">
      <vt:lpstr>宋体</vt:lpstr>
      <vt:lpstr>微软雅黑</vt:lpstr>
      <vt:lpstr>微软雅黑</vt:lpstr>
      <vt:lpstr>Arial</vt:lpstr>
      <vt:lpstr>Calibri</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简约长投影工作总结汇报述职报告PPT模板</dc:title>
  <dc:creator/>
  <cp:lastModifiedBy/>
  <cp:revision>1</cp:revision>
  <dcterms:created xsi:type="dcterms:W3CDTF">2016-12-03T15:58:36Z</dcterms:created>
  <dcterms:modified xsi:type="dcterms:W3CDTF">2026-04-10T13:44:34Z</dcterms:modified>
</cp:coreProperties>
</file>